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Failures</c:v>
                </c:pt>
              </c:strCache>
            </c:strRef>
          </c:tx>
          <c:spPr>
            <a:solidFill>
              <a:srgbClr val="1F6FEB"/>
            </a:solidFill>
          </c:spPr>
          <c:cat>
            <c:strRef>
              <c:f>Sheet1!$A$2:$A$12</c:f>
              <c:strCache>
                <c:ptCount val="11"/>
                <c:pt idx="0">
                  <c:v>Not at home</c:v>
                </c:pt>
                <c:pt idx="1">
                  <c:v>Lobby access</c:v>
                </c:pt>
                <c:pt idx="2">
                  <c:v>Address wrong</c:v>
                </c:pt>
                <c:pt idx="3">
                  <c:v>Not loaded</c:v>
                </c:pt>
                <c:pt idx="4">
                  <c:v>Refused</c:v>
                </c:pt>
                <c:pt idx="5">
                  <c:v>Breakdown</c:v>
                </c:pt>
                <c:pt idx="6">
                  <c:v>Weather</c:v>
                </c:pt>
                <c:pt idx="7">
                  <c:v>Bad contact</c:v>
                </c:pt>
                <c:pt idx="8">
                  <c:v>Damaged</c:v>
                </c:pt>
                <c:pt idx="9">
                  <c:v>Restricted</c:v>
                </c:pt>
                <c:pt idx="10">
                  <c:v>Other</c:v>
                </c:pt>
              </c:strCache>
            </c:strRef>
          </c:cat>
          <c:val>
            <c:numRef>
              <c:f>Sheet1!$B$2:$B$12</c:f>
              <c:numCache>
                <c:formatCode>0</c:formatCode>
                <c:ptCount val="11"/>
                <c:pt idx="0">
                  <c:v>742</c:v>
                </c:pt>
                <c:pt idx="1">
                  <c:v>486</c:v>
                </c:pt>
                <c:pt idx="2">
                  <c:v>231</c:v>
                </c:pt>
                <c:pt idx="3">
                  <c:v>188</c:v>
                </c:pt>
                <c:pt idx="4">
                  <c:v>121</c:v>
                </c:pt>
                <c:pt idx="5">
                  <c:v>94</c:v>
                </c:pt>
                <c:pt idx="6">
                  <c:v>61</c:v>
                </c:pt>
                <c:pt idx="7">
                  <c:v>38</c:v>
                </c:pt>
                <c:pt idx="8">
                  <c:v>24</c:v>
                </c:pt>
                <c:pt idx="9">
                  <c:v>20</c:v>
                </c:pt>
                <c:pt idx="10">
                  <c:v>15</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Baseline</c:v>
                </c:pt>
              </c:strCache>
            </c:strRef>
          </c:tx>
          <c:spPr>
            <a:solidFill>
              <a:srgbClr val="1F6FEB"/>
            </a:solidFill>
          </c:spPr>
          <c:cat>
            <c:strRef>
              <c:f>Sheet1!$A$2:$A$6</c:f>
              <c:strCache>
                <c:ptCount val="5"/>
                <c:pt idx="0">
                  <c:v>App load (s)</c:v>
                </c:pt>
                <c:pt idx="1">
                  <c:v>Checkout %</c:v>
                </c:pt>
                <c:pt idx="2">
                  <c:v>Abandon %</c:v>
                </c:pt>
                <c:pt idx="3">
                  <c:v>CSAT %</c:v>
                </c:pt>
                <c:pt idx="4">
                  <c:v>Returns %</c:v>
                </c:pt>
              </c:strCache>
            </c:strRef>
          </c:cat>
          <c:val>
            <c:numRef>
              <c:f>Sheet1!$B$2:$B$6</c:f>
              <c:numCache>
                <c:formatCode>0</c:formatCode>
                <c:ptCount val="5"/>
                <c:pt idx="0">
                  <c:v>4.8</c:v>
                </c:pt>
                <c:pt idx="1">
                  <c:v>51</c:v>
                </c:pt>
                <c:pt idx="2">
                  <c:v>74</c:v>
                </c:pt>
                <c:pt idx="3">
                  <c:v>70</c:v>
                </c:pt>
                <c:pt idx="4">
                  <c:v>12</c:v>
                </c:pt>
              </c:numCache>
            </c:numRef>
          </c:val>
        </c:ser>
        <c:ser>
          <c:idx val="1"/>
          <c:order val="1"/>
          <c:tx>
            <c:strRef>
              <c:f>Sheet1!$C$1</c:f>
              <c:strCache>
                <c:ptCount val="1"/>
                <c:pt idx="0">
                  <c:v>Target</c:v>
                </c:pt>
              </c:strCache>
            </c:strRef>
          </c:tx>
          <c:spPr>
            <a:solidFill>
              <a:srgbClr val="10B981"/>
            </a:solidFill>
          </c:spPr>
          <c:cat>
            <c:strRef>
              <c:f>Sheet1!$A$2:$A$6</c:f>
              <c:strCache>
                <c:ptCount val="5"/>
                <c:pt idx="0">
                  <c:v>App load (s)</c:v>
                </c:pt>
                <c:pt idx="1">
                  <c:v>Checkout %</c:v>
                </c:pt>
                <c:pt idx="2">
                  <c:v>Abandon %</c:v>
                </c:pt>
                <c:pt idx="3">
                  <c:v>CSAT %</c:v>
                </c:pt>
                <c:pt idx="4">
                  <c:v>Returns %</c:v>
                </c:pt>
              </c:strCache>
            </c:strRef>
          </c:cat>
          <c:val>
            <c:numRef>
              <c:f>Sheet1!$C$2:$C$6</c:f>
              <c:numCache>
                <c:formatCode>0</c:formatCode>
                <c:ptCount val="5"/>
                <c:pt idx="0">
                  <c:v>2.0</c:v>
                </c:pt>
                <c:pt idx="1">
                  <c:v>68</c:v>
                </c:pt>
                <c:pt idx="2">
                  <c:v>60</c:v>
                </c:pt>
                <c:pt idx="3">
                  <c:v>85</c:v>
                </c:pt>
                <c:pt idx="4">
                  <c:v>5</c:v>
                </c:pt>
              </c:numCache>
            </c:numRef>
          </c:val>
        </c:ser>
        <c:ser>
          <c:idx val="2"/>
          <c:order val="2"/>
          <c:tx>
            <c:strRef>
              <c:f>Sheet1!$D$1</c:f>
              <c:strCache>
                <c:ptCount val="1"/>
                <c:pt idx="0">
                  <c:v>Day 90 actual</c:v>
                </c:pt>
              </c:strCache>
            </c:strRef>
          </c:tx>
          <c:spPr>
            <a:solidFill>
              <a:srgbClr val="7C3AED"/>
            </a:solidFill>
          </c:spPr>
          <c:cat>
            <c:strRef>
              <c:f>Sheet1!$A$2:$A$6</c:f>
              <c:strCache>
                <c:ptCount val="5"/>
                <c:pt idx="0">
                  <c:v>App load (s)</c:v>
                </c:pt>
                <c:pt idx="1">
                  <c:v>Checkout %</c:v>
                </c:pt>
                <c:pt idx="2">
                  <c:v>Abandon %</c:v>
                </c:pt>
                <c:pt idx="3">
                  <c:v>CSAT %</c:v>
                </c:pt>
                <c:pt idx="4">
                  <c:v>Returns %</c:v>
                </c:pt>
              </c:strCache>
            </c:strRef>
          </c:cat>
          <c:val>
            <c:numRef>
              <c:f>Sheet1!$D$2:$D$6</c:f>
              <c:numCache>
                <c:formatCode>0</c:formatCode>
                <c:ptCount val="5"/>
                <c:pt idx="0">
                  <c:v>1.7</c:v>
                </c:pt>
                <c:pt idx="1">
                  <c:v>63</c:v>
                </c:pt>
                <c:pt idx="2">
                  <c:v>64</c:v>
                </c:pt>
                <c:pt idx="3">
                  <c:v>72</c:v>
                </c:pt>
                <c:pt idx="4">
                  <c:v>13</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603504"/>
            <a:ext cx="1691640"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713232"/>
            <a:ext cx="1691640" cy="475488"/>
          </a:xfrm>
          <a:prstGeom prst="rect">
            <a:avLst/>
          </a:prstGeom>
          <a:noFill/>
        </p:spPr>
        <p:txBody>
          <a:bodyPr wrap="square" anchor="t">
            <a:spAutoFit/>
          </a:bodyPr>
          <a:lstStyle/>
          <a:p>
            <a:pPr algn="ctr">
              <a:spcAft>
                <a:spcPts val="400"/>
              </a:spcAft>
            </a:pPr>
            <a:r>
              <a:rPr sz="1900" b="1">
                <a:solidFill>
                  <a:srgbClr val="FFFFFF"/>
                </a:solidFill>
                <a:latin typeface="Arial"/>
              </a:rPr>
              <a:t>GenAI</a:t>
            </a:r>
          </a:p>
        </p:txBody>
      </p:sp>
      <p:sp>
        <p:nvSpPr>
          <p:cNvPr id="8" name="TextBox 7"/>
          <p:cNvSpPr txBox="1"/>
          <p:nvPr/>
        </p:nvSpPr>
        <p:spPr>
          <a:xfrm>
            <a:off x="9829800" y="1207008"/>
            <a:ext cx="1691640" cy="365760"/>
          </a:xfrm>
          <a:prstGeom prst="rect">
            <a:avLst/>
          </a:prstGeom>
          <a:noFill/>
        </p:spPr>
        <p:txBody>
          <a:bodyPr wrap="square" anchor="t">
            <a:spAutoFit/>
          </a:bodyPr>
          <a:lstStyle/>
          <a:p>
            <a:pPr algn="ctr">
              <a:spcAft>
                <a:spcPts val="400"/>
              </a:spcAft>
            </a:pPr>
            <a:r>
              <a:rPr sz="800" b="1">
                <a:solidFill>
                  <a:srgbClr val="FFFFFF"/>
                </a:solidFill>
                <a:latin typeface="Arial"/>
              </a:rPr>
              <a:t>PROBLEM SOLVING</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WSQ - Generative AI for Problem Solving</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TGS-2023036653</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v21.0  ·  17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for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ICE BREAKER</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Let's know each other.</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Your name · your role · one workplace problem that keeps coming back no matter how many times you fix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GENERAL TRAINER TEMPLATE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TN</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Trainer Name</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WSQ Accredited Adult Educator  ·  Tertiary Infotech Academy</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INDUSTRY EXPERIENCE</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SPECIALISATION</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CONTACT</a:t>
            </a:r>
          </a:p>
          <a:p>
            <a:pPr algn="l">
              <a:spcAft>
                <a:spcPts val="300"/>
              </a:spcAft>
            </a:pPr>
            <a:r>
              <a:rPr sz="1300" b="0">
                <a:solidFill>
                  <a:srgbClr val="E2E8F0"/>
                </a:solidFill>
                <a:latin typeface="Arial"/>
              </a:rPr>
              <a:t>____________________________________________</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 TODAY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&amp; Courseware Developer  ·  Tertiary Infotech Academy</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QUALIFICATIONS</a:t>
            </a:r>
          </a:p>
          <a:p>
            <a:pPr algn="l">
              <a:spcAft>
                <a:spcPts val="300"/>
              </a:spcAft>
            </a:pPr>
            <a:r>
              <a:rPr sz="1400" b="0">
                <a:solidFill>
                  <a:srgbClr val="161B26"/>
                </a:solidFill>
                <a:latin typeface="Arial"/>
              </a:rPr>
              <a:t>PhD (NUS) · MEng (NTU) · MBA · ACTA · DACE</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INDUSTRY EXPERIENCE</a:t>
            </a:r>
          </a:p>
          <a:p>
            <a:pPr algn="l">
              <a:spcAft>
                <a:spcPts val="300"/>
              </a:spcAft>
            </a:pPr>
            <a:r>
              <a:rPr sz="1400" b="0">
                <a:solidFill>
                  <a:srgbClr val="161B26"/>
                </a:solidFill>
                <a:latin typeface="Arial"/>
              </a:rPr>
              <a:t>25+ years in engineering, data science, AI and process improvement</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SPECIALISATION</a:t>
            </a:r>
          </a:p>
          <a:p>
            <a:pPr algn="l">
              <a:spcAft>
                <a:spcPts val="300"/>
              </a:spcAft>
            </a:pPr>
            <a:r>
              <a:rPr sz="1400" b="0">
                <a:solidFill>
                  <a:srgbClr val="161B26"/>
                </a:solidFill>
                <a:latin typeface="Arial"/>
              </a:rPr>
              <a:t>Generative AI, problem solving, Six Sigma / SPC, design thinking</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CONTACT</a:t>
            </a:r>
          </a:p>
          <a:p>
            <a:pPr algn="l">
              <a:spcAft>
                <a:spcPts val="300"/>
              </a:spcAft>
            </a:pPr>
            <a:r>
              <a:rPr sz="1400" b="0">
                <a:solidFill>
                  <a:srgbClr val="161B26"/>
                </a:solidFill>
                <a:latin typeface="Arial"/>
              </a:rPr>
              <a:t>enquiry@tertiaryinfotech.com  ·  +65 6100 0613</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Phones on silent</a:t>
            </a:r>
          </a:p>
          <a:p>
            <a:pPr algn="l">
              <a:spcAft>
                <a:spcPts val="300"/>
              </a:spcAft>
            </a:pPr>
            <a:r>
              <a:rPr sz="1300" b="0">
                <a:solidFill>
                  <a:srgbClr val="5B6372"/>
                </a:solidFill>
                <a:latin typeface="Arial"/>
              </a:rPr>
              <a:t>Set your mobile phone to silent mode. Step out quietly for calls.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Participate actively</a:t>
            </a:r>
          </a:p>
          <a:p>
            <a:pPr algn="l">
              <a:spcAft>
                <a:spcPts val="300"/>
              </a:spcAft>
            </a:pPr>
            <a:r>
              <a:rPr sz="1300" b="0">
                <a:solidFill>
                  <a:srgbClr val="5B6372"/>
                </a:solidFill>
                <a:latin typeface="Arial"/>
              </a:rPr>
              <a:t>No question is stupid. The best problem solvers ask the most obvious questions.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Respect every view</a:t>
            </a:r>
          </a:p>
          <a:p>
            <a:pPr algn="l">
              <a:spcAft>
                <a:spcPts val="300"/>
              </a:spcAft>
            </a:pPr>
            <a:r>
              <a:rPr sz="1300" b="0">
                <a:solidFill>
                  <a:srgbClr val="5B6372"/>
                </a:solidFill>
                <a:latin typeface="Arial"/>
              </a:rPr>
              <a:t>Disagree with the idea, never the person. Diversity of view is how blind spots get found.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Breaks</a:t>
            </a:r>
          </a:p>
          <a:p>
            <a:pPr algn="l">
              <a:spcAft>
                <a:spcPts val="300"/>
              </a:spcAft>
            </a:pPr>
            <a:r>
              <a:rPr sz="1300" b="0">
                <a:solidFill>
                  <a:srgbClr val="5B6372"/>
                </a:solidFill>
                <a:latin typeface="Arial"/>
              </a:rPr>
              <a:t>Exit and re-enter quietly during the session for toilet or phone breaks.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WE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49840" cy="658368"/>
          </a:xfrm>
          <a:prstGeom prst="rect">
            <a:avLst/>
          </a:prstGeom>
          <a:noFill/>
        </p:spPr>
        <p:txBody>
          <a:bodyPr wrap="square" anchor="ctr">
            <a:spAutoFit/>
          </a:bodyPr>
          <a:lstStyle/>
          <a:p>
            <a:pPr algn="l">
              <a:spcAft>
                <a:spcPts val="400"/>
              </a:spcAft>
            </a:pPr>
            <a:r>
              <a:rPr sz="1400" b="0">
                <a:solidFill>
                  <a:srgbClr val="161B26"/>
                </a:solidFill>
                <a:latin typeface="Arial"/>
              </a:rPr>
              <a:t>All slides, the Learner Guide and the activity briefs are on the LMS portal.</a:t>
            </a:r>
          </a:p>
        </p:txBody>
      </p:sp>
      <p:sp>
        <p:nvSpPr>
          <p:cNvPr id="10" name="Rectangle 9"/>
          <p:cNvSpPr/>
          <p:nvPr/>
        </p:nvSpPr>
        <p:spPr>
          <a:xfrm>
            <a:off x="777240" y="2697480"/>
            <a:ext cx="6035040" cy="32004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697480"/>
            <a:ext cx="6035040" cy="47548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0120" y="2852928"/>
            <a:ext cx="137160" cy="13716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1288" y="2852928"/>
            <a:ext cx="137160" cy="1371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362456" y="2852928"/>
            <a:ext cx="137160" cy="13716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91640" y="2798064"/>
            <a:ext cx="4937760" cy="2926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10512" y="2798064"/>
            <a:ext cx="4754880" cy="292608"/>
          </a:xfrm>
          <a:prstGeom prst="rect">
            <a:avLst/>
          </a:prstGeom>
          <a:noFill/>
        </p:spPr>
        <p:txBody>
          <a:bodyPr wrap="square" anchor="ctr">
            <a:spAutoFit/>
          </a:bodyPr>
          <a:lstStyle/>
          <a:p>
            <a:pPr algn="l">
              <a:spcAft>
                <a:spcPts val="400"/>
              </a:spcAft>
            </a:pPr>
            <a:r>
              <a:rPr sz="1050" b="1">
                <a:solidFill>
                  <a:srgbClr val="1F6FEB"/>
                </a:solidFill>
                <a:latin typeface="Arial"/>
              </a:rPr>
              <a:t>lms-tms.tertiaryinfotech.com</a:t>
            </a:r>
          </a:p>
        </p:txBody>
      </p:sp>
      <p:sp>
        <p:nvSpPr>
          <p:cNvPr id="17" name="Rectangle 16"/>
          <p:cNvSpPr/>
          <p:nvPr/>
        </p:nvSpPr>
        <p:spPr>
          <a:xfrm>
            <a:off x="1005840" y="3401568"/>
            <a:ext cx="5577840" cy="50292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3401568"/>
            <a:ext cx="5303520" cy="502920"/>
          </a:xfrm>
          <a:prstGeom prst="rect">
            <a:avLst/>
          </a:prstGeom>
          <a:noFill/>
        </p:spPr>
        <p:txBody>
          <a:bodyPr wrap="square" anchor="ctr">
            <a:spAutoFit/>
          </a:bodyPr>
          <a:lstStyle/>
          <a:p>
            <a:pPr algn="l">
              <a:spcAft>
                <a:spcPts val="400"/>
              </a:spcAft>
            </a:pPr>
            <a:r>
              <a:rPr sz="1150" b="1">
                <a:solidFill>
                  <a:srgbClr val="161B26"/>
                </a:solidFill>
                <a:latin typeface="Arial"/>
              </a:rPr>
              <a:t>📁  Generative AI for Problem Solving</a:t>
            </a:r>
          </a:p>
        </p:txBody>
      </p:sp>
      <p:sp>
        <p:nvSpPr>
          <p:cNvPr id="19" name="Rectangle 18"/>
          <p:cNvSpPr/>
          <p:nvPr/>
        </p:nvSpPr>
        <p:spPr>
          <a:xfrm>
            <a:off x="1188720" y="4041648"/>
            <a:ext cx="5212080" cy="3474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88720" y="4041648"/>
            <a:ext cx="64008" cy="3474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89888" y="4041648"/>
            <a:ext cx="4937760" cy="347472"/>
          </a:xfrm>
          <a:prstGeom prst="rect">
            <a:avLst/>
          </a:prstGeom>
          <a:noFill/>
        </p:spPr>
        <p:txBody>
          <a:bodyPr wrap="square" anchor="ctr">
            <a:spAutoFit/>
          </a:bodyPr>
          <a:lstStyle/>
          <a:p>
            <a:pPr algn="l">
              <a:spcAft>
                <a:spcPts val="400"/>
              </a:spcAft>
            </a:pPr>
            <a:r>
              <a:rPr sz="1050" b="0">
                <a:solidFill>
                  <a:srgbClr val="161B26"/>
                </a:solidFill>
                <a:latin typeface="Arial"/>
              </a:rPr>
              <a:t>Trainer Slides (PPT)</a:t>
            </a:r>
          </a:p>
        </p:txBody>
      </p:sp>
      <p:sp>
        <p:nvSpPr>
          <p:cNvPr id="22" name="Rectangle 21"/>
          <p:cNvSpPr/>
          <p:nvPr/>
        </p:nvSpPr>
        <p:spPr>
          <a:xfrm>
            <a:off x="1188720" y="4471416"/>
            <a:ext cx="5212080" cy="3474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88720" y="4471416"/>
            <a:ext cx="64008"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89888" y="4471416"/>
            <a:ext cx="4937760" cy="347472"/>
          </a:xfrm>
          <a:prstGeom prst="rect">
            <a:avLst/>
          </a:prstGeom>
          <a:noFill/>
        </p:spPr>
        <p:txBody>
          <a:bodyPr wrap="square" anchor="ctr">
            <a:spAutoFit/>
          </a:bodyPr>
          <a:lstStyle/>
          <a:p>
            <a:pPr algn="l">
              <a:spcAft>
                <a:spcPts val="400"/>
              </a:spcAft>
            </a:pPr>
            <a:r>
              <a:rPr sz="1050" b="0">
                <a:solidFill>
                  <a:srgbClr val="161B26"/>
                </a:solidFill>
                <a:latin typeface="Arial"/>
              </a:rPr>
              <a:t>Learner Slides (PDF)</a:t>
            </a:r>
          </a:p>
        </p:txBody>
      </p:sp>
      <p:sp>
        <p:nvSpPr>
          <p:cNvPr id="25" name="Rectangle 24"/>
          <p:cNvSpPr/>
          <p:nvPr/>
        </p:nvSpPr>
        <p:spPr>
          <a:xfrm>
            <a:off x="1188720" y="4901184"/>
            <a:ext cx="5212080" cy="3474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88720" y="4901184"/>
            <a:ext cx="64008" cy="3474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89888" y="4901184"/>
            <a:ext cx="4937760" cy="347472"/>
          </a:xfrm>
          <a:prstGeom prst="rect">
            <a:avLst/>
          </a:prstGeom>
          <a:noFill/>
        </p:spPr>
        <p:txBody>
          <a:bodyPr wrap="square" anchor="ctr">
            <a:spAutoFit/>
          </a:bodyPr>
          <a:lstStyle/>
          <a:p>
            <a:pPr algn="l">
              <a:spcAft>
                <a:spcPts val="400"/>
              </a:spcAft>
            </a:pPr>
            <a:r>
              <a:rPr sz="1050" b="0">
                <a:solidFill>
                  <a:srgbClr val="161B26"/>
                </a:solidFill>
                <a:latin typeface="Arial"/>
              </a:rPr>
              <a:t>Learner Guide (PDF)</a:t>
            </a:r>
          </a:p>
        </p:txBody>
      </p:sp>
      <p:sp>
        <p:nvSpPr>
          <p:cNvPr id="28" name="Rectangle 27"/>
          <p:cNvSpPr/>
          <p:nvPr/>
        </p:nvSpPr>
        <p:spPr>
          <a:xfrm>
            <a:off x="1188720" y="5330952"/>
            <a:ext cx="5212080" cy="3474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88720" y="5330952"/>
            <a:ext cx="64008" cy="3474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89888" y="5330952"/>
            <a:ext cx="4937760" cy="347472"/>
          </a:xfrm>
          <a:prstGeom prst="rect">
            <a:avLst/>
          </a:prstGeom>
          <a:noFill/>
        </p:spPr>
        <p:txBody>
          <a:bodyPr wrap="square" anchor="ctr">
            <a:spAutoFit/>
          </a:bodyPr>
          <a:lstStyle/>
          <a:p>
            <a:pPr algn="l">
              <a:spcAft>
                <a:spcPts val="400"/>
              </a:spcAft>
            </a:pPr>
            <a:r>
              <a:rPr sz="1050" b="0">
                <a:solidFill>
                  <a:srgbClr val="161B26"/>
                </a:solidFill>
                <a:latin typeface="Arial"/>
              </a:rPr>
              <a:t>Activities Folder</a:t>
            </a:r>
          </a:p>
        </p:txBody>
      </p:sp>
      <p:sp>
        <p:nvSpPr>
          <p:cNvPr id="31" name="Rectangle 30"/>
          <p:cNvSpPr/>
          <p:nvPr/>
        </p:nvSpPr>
        <p:spPr>
          <a:xfrm>
            <a:off x="7086600" y="2743200"/>
            <a:ext cx="432511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86600" y="2743200"/>
            <a:ext cx="82296"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69480" y="288036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69480" y="2880360"/>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5" name="TextBox 34"/>
          <p:cNvSpPr txBox="1"/>
          <p:nvPr/>
        </p:nvSpPr>
        <p:spPr>
          <a:xfrm>
            <a:off x="7790688" y="2743200"/>
            <a:ext cx="3474720" cy="658368"/>
          </a:xfrm>
          <a:prstGeom prst="rect">
            <a:avLst/>
          </a:prstGeom>
          <a:noFill/>
        </p:spPr>
        <p:txBody>
          <a:bodyPr wrap="square" anchor="ctr">
            <a:spAutoFit/>
          </a:bodyPr>
          <a:lstStyle/>
          <a:p>
            <a:pPr algn="l">
              <a:spcAft>
                <a:spcPts val="400"/>
              </a:spcAft>
            </a:pPr>
            <a:r>
              <a:rPr sz="1150" b="0">
                <a:solidFill>
                  <a:srgbClr val="161B26"/>
                </a:solidFill>
                <a:latin typeface="Arial"/>
              </a:rPr>
              <a:t>Log in to https://lms-tms.tertiaryinfotech.com</a:t>
            </a:r>
          </a:p>
        </p:txBody>
      </p:sp>
      <p:sp>
        <p:nvSpPr>
          <p:cNvPr id="36" name="Rectangle 35"/>
          <p:cNvSpPr/>
          <p:nvPr/>
        </p:nvSpPr>
        <p:spPr>
          <a:xfrm>
            <a:off x="7086600" y="3529584"/>
            <a:ext cx="432511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86600" y="3529584"/>
            <a:ext cx="8229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269480" y="366674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69480" y="366674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40" name="TextBox 39"/>
          <p:cNvSpPr txBox="1"/>
          <p:nvPr/>
        </p:nvSpPr>
        <p:spPr>
          <a:xfrm>
            <a:off x="7790688" y="3529584"/>
            <a:ext cx="3474720" cy="658368"/>
          </a:xfrm>
          <a:prstGeom prst="rect">
            <a:avLst/>
          </a:prstGeom>
          <a:noFill/>
        </p:spPr>
        <p:txBody>
          <a:bodyPr wrap="square" anchor="ctr">
            <a:spAutoFit/>
          </a:bodyPr>
          <a:lstStyle/>
          <a:p>
            <a:pPr algn="l">
              <a:spcAft>
                <a:spcPts val="400"/>
              </a:spcAft>
            </a:pPr>
            <a:r>
              <a:rPr sz="1150" b="0">
                <a:solidFill>
                  <a:srgbClr val="161B26"/>
                </a:solidFill>
                <a:latin typeface="Arial"/>
              </a:rPr>
              <a:t>Open My Courses and select this course</a:t>
            </a:r>
          </a:p>
        </p:txBody>
      </p:sp>
      <p:sp>
        <p:nvSpPr>
          <p:cNvPr id="41" name="Rectangle 40"/>
          <p:cNvSpPr/>
          <p:nvPr/>
        </p:nvSpPr>
        <p:spPr>
          <a:xfrm>
            <a:off x="7086600" y="4315968"/>
            <a:ext cx="432511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86600" y="4315968"/>
            <a:ext cx="82296"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269480" y="445312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69480" y="445312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5" name="TextBox 44"/>
          <p:cNvSpPr txBox="1"/>
          <p:nvPr/>
        </p:nvSpPr>
        <p:spPr>
          <a:xfrm>
            <a:off x="7790688" y="4315968"/>
            <a:ext cx="3474720" cy="658368"/>
          </a:xfrm>
          <a:prstGeom prst="rect">
            <a:avLst/>
          </a:prstGeom>
          <a:noFill/>
        </p:spPr>
        <p:txBody>
          <a:bodyPr wrap="square" anchor="ctr">
            <a:spAutoFit/>
          </a:bodyPr>
          <a:lstStyle/>
          <a:p>
            <a:pPr algn="l">
              <a:spcAft>
                <a:spcPts val="400"/>
              </a:spcAft>
            </a:pPr>
            <a:r>
              <a:rPr sz="1150" b="0">
                <a:solidFill>
                  <a:srgbClr val="161B26"/>
                </a:solidFill>
                <a:latin typeface="Arial"/>
              </a:rPr>
              <a:t>Click the Courseware tab</a:t>
            </a:r>
          </a:p>
        </p:txBody>
      </p:sp>
      <p:sp>
        <p:nvSpPr>
          <p:cNvPr id="46" name="Rectangle 45"/>
          <p:cNvSpPr/>
          <p:nvPr/>
        </p:nvSpPr>
        <p:spPr>
          <a:xfrm>
            <a:off x="7086600" y="5102352"/>
            <a:ext cx="432511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086600" y="5102352"/>
            <a:ext cx="82296"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269480" y="5239512"/>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69480" y="523951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50" name="TextBox 49"/>
          <p:cNvSpPr txBox="1"/>
          <p:nvPr/>
        </p:nvSpPr>
        <p:spPr>
          <a:xfrm>
            <a:off x="7790688" y="5102352"/>
            <a:ext cx="3474720" cy="658368"/>
          </a:xfrm>
          <a:prstGeom prst="rect">
            <a:avLst/>
          </a:prstGeom>
          <a:noFill/>
        </p:spPr>
        <p:txBody>
          <a:bodyPr wrap="square" anchor="ctr">
            <a:spAutoFit/>
          </a:bodyPr>
          <a:lstStyle/>
          <a:p>
            <a:pPr algn="l">
              <a:spcAft>
                <a:spcPts val="400"/>
              </a:spcAft>
            </a:pPr>
            <a:r>
              <a:rPr sz="1150" b="0">
                <a:solidFill>
                  <a:srgbClr val="161B26"/>
                </a:solidFill>
                <a:latin typeface="Arial"/>
              </a:rPr>
              <a:t>Download the slides, Learner Guide and activities</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 SKILLS FRAMEWORK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Title</a:t>
            </a:r>
          </a:p>
          <a:p>
            <a:pPr algn="l">
              <a:spcAft>
                <a:spcPts val="300"/>
              </a:spcAft>
            </a:pPr>
            <a:r>
              <a:rPr sz="1300" b="0">
                <a:solidFill>
                  <a:srgbClr val="5B6372"/>
                </a:solidFill>
                <a:latin typeface="Arial"/>
              </a:rPr>
              <a:t>Problem Identification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Code</a:t>
            </a:r>
          </a:p>
          <a:p>
            <a:pPr algn="l">
              <a:spcAft>
                <a:spcPts val="300"/>
              </a:spcAft>
            </a:pPr>
            <a:r>
              <a:rPr sz="1300" b="0">
                <a:solidFill>
                  <a:srgbClr val="5B6372"/>
                </a:solidFill>
                <a:latin typeface="Arial"/>
              </a:rPr>
              <a:t>RET-ACE-4006-1.1</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Proficiency Level</a:t>
            </a:r>
          </a:p>
          <a:p>
            <a:pPr algn="l">
              <a:spcAft>
                <a:spcPts val="300"/>
              </a:spcAft>
            </a:pPr>
            <a:r>
              <a:rPr sz="1300" b="0">
                <a:solidFill>
                  <a:srgbClr val="5B6372"/>
                </a:solidFill>
                <a:latin typeface="Arial"/>
              </a:rPr>
              <a:t>Level 4 — analyse causes, evaluate options and decide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Code</a:t>
            </a:r>
          </a:p>
          <a:p>
            <a:pPr algn="l">
              <a:spcAft>
                <a:spcPts val="300"/>
              </a:spcAft>
            </a:pPr>
            <a:r>
              <a:rPr sz="1300" b="0">
                <a:solidFill>
                  <a:srgbClr val="5B6372"/>
                </a:solidFill>
                <a:latin typeface="Arial"/>
              </a:rPr>
              <a:t>TGS-2023036653</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TSC Abilities Covered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400" b="0">
                <a:solidFill>
                  <a:srgbClr val="161B26"/>
                </a:solidFill>
                <a:latin typeface="Arial"/>
              </a:rPr>
              <a:t>•  A1: Identify the types of performance deficiency and examine the causes and their impact on organisation-related aspects</a:t>
            </a:r>
          </a:p>
          <a:p>
            <a:pPr>
              <a:spcAft>
                <a:spcPts val="1000"/>
              </a:spcAft>
            </a:pPr>
            <a:r>
              <a:rPr sz="1400" b="0">
                <a:solidFill>
                  <a:srgbClr val="161B26"/>
                </a:solidFill>
                <a:latin typeface="Arial"/>
              </a:rPr>
              <a:t>•  A2: Identify the root causes of the problems with team members using appropriate group facilitation techniques</a:t>
            </a:r>
          </a:p>
          <a:p>
            <a:pPr>
              <a:spcAft>
                <a:spcPts val="1000"/>
              </a:spcAft>
            </a:pPr>
            <a:r>
              <a:rPr sz="1400" b="0">
                <a:solidFill>
                  <a:srgbClr val="161B26"/>
                </a:solidFill>
                <a:latin typeface="Arial"/>
              </a:rPr>
              <a:t>•  A3: Deduce relevant linkages and patterns to identify key implications on organisational systems and processes</a:t>
            </a:r>
          </a:p>
          <a:p>
            <a:pPr>
              <a:spcAft>
                <a:spcPts val="1000"/>
              </a:spcAft>
            </a:pPr>
            <a:r>
              <a:rPr sz="1400" b="0">
                <a:solidFill>
                  <a:srgbClr val="161B26"/>
                </a:solidFill>
                <a:latin typeface="Arial"/>
              </a:rPr>
              <a:t>•  A4: Develop corrective action plans for any shortfalls identified in implemented solutions</a:t>
            </a:r>
          </a:p>
          <a:p>
            <a:pPr>
              <a:spcAft>
                <a:spcPts val="1000"/>
              </a:spcAft>
            </a:pPr>
            <a:r>
              <a:rPr sz="1400" b="0">
                <a:solidFill>
                  <a:srgbClr val="161B26"/>
                </a:solidFill>
                <a:latin typeface="Arial"/>
              </a:rPr>
              <a:t>•  A5: Shortlist and evaluate the most viable ideas using appropriate problem-solving and decision-making techniques and tools</a:t>
            </a:r>
          </a:p>
          <a:p>
            <a:pPr>
              <a:spcAft>
                <a:spcPts val="1000"/>
              </a:spcAft>
            </a:pPr>
            <a:r>
              <a:rPr sz="1400" b="0">
                <a:solidFill>
                  <a:srgbClr val="161B26"/>
                </a:solidFill>
                <a:latin typeface="Arial"/>
              </a:rPr>
              <a:t>•  A6: Determine a preferred solution using appropriate methods and draw up implementation plans</a:t>
            </a:r>
          </a:p>
          <a:p>
            <a:pPr>
              <a:spcAft>
                <a:spcPts val="1000"/>
              </a:spcAft>
            </a:pPr>
            <a:r>
              <a:rPr sz="1400" b="0">
                <a:solidFill>
                  <a:srgbClr val="161B26"/>
                </a:solidFill>
                <a:latin typeface="Arial"/>
              </a:rPr>
              <a:t>•  A7: Evaluate the effectiveness of the implemented solution and implementation plans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TSC Knowledge Covered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400" b="0">
                <a:solidFill>
                  <a:srgbClr val="161B26"/>
                </a:solidFill>
                <a:latin typeface="Arial"/>
              </a:rPr>
              <a:t>•  K1: Criteria for identifying performance deficiency or cause of failure in organisational systems and processes</a:t>
            </a:r>
          </a:p>
          <a:p>
            <a:pPr>
              <a:spcAft>
                <a:spcPts val="1000"/>
              </a:spcAft>
            </a:pPr>
            <a:r>
              <a:rPr sz="1400" b="0">
                <a:solidFill>
                  <a:srgbClr val="161B26"/>
                </a:solidFill>
                <a:latin typeface="Arial"/>
              </a:rPr>
              <a:t>•  K2: Types of analytical tools and techniques in terms of problem identification</a:t>
            </a:r>
          </a:p>
          <a:p>
            <a:pPr>
              <a:spcAft>
                <a:spcPts val="1000"/>
              </a:spcAft>
            </a:pPr>
            <a:r>
              <a:rPr sz="1400" b="0">
                <a:solidFill>
                  <a:srgbClr val="161B26"/>
                </a:solidFill>
                <a:latin typeface="Arial"/>
              </a:rPr>
              <a:t>•  K3: Application of problem solving tools and techniques</a:t>
            </a:r>
          </a:p>
          <a:p>
            <a:pPr>
              <a:spcAft>
                <a:spcPts val="1000"/>
              </a:spcAft>
            </a:pPr>
            <a:r>
              <a:rPr sz="1400" b="0">
                <a:solidFill>
                  <a:srgbClr val="161B26"/>
                </a:solidFill>
                <a:latin typeface="Arial"/>
              </a:rPr>
              <a:t>•  K4: Techniques used during problem solving and decision making processes</a:t>
            </a:r>
          </a:p>
          <a:p>
            <a:pPr>
              <a:spcAft>
                <a:spcPts val="1000"/>
              </a:spcAft>
            </a:pPr>
            <a:r>
              <a:rPr sz="1400" b="0">
                <a:solidFill>
                  <a:srgbClr val="161B26"/>
                </a:solidFill>
                <a:latin typeface="Arial"/>
              </a:rPr>
              <a:t>•  K5: Group facilitation techniques for root cause identification</a:t>
            </a:r>
          </a:p>
          <a:p>
            <a:pPr>
              <a:spcAft>
                <a:spcPts val="1000"/>
              </a:spcAft>
            </a:pPr>
            <a:r>
              <a:rPr sz="1400" b="0">
                <a:solidFill>
                  <a:srgbClr val="161B26"/>
                </a:solidFill>
                <a:latin typeface="Arial"/>
              </a:rPr>
              <a:t>•  K6: Types of decision making models for arriving at the preferred solution and their features</a:t>
            </a:r>
          </a:p>
          <a:p>
            <a:pPr>
              <a:spcAft>
                <a:spcPts val="1000"/>
              </a:spcAft>
            </a:pPr>
            <a:r>
              <a:rPr sz="1400" b="0">
                <a:solidFill>
                  <a:srgbClr val="161B26"/>
                </a:solidFill>
                <a:latin typeface="Arial"/>
              </a:rPr>
              <a:t>•  K7: Techniques to evaluate the effectiveness of implemented solution and implementation plan</a:t>
            </a:r>
          </a:p>
          <a:p>
            <a:pPr>
              <a:spcAft>
                <a:spcPts val="1000"/>
              </a:spcAft>
            </a:pPr>
            <a:r>
              <a:rPr sz="1400" b="0">
                <a:solidFill>
                  <a:srgbClr val="161B26"/>
                </a:solidFill>
                <a:latin typeface="Arial"/>
              </a:rPr>
              <a:t>•  K8: Factors affecting the effectiveness of an implementation plan</a:t>
            </a:r>
          </a:p>
          <a:p>
            <a:pPr>
              <a:spcAft>
                <a:spcPts val="1000"/>
              </a:spcAft>
            </a:pPr>
            <a:r>
              <a:rPr sz="1400" b="0">
                <a:solidFill>
                  <a:srgbClr val="161B26"/>
                </a:solidFill>
                <a:latin typeface="Arial"/>
              </a:rPr>
              <a:t>•  K9: Rationale for the different components in a corrective action plan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Prerequisites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Level</a:t>
            </a:r>
          </a:p>
          <a:p>
            <a:pPr algn="l">
              <a:spcAft>
                <a:spcPts val="300"/>
              </a:spcAft>
            </a:pPr>
            <a:r>
              <a:rPr sz="1300" b="0">
                <a:solidFill>
                  <a:srgbClr val="5B6372"/>
                </a:solidFill>
                <a:latin typeface="Arial"/>
              </a:rPr>
              <a:t>Beginner — no prior problem-solving or AI training required.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Education</a:t>
            </a:r>
          </a:p>
          <a:p>
            <a:pPr algn="l">
              <a:spcAft>
                <a:spcPts val="300"/>
              </a:spcAft>
            </a:pPr>
            <a:r>
              <a:rPr sz="1300" b="0">
                <a:solidFill>
                  <a:srgbClr val="5B6372"/>
                </a:solidFill>
                <a:latin typeface="Arial"/>
              </a:rPr>
              <a:t>Minimum 3 GCE 'O' Level passes including English, or WPL Level 5.</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Experience</a:t>
            </a:r>
          </a:p>
          <a:p>
            <a:pPr algn="l">
              <a:spcAft>
                <a:spcPts val="300"/>
              </a:spcAft>
            </a:pPr>
            <a:r>
              <a:rPr sz="1300" b="0">
                <a:solidFill>
                  <a:srgbClr val="5B6372"/>
                </a:solidFill>
                <a:latin typeface="Arial"/>
              </a:rPr>
              <a:t>At least 1 year of working experience.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Equipment</a:t>
            </a:r>
          </a:p>
          <a:p>
            <a:pPr algn="l">
              <a:spcAft>
                <a:spcPts val="300"/>
              </a:spcAft>
            </a:pPr>
            <a:r>
              <a:rPr sz="1300" b="0">
                <a:solidFill>
                  <a:srgbClr val="5B6372"/>
                </a:solidFill>
                <a:latin typeface="Arial"/>
              </a:rPr>
              <a:t>A laptop with a browser. Spare units available on request.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BY THE END OF THIS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LO1: Identify performance deficiencies and root causes impacting organisational aspects</a:t>
            </a:r>
          </a:p>
          <a:p>
            <a:pPr>
              <a:spcAft>
                <a:spcPts val="1000"/>
              </a:spcAft>
            </a:pPr>
            <a:r>
              <a:rPr sz="1700" b="0">
                <a:solidFill>
                  <a:srgbClr val="161B26"/>
                </a:solidFill>
                <a:latin typeface="Arial"/>
              </a:rPr>
              <a:t>•  LO2: Deduce key implications, develop corrective plans, and shortlist viable solutions</a:t>
            </a:r>
          </a:p>
          <a:p>
            <a:pPr>
              <a:spcAft>
                <a:spcPts val="1000"/>
              </a:spcAft>
            </a:pPr>
            <a:r>
              <a:rPr sz="1700" b="0">
                <a:solidFill>
                  <a:srgbClr val="161B26"/>
                </a:solidFill>
                <a:latin typeface="Arial"/>
              </a:rPr>
              <a:t>•  LO3: Determine preferred solutions and evaluate the effectiveness of implemented plans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OUTLINE  ·  K1, K2, K5 · A1,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Topic 1: Identifying Performance Gaps and Root Causes with Generative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A problem well stated is a problem half solved — poor problem definitions burn budget on the wrong fix.</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42616"/>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Distinguish the symptom, the problem and the root cause; only root causes stop recurrence.</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Well-defined vs ill-defined problems demand different tooling and different levels of framing effort.</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A workplace problem statement carries Context, Metric, Baseline, Target, Timeframe and Constraints.</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Root-cause toolkit: 5 Whys (depth), Fishbone (breadth), Pareto (priority), System Loops (dynamics).</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15000"/>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GenAI accelerates framing and hypothesis generation, but the human owns evidence and judgement.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OUTLINE  ·  K4, K6, K9 · A3, A4,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Topic 2: Developing Corrective Plans and Evaluating Potential Solutions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Separate divergence from convergence — generating and judging at the same time kills good ideas.</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42616"/>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GenAI is a divergence engine: it produces breadth and unfamiliar analogies at near-zero cost.</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Convergence needs explicit criteria — Impact vs Ease for speed, weighted decision matrix for rigour.</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A corrective action plan states the root cause addressed, action, owner, timeline, resource and measure.</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Cognitive fixedness and consensus fatigue are the two biases that quietly narrow the solution set.</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15000"/>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Generative optimisation: GenAI explores the option space, structured criteria evaluate against constraints.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COURSE OUTLINE  ·  K3, K7, K8 · A6, A7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Topic 3: Selecting, Implementing and Measuring Solution Effectiveness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A preferred solution is a decision you can defend — criteria, evidence, trade-offs and risks made explicit.</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42616"/>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An implementation plan converts a chosen solution into action, owner, timeline, resource and checkpoint.</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Most solutions fail on adoption, not on design — stakeholder resistance is a design input, not a surprise.</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Leading indicators warn you early; lagging indicators confirm the outcome. You need both.</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Evaluate against the baseline in the problem statement — this closes the loop back to Topic 1.</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15000"/>
            <a:ext cx="9427464" cy="384048"/>
          </a:xfrm>
          <a:prstGeom prst="rect">
            <a:avLst/>
          </a:prstGeom>
          <a:noFill/>
        </p:spPr>
        <p:txBody>
          <a:bodyPr wrap="square" anchor="ctr">
            <a:spAutoFit/>
          </a:bodyPr>
          <a:lstStyle/>
          <a:p>
            <a:pPr algn="l">
              <a:spcAft>
                <a:spcPts val="400"/>
              </a:spcAft>
            </a:pPr>
            <a:r>
              <a:rPr sz="1300" b="0">
                <a:solidFill>
                  <a:srgbClr val="161B26"/>
                </a:solidFill>
                <a:latin typeface="Arial"/>
              </a:rPr>
              <a:t>PDCA / DMAIC-Control sustains the gain; without a control plan improvements decay.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8 INSTRUCTIONAL HOURS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Time</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Session</a:t>
            </a:r>
          </a:p>
        </p:txBody>
      </p:sp>
      <p:sp>
        <p:nvSpPr>
          <p:cNvPr id="11" name="Rectangle 10"/>
          <p:cNvSpPr/>
          <p:nvPr/>
        </p:nvSpPr>
        <p:spPr>
          <a:xfrm>
            <a:off x="777240" y="2258568"/>
            <a:ext cx="2764962" cy="2898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289864"/>
          </a:xfrm>
          <a:prstGeom prst="rect">
            <a:avLst/>
          </a:prstGeom>
          <a:noFill/>
        </p:spPr>
        <p:txBody>
          <a:bodyPr wrap="square" anchor="ctr">
            <a:spAutoFit/>
          </a:bodyPr>
          <a:lstStyle/>
          <a:p>
            <a:pPr algn="l">
              <a:spcAft>
                <a:spcPts val="400"/>
              </a:spcAft>
            </a:pPr>
            <a:r>
              <a:rPr sz="1150" b="1">
                <a:solidFill>
                  <a:srgbClr val="161B26"/>
                </a:solidFill>
                <a:latin typeface="Arial"/>
              </a:rPr>
              <a:t>9.30am</a:t>
            </a:r>
          </a:p>
        </p:txBody>
      </p:sp>
      <p:sp>
        <p:nvSpPr>
          <p:cNvPr id="13" name="Rectangle 12"/>
          <p:cNvSpPr/>
          <p:nvPr/>
        </p:nvSpPr>
        <p:spPr>
          <a:xfrm>
            <a:off x="3542202" y="2258568"/>
            <a:ext cx="7869510" cy="2898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289864"/>
          </a:xfrm>
          <a:prstGeom prst="rect">
            <a:avLst/>
          </a:prstGeom>
          <a:noFill/>
        </p:spPr>
        <p:txBody>
          <a:bodyPr wrap="square" anchor="ctr">
            <a:spAutoFit/>
          </a:bodyPr>
          <a:lstStyle/>
          <a:p>
            <a:pPr algn="l">
              <a:spcAft>
                <a:spcPts val="400"/>
              </a:spcAft>
            </a:pPr>
            <a:r>
              <a:rPr sz="1150" b="0">
                <a:solidFill>
                  <a:srgbClr val="5B6372"/>
                </a:solidFill>
                <a:latin typeface="Arial"/>
              </a:rPr>
              <a:t>Digital Attendance (AM) · Introductions · Learning Outcomes</a:t>
            </a:r>
          </a:p>
        </p:txBody>
      </p:sp>
      <p:sp>
        <p:nvSpPr>
          <p:cNvPr id="15" name="Rectangle 14"/>
          <p:cNvSpPr/>
          <p:nvPr/>
        </p:nvSpPr>
        <p:spPr>
          <a:xfrm>
            <a:off x="777240" y="2548432"/>
            <a:ext cx="2764962" cy="2898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548432"/>
            <a:ext cx="2508930" cy="289864"/>
          </a:xfrm>
          <a:prstGeom prst="rect">
            <a:avLst/>
          </a:prstGeom>
          <a:noFill/>
        </p:spPr>
        <p:txBody>
          <a:bodyPr wrap="square" anchor="ctr">
            <a:spAutoFit/>
          </a:bodyPr>
          <a:lstStyle/>
          <a:p>
            <a:pPr algn="l">
              <a:spcAft>
                <a:spcPts val="400"/>
              </a:spcAft>
            </a:pPr>
            <a:r>
              <a:rPr sz="1150" b="1">
                <a:solidFill>
                  <a:srgbClr val="161B26"/>
                </a:solidFill>
                <a:latin typeface="Arial"/>
              </a:rPr>
              <a:t>10.00am</a:t>
            </a:r>
          </a:p>
        </p:txBody>
      </p:sp>
      <p:sp>
        <p:nvSpPr>
          <p:cNvPr id="17" name="Rectangle 16"/>
          <p:cNvSpPr/>
          <p:nvPr/>
        </p:nvSpPr>
        <p:spPr>
          <a:xfrm>
            <a:off x="3542202" y="2548432"/>
            <a:ext cx="7869510" cy="2898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548432"/>
            <a:ext cx="7613478" cy="289864"/>
          </a:xfrm>
          <a:prstGeom prst="rect">
            <a:avLst/>
          </a:prstGeom>
          <a:noFill/>
        </p:spPr>
        <p:txBody>
          <a:bodyPr wrap="square" anchor="ctr">
            <a:spAutoFit/>
          </a:bodyPr>
          <a:lstStyle/>
          <a:p>
            <a:pPr algn="l">
              <a:spcAft>
                <a:spcPts val="400"/>
              </a:spcAft>
            </a:pPr>
            <a:r>
              <a:rPr sz="1150" b="0">
                <a:solidFill>
                  <a:srgbClr val="5B6372"/>
                </a:solidFill>
                <a:latin typeface="Arial"/>
              </a:rPr>
              <a:t>Topic 1: Problem framing and measurable problem statements</a:t>
            </a:r>
          </a:p>
        </p:txBody>
      </p:sp>
      <p:sp>
        <p:nvSpPr>
          <p:cNvPr id="19" name="Rectangle 18"/>
          <p:cNvSpPr/>
          <p:nvPr/>
        </p:nvSpPr>
        <p:spPr>
          <a:xfrm>
            <a:off x="777240" y="2838296"/>
            <a:ext cx="2764962" cy="2898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6"/>
            <a:ext cx="2508930" cy="289864"/>
          </a:xfrm>
          <a:prstGeom prst="rect">
            <a:avLst/>
          </a:prstGeom>
          <a:noFill/>
        </p:spPr>
        <p:txBody>
          <a:bodyPr wrap="square" anchor="ctr">
            <a:spAutoFit/>
          </a:bodyPr>
          <a:lstStyle/>
          <a:p>
            <a:pPr algn="l">
              <a:spcAft>
                <a:spcPts val="400"/>
              </a:spcAft>
            </a:pPr>
            <a:r>
              <a:rPr sz="1150" b="1">
                <a:solidFill>
                  <a:srgbClr val="161B26"/>
                </a:solidFill>
                <a:latin typeface="Arial"/>
              </a:rPr>
              <a:t>11.00am</a:t>
            </a:r>
          </a:p>
        </p:txBody>
      </p:sp>
      <p:sp>
        <p:nvSpPr>
          <p:cNvPr id="21" name="Rectangle 20"/>
          <p:cNvSpPr/>
          <p:nvPr/>
        </p:nvSpPr>
        <p:spPr>
          <a:xfrm>
            <a:off x="3542202" y="2838296"/>
            <a:ext cx="7869510" cy="2898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6"/>
            <a:ext cx="7613478" cy="289864"/>
          </a:xfrm>
          <a:prstGeom prst="rect">
            <a:avLst/>
          </a:prstGeom>
          <a:noFill/>
        </p:spPr>
        <p:txBody>
          <a:bodyPr wrap="square" anchor="ctr">
            <a:spAutoFit/>
          </a:bodyPr>
          <a:lstStyle/>
          <a:p>
            <a:pPr algn="l">
              <a:spcAft>
                <a:spcPts val="400"/>
              </a:spcAft>
            </a:pPr>
            <a:r>
              <a:rPr sz="1150" b="0">
                <a:solidFill>
                  <a:srgbClr val="5B6372"/>
                </a:solidFill>
                <a:latin typeface="Arial"/>
              </a:rPr>
              <a:t>Activity 1 — Problem Statement (ShopFront SG)</a:t>
            </a:r>
          </a:p>
        </p:txBody>
      </p:sp>
      <p:sp>
        <p:nvSpPr>
          <p:cNvPr id="23" name="Rectangle 22"/>
          <p:cNvSpPr/>
          <p:nvPr/>
        </p:nvSpPr>
        <p:spPr>
          <a:xfrm>
            <a:off x="777240" y="3128160"/>
            <a:ext cx="2764962" cy="2898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128160"/>
            <a:ext cx="2508930" cy="289864"/>
          </a:xfrm>
          <a:prstGeom prst="rect">
            <a:avLst/>
          </a:prstGeom>
          <a:noFill/>
        </p:spPr>
        <p:txBody>
          <a:bodyPr wrap="square" anchor="ctr">
            <a:spAutoFit/>
          </a:bodyPr>
          <a:lstStyle/>
          <a:p>
            <a:pPr algn="l">
              <a:spcAft>
                <a:spcPts val="400"/>
              </a:spcAft>
            </a:pPr>
            <a:r>
              <a:rPr sz="1150" b="1">
                <a:solidFill>
                  <a:srgbClr val="161B26"/>
                </a:solidFill>
                <a:latin typeface="Arial"/>
              </a:rPr>
              <a:t>12.30pm</a:t>
            </a:r>
          </a:p>
        </p:txBody>
      </p:sp>
      <p:sp>
        <p:nvSpPr>
          <p:cNvPr id="25" name="Rectangle 24"/>
          <p:cNvSpPr/>
          <p:nvPr/>
        </p:nvSpPr>
        <p:spPr>
          <a:xfrm>
            <a:off x="3542202" y="3128160"/>
            <a:ext cx="7869510" cy="2898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3128160"/>
            <a:ext cx="7613478" cy="289864"/>
          </a:xfrm>
          <a:prstGeom prst="rect">
            <a:avLst/>
          </a:prstGeom>
          <a:noFill/>
        </p:spPr>
        <p:txBody>
          <a:bodyPr wrap="square" anchor="ctr">
            <a:spAutoFit/>
          </a:bodyPr>
          <a:lstStyle/>
          <a:p>
            <a:pPr algn="l">
              <a:spcAft>
                <a:spcPts val="400"/>
              </a:spcAft>
            </a:pPr>
            <a:r>
              <a:rPr sz="1150" b="0">
                <a:solidFill>
                  <a:srgbClr val="5B6372"/>
                </a:solidFill>
                <a:latin typeface="Arial"/>
              </a:rPr>
              <a:t>Lunch Break (1 hour)</a:t>
            </a:r>
          </a:p>
        </p:txBody>
      </p:sp>
      <p:sp>
        <p:nvSpPr>
          <p:cNvPr id="27" name="Rectangle 26"/>
          <p:cNvSpPr/>
          <p:nvPr/>
        </p:nvSpPr>
        <p:spPr>
          <a:xfrm>
            <a:off x="777240" y="3418024"/>
            <a:ext cx="2764962" cy="2898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3418024"/>
            <a:ext cx="2508930" cy="289864"/>
          </a:xfrm>
          <a:prstGeom prst="rect">
            <a:avLst/>
          </a:prstGeom>
          <a:noFill/>
        </p:spPr>
        <p:txBody>
          <a:bodyPr wrap="square" anchor="ctr">
            <a:spAutoFit/>
          </a:bodyPr>
          <a:lstStyle/>
          <a:p>
            <a:pPr algn="l">
              <a:spcAft>
                <a:spcPts val="400"/>
              </a:spcAft>
            </a:pPr>
            <a:r>
              <a:rPr sz="1150" b="1">
                <a:solidFill>
                  <a:srgbClr val="161B26"/>
                </a:solidFill>
                <a:latin typeface="Arial"/>
              </a:rPr>
              <a:t>1.30pm</a:t>
            </a:r>
          </a:p>
        </p:txBody>
      </p:sp>
      <p:sp>
        <p:nvSpPr>
          <p:cNvPr id="29" name="Rectangle 28"/>
          <p:cNvSpPr/>
          <p:nvPr/>
        </p:nvSpPr>
        <p:spPr>
          <a:xfrm>
            <a:off x="3542202" y="3418024"/>
            <a:ext cx="7869510" cy="2898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3418024"/>
            <a:ext cx="7613478" cy="289864"/>
          </a:xfrm>
          <a:prstGeom prst="rect">
            <a:avLst/>
          </a:prstGeom>
          <a:noFill/>
        </p:spPr>
        <p:txBody>
          <a:bodyPr wrap="square" anchor="ctr">
            <a:spAutoFit/>
          </a:bodyPr>
          <a:lstStyle/>
          <a:p>
            <a:pPr algn="l">
              <a:spcAft>
                <a:spcPts val="400"/>
              </a:spcAft>
            </a:pPr>
            <a:r>
              <a:rPr sz="1150" b="0">
                <a:solidFill>
                  <a:srgbClr val="5B6372"/>
                </a:solidFill>
                <a:latin typeface="Arial"/>
              </a:rPr>
              <a:t>Digital Attendance (PM) · Root cause analysis toolkit</a:t>
            </a:r>
          </a:p>
        </p:txBody>
      </p:sp>
      <p:sp>
        <p:nvSpPr>
          <p:cNvPr id="31" name="Rectangle 30"/>
          <p:cNvSpPr/>
          <p:nvPr/>
        </p:nvSpPr>
        <p:spPr>
          <a:xfrm>
            <a:off x="777240" y="3707888"/>
            <a:ext cx="2764962" cy="2898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88"/>
            <a:ext cx="2508930" cy="289864"/>
          </a:xfrm>
          <a:prstGeom prst="rect">
            <a:avLst/>
          </a:prstGeom>
          <a:noFill/>
        </p:spPr>
        <p:txBody>
          <a:bodyPr wrap="square" anchor="ctr">
            <a:spAutoFit/>
          </a:bodyPr>
          <a:lstStyle/>
          <a:p>
            <a:pPr algn="l">
              <a:spcAft>
                <a:spcPts val="400"/>
              </a:spcAft>
            </a:pPr>
            <a:r>
              <a:rPr sz="1150" b="1">
                <a:solidFill>
                  <a:srgbClr val="161B26"/>
                </a:solidFill>
                <a:latin typeface="Arial"/>
              </a:rPr>
              <a:t>2.00pm</a:t>
            </a:r>
          </a:p>
        </p:txBody>
      </p:sp>
      <p:sp>
        <p:nvSpPr>
          <p:cNvPr id="33" name="Rectangle 32"/>
          <p:cNvSpPr/>
          <p:nvPr/>
        </p:nvSpPr>
        <p:spPr>
          <a:xfrm>
            <a:off x="3542202" y="3707888"/>
            <a:ext cx="7869510" cy="2898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88"/>
            <a:ext cx="7613478" cy="289864"/>
          </a:xfrm>
          <a:prstGeom prst="rect">
            <a:avLst/>
          </a:prstGeom>
          <a:noFill/>
        </p:spPr>
        <p:txBody>
          <a:bodyPr wrap="square" anchor="ctr">
            <a:spAutoFit/>
          </a:bodyPr>
          <a:lstStyle/>
          <a:p>
            <a:pPr algn="l">
              <a:spcAft>
                <a:spcPts val="400"/>
              </a:spcAft>
            </a:pPr>
            <a:r>
              <a:rPr sz="1150" b="0">
                <a:solidFill>
                  <a:srgbClr val="5B6372"/>
                </a:solidFill>
                <a:latin typeface="Arial"/>
              </a:rPr>
              <a:t>Activity 2 — 5 Whys (Meridian Health)</a:t>
            </a:r>
          </a:p>
        </p:txBody>
      </p:sp>
      <p:sp>
        <p:nvSpPr>
          <p:cNvPr id="35" name="Rectangle 34"/>
          <p:cNvSpPr/>
          <p:nvPr/>
        </p:nvSpPr>
        <p:spPr>
          <a:xfrm>
            <a:off x="777240" y="3997752"/>
            <a:ext cx="2764962" cy="2898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3997752"/>
            <a:ext cx="2508930" cy="289864"/>
          </a:xfrm>
          <a:prstGeom prst="rect">
            <a:avLst/>
          </a:prstGeom>
          <a:noFill/>
        </p:spPr>
        <p:txBody>
          <a:bodyPr wrap="square" anchor="ctr">
            <a:spAutoFit/>
          </a:bodyPr>
          <a:lstStyle/>
          <a:p>
            <a:pPr algn="l">
              <a:spcAft>
                <a:spcPts val="400"/>
              </a:spcAft>
            </a:pPr>
            <a:r>
              <a:rPr sz="1150" b="1">
                <a:solidFill>
                  <a:srgbClr val="161B26"/>
                </a:solidFill>
                <a:latin typeface="Arial"/>
              </a:rPr>
              <a:t>3.00pm</a:t>
            </a:r>
          </a:p>
        </p:txBody>
      </p:sp>
      <p:sp>
        <p:nvSpPr>
          <p:cNvPr id="37" name="Rectangle 36"/>
          <p:cNvSpPr/>
          <p:nvPr/>
        </p:nvSpPr>
        <p:spPr>
          <a:xfrm>
            <a:off x="3542202" y="3997752"/>
            <a:ext cx="7869510" cy="2898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70218" y="3997752"/>
            <a:ext cx="7613478" cy="289864"/>
          </a:xfrm>
          <a:prstGeom prst="rect">
            <a:avLst/>
          </a:prstGeom>
          <a:noFill/>
        </p:spPr>
        <p:txBody>
          <a:bodyPr wrap="square" anchor="ctr">
            <a:spAutoFit/>
          </a:bodyPr>
          <a:lstStyle/>
          <a:p>
            <a:pPr algn="l">
              <a:spcAft>
                <a:spcPts val="400"/>
              </a:spcAft>
            </a:pPr>
            <a:r>
              <a:rPr sz="1150" b="0">
                <a:solidFill>
                  <a:srgbClr val="5B6372"/>
                </a:solidFill>
                <a:latin typeface="Arial"/>
              </a:rPr>
              <a:t>Activity 3 — Fishbone (Horizon Bank)</a:t>
            </a:r>
          </a:p>
        </p:txBody>
      </p:sp>
      <p:sp>
        <p:nvSpPr>
          <p:cNvPr id="39" name="Rectangle 38"/>
          <p:cNvSpPr/>
          <p:nvPr/>
        </p:nvSpPr>
        <p:spPr>
          <a:xfrm>
            <a:off x="777240" y="4287616"/>
            <a:ext cx="2764962" cy="2898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287616"/>
            <a:ext cx="2508930" cy="289864"/>
          </a:xfrm>
          <a:prstGeom prst="rect">
            <a:avLst/>
          </a:prstGeom>
          <a:noFill/>
        </p:spPr>
        <p:txBody>
          <a:bodyPr wrap="square" anchor="ctr">
            <a:spAutoFit/>
          </a:bodyPr>
          <a:lstStyle/>
          <a:p>
            <a:pPr algn="l">
              <a:spcAft>
                <a:spcPts val="400"/>
              </a:spcAft>
            </a:pPr>
            <a:r>
              <a:rPr sz="1150" b="1">
                <a:solidFill>
                  <a:srgbClr val="161B26"/>
                </a:solidFill>
                <a:latin typeface="Arial"/>
              </a:rPr>
              <a:t>4.15pm</a:t>
            </a:r>
          </a:p>
        </p:txBody>
      </p:sp>
      <p:sp>
        <p:nvSpPr>
          <p:cNvPr id="41" name="Rectangle 40"/>
          <p:cNvSpPr/>
          <p:nvPr/>
        </p:nvSpPr>
        <p:spPr>
          <a:xfrm>
            <a:off x="3542202" y="4287616"/>
            <a:ext cx="7869510" cy="2898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287616"/>
            <a:ext cx="7613478" cy="289864"/>
          </a:xfrm>
          <a:prstGeom prst="rect">
            <a:avLst/>
          </a:prstGeom>
          <a:noFill/>
        </p:spPr>
        <p:txBody>
          <a:bodyPr wrap="square" anchor="ctr">
            <a:spAutoFit/>
          </a:bodyPr>
          <a:lstStyle/>
          <a:p>
            <a:pPr algn="l">
              <a:spcAft>
                <a:spcPts val="400"/>
              </a:spcAft>
            </a:pPr>
            <a:r>
              <a:rPr sz="1150" b="0">
                <a:solidFill>
                  <a:srgbClr val="5B6372"/>
                </a:solidFill>
                <a:latin typeface="Arial"/>
              </a:rPr>
              <a:t>Activity 4 — Pareto (Nexa Logistics)</a:t>
            </a:r>
          </a:p>
        </p:txBody>
      </p:sp>
      <p:sp>
        <p:nvSpPr>
          <p:cNvPr id="43" name="Rectangle 42"/>
          <p:cNvSpPr/>
          <p:nvPr/>
        </p:nvSpPr>
        <p:spPr>
          <a:xfrm>
            <a:off x="777240" y="4577480"/>
            <a:ext cx="2764962" cy="2898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577480"/>
            <a:ext cx="2508930" cy="289864"/>
          </a:xfrm>
          <a:prstGeom prst="rect">
            <a:avLst/>
          </a:prstGeom>
          <a:noFill/>
        </p:spPr>
        <p:txBody>
          <a:bodyPr wrap="square" anchor="ctr">
            <a:spAutoFit/>
          </a:bodyPr>
          <a:lstStyle/>
          <a:p>
            <a:pPr algn="l">
              <a:spcAft>
                <a:spcPts val="400"/>
              </a:spcAft>
            </a:pPr>
            <a:r>
              <a:rPr sz="1150" b="1">
                <a:solidFill>
                  <a:srgbClr val="161B26"/>
                </a:solidFill>
                <a:latin typeface="Arial"/>
              </a:rPr>
              <a:t>5.15pm</a:t>
            </a:r>
          </a:p>
        </p:txBody>
      </p:sp>
      <p:sp>
        <p:nvSpPr>
          <p:cNvPr id="45" name="Rectangle 44"/>
          <p:cNvSpPr/>
          <p:nvPr/>
        </p:nvSpPr>
        <p:spPr>
          <a:xfrm>
            <a:off x="3542202" y="4577480"/>
            <a:ext cx="7869510" cy="2898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577480"/>
            <a:ext cx="7613478" cy="289864"/>
          </a:xfrm>
          <a:prstGeom prst="rect">
            <a:avLst/>
          </a:prstGeom>
          <a:noFill/>
        </p:spPr>
        <p:txBody>
          <a:bodyPr wrap="square" anchor="ctr">
            <a:spAutoFit/>
          </a:bodyPr>
          <a:lstStyle/>
          <a:p>
            <a:pPr algn="l">
              <a:spcAft>
                <a:spcPts val="400"/>
              </a:spcAft>
            </a:pPr>
            <a:r>
              <a:rPr sz="1150" b="0">
                <a:solidFill>
                  <a:srgbClr val="5B6372"/>
                </a:solidFill>
                <a:latin typeface="Arial"/>
              </a:rPr>
              <a:t>Activity 5 — System Loops (Horizon Bank revisited)</a:t>
            </a:r>
          </a:p>
        </p:txBody>
      </p:sp>
      <p:sp>
        <p:nvSpPr>
          <p:cNvPr id="47" name="Rectangle 46"/>
          <p:cNvSpPr/>
          <p:nvPr/>
        </p:nvSpPr>
        <p:spPr>
          <a:xfrm>
            <a:off x="777240" y="4867344"/>
            <a:ext cx="2764962" cy="2898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867344"/>
            <a:ext cx="2508930" cy="289864"/>
          </a:xfrm>
          <a:prstGeom prst="rect">
            <a:avLst/>
          </a:prstGeom>
          <a:noFill/>
        </p:spPr>
        <p:txBody>
          <a:bodyPr wrap="square" anchor="ctr">
            <a:spAutoFit/>
          </a:bodyPr>
          <a:lstStyle/>
          <a:p>
            <a:pPr algn="l">
              <a:spcAft>
                <a:spcPts val="400"/>
              </a:spcAft>
            </a:pPr>
            <a:r>
              <a:rPr sz="1150" b="1">
                <a:solidFill>
                  <a:srgbClr val="161B26"/>
                </a:solidFill>
                <a:latin typeface="Arial"/>
              </a:rPr>
              <a:t>6.30pm</a:t>
            </a:r>
          </a:p>
        </p:txBody>
      </p:sp>
      <p:sp>
        <p:nvSpPr>
          <p:cNvPr id="49" name="Rectangle 48"/>
          <p:cNvSpPr/>
          <p:nvPr/>
        </p:nvSpPr>
        <p:spPr>
          <a:xfrm>
            <a:off x="3542202" y="4867344"/>
            <a:ext cx="7869510" cy="2898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867344"/>
            <a:ext cx="7613478" cy="289864"/>
          </a:xfrm>
          <a:prstGeom prst="rect">
            <a:avLst/>
          </a:prstGeom>
          <a:noFill/>
        </p:spPr>
        <p:txBody>
          <a:bodyPr wrap="square" anchor="ctr">
            <a:spAutoFit/>
          </a:bodyPr>
          <a:lstStyle/>
          <a:p>
            <a:pPr algn="l">
              <a:spcAft>
                <a:spcPts val="400"/>
              </a:spcAft>
            </a:pPr>
            <a:r>
              <a:rPr sz="1150" b="0">
                <a:solidFill>
                  <a:srgbClr val="5B6372"/>
                </a:solidFill>
                <a:latin typeface="Arial"/>
              </a:rPr>
              <a:t>End of Day 1</a:t>
            </a:r>
          </a:p>
        </p:txBody>
      </p:sp>
      <p:sp>
        <p:nvSpPr>
          <p:cNvPr id="51" name="Rectangle 50"/>
          <p:cNvSpPr/>
          <p:nvPr/>
        </p:nvSpPr>
        <p:spPr>
          <a:xfrm>
            <a:off x="777240" y="5358376"/>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358376"/>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51560" y="5468104"/>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Frame the problem and find the true root cause — with GenAI as your analyst</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SCHEDULE  ·  8 INSTRUCTIONAL HOURS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Time</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Session</a:t>
            </a:r>
          </a:p>
        </p:txBody>
      </p:sp>
      <p:sp>
        <p:nvSpPr>
          <p:cNvPr id="11" name="Rectangle 10"/>
          <p:cNvSpPr/>
          <p:nvPr/>
        </p:nvSpPr>
        <p:spPr>
          <a:xfrm>
            <a:off x="777240" y="2258568"/>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9.30am</a:t>
            </a:r>
          </a:p>
        </p:txBody>
      </p:sp>
      <p:sp>
        <p:nvSpPr>
          <p:cNvPr id="13" name="Rectangle 12"/>
          <p:cNvSpPr/>
          <p:nvPr/>
        </p:nvSpPr>
        <p:spPr>
          <a:xfrm>
            <a:off x="3542202" y="2258568"/>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Digital Attendance (AM) · Recap of Day 1</a:t>
            </a:r>
          </a:p>
        </p:txBody>
      </p:sp>
      <p:sp>
        <p:nvSpPr>
          <p:cNvPr id="15" name="Rectangle 14"/>
          <p:cNvSpPr/>
          <p:nvPr/>
        </p:nvSpPr>
        <p:spPr>
          <a:xfrm>
            <a:off x="777240" y="2500122"/>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500122"/>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10.00am</a:t>
            </a:r>
          </a:p>
        </p:txBody>
      </p:sp>
      <p:sp>
        <p:nvSpPr>
          <p:cNvPr id="17" name="Rectangle 16"/>
          <p:cNvSpPr/>
          <p:nvPr/>
        </p:nvSpPr>
        <p:spPr>
          <a:xfrm>
            <a:off x="3542202" y="2500122"/>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500122"/>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Topic 2: Divergent ideation and GenAI as a divergence engine</a:t>
            </a:r>
          </a:p>
        </p:txBody>
      </p:sp>
      <p:sp>
        <p:nvSpPr>
          <p:cNvPr id="19" name="Rectangle 18"/>
          <p:cNvSpPr/>
          <p:nvPr/>
        </p:nvSpPr>
        <p:spPr>
          <a:xfrm>
            <a:off x="777240" y="2741676"/>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10.45am</a:t>
            </a:r>
          </a:p>
        </p:txBody>
      </p:sp>
      <p:sp>
        <p:nvSpPr>
          <p:cNvPr id="21" name="Rectangle 20"/>
          <p:cNvSpPr/>
          <p:nvPr/>
        </p:nvSpPr>
        <p:spPr>
          <a:xfrm>
            <a:off x="3542202" y="2741676"/>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Activity 6 — Divergent Ideation + SCAMPER (Meridian Health)</a:t>
            </a:r>
          </a:p>
        </p:txBody>
      </p:sp>
      <p:sp>
        <p:nvSpPr>
          <p:cNvPr id="23" name="Rectangle 22"/>
          <p:cNvSpPr/>
          <p:nvPr/>
        </p:nvSpPr>
        <p:spPr>
          <a:xfrm>
            <a:off x="777240" y="2983230"/>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83230"/>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11.45am</a:t>
            </a:r>
          </a:p>
        </p:txBody>
      </p:sp>
      <p:sp>
        <p:nvSpPr>
          <p:cNvPr id="25" name="Rectangle 24"/>
          <p:cNvSpPr/>
          <p:nvPr/>
        </p:nvSpPr>
        <p:spPr>
          <a:xfrm>
            <a:off x="3542202" y="2983230"/>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83230"/>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Activity 7 — Impact-Ease and weighted decision matrix</a:t>
            </a:r>
          </a:p>
        </p:txBody>
      </p:sp>
      <p:sp>
        <p:nvSpPr>
          <p:cNvPr id="27" name="Rectangle 26"/>
          <p:cNvSpPr/>
          <p:nvPr/>
        </p:nvSpPr>
        <p:spPr>
          <a:xfrm>
            <a:off x="777240" y="3224784"/>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3224784"/>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12.30pm</a:t>
            </a:r>
          </a:p>
        </p:txBody>
      </p:sp>
      <p:sp>
        <p:nvSpPr>
          <p:cNvPr id="29" name="Rectangle 28"/>
          <p:cNvSpPr/>
          <p:nvPr/>
        </p:nvSpPr>
        <p:spPr>
          <a:xfrm>
            <a:off x="3542202" y="3224784"/>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3224784"/>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Lunch Break (1 hour)</a:t>
            </a:r>
          </a:p>
        </p:txBody>
      </p:sp>
      <p:sp>
        <p:nvSpPr>
          <p:cNvPr id="31" name="Rectangle 30"/>
          <p:cNvSpPr/>
          <p:nvPr/>
        </p:nvSpPr>
        <p:spPr>
          <a:xfrm>
            <a:off x="777240" y="3466338"/>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66338"/>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1.30pm</a:t>
            </a:r>
          </a:p>
        </p:txBody>
      </p:sp>
      <p:sp>
        <p:nvSpPr>
          <p:cNvPr id="33" name="Rectangle 32"/>
          <p:cNvSpPr/>
          <p:nvPr/>
        </p:nvSpPr>
        <p:spPr>
          <a:xfrm>
            <a:off x="3542202" y="3466338"/>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66338"/>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Digital Attendance (PM) · Activity 8 — Corrective Action Plan</a:t>
            </a:r>
          </a:p>
        </p:txBody>
      </p:sp>
      <p:sp>
        <p:nvSpPr>
          <p:cNvPr id="35" name="Rectangle 34"/>
          <p:cNvSpPr/>
          <p:nvPr/>
        </p:nvSpPr>
        <p:spPr>
          <a:xfrm>
            <a:off x="777240" y="3707892"/>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3707892"/>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2.30pm</a:t>
            </a:r>
          </a:p>
        </p:txBody>
      </p:sp>
      <p:sp>
        <p:nvSpPr>
          <p:cNvPr id="37" name="Rectangle 36"/>
          <p:cNvSpPr/>
          <p:nvPr/>
        </p:nvSpPr>
        <p:spPr>
          <a:xfrm>
            <a:off x="3542202" y="3707892"/>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70218" y="3707892"/>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Topic 3: Implementation, change management and evaluation</a:t>
            </a:r>
          </a:p>
        </p:txBody>
      </p:sp>
      <p:sp>
        <p:nvSpPr>
          <p:cNvPr id="39" name="Rectangle 38"/>
          <p:cNvSpPr/>
          <p:nvPr/>
        </p:nvSpPr>
        <p:spPr>
          <a:xfrm>
            <a:off x="777240" y="3949446"/>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49446"/>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3.00pm</a:t>
            </a:r>
          </a:p>
        </p:txBody>
      </p:sp>
      <p:sp>
        <p:nvSpPr>
          <p:cNvPr id="41" name="Rectangle 40"/>
          <p:cNvSpPr/>
          <p:nvPr/>
        </p:nvSpPr>
        <p:spPr>
          <a:xfrm>
            <a:off x="3542202" y="3949446"/>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49446"/>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Activity 9 — Implementation &amp; stakeholder resistance (ShopFront SG)</a:t>
            </a:r>
          </a:p>
        </p:txBody>
      </p:sp>
      <p:sp>
        <p:nvSpPr>
          <p:cNvPr id="43" name="Rectangle 42"/>
          <p:cNvSpPr/>
          <p:nvPr/>
        </p:nvSpPr>
        <p:spPr>
          <a:xfrm>
            <a:off x="777240" y="4191000"/>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191000"/>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4.00pm</a:t>
            </a:r>
          </a:p>
        </p:txBody>
      </p:sp>
      <p:sp>
        <p:nvSpPr>
          <p:cNvPr id="45" name="Rectangle 44"/>
          <p:cNvSpPr/>
          <p:nvPr/>
        </p:nvSpPr>
        <p:spPr>
          <a:xfrm>
            <a:off x="3542202" y="4191000"/>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191000"/>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Activity 10 — Measuring effectiveness at 90 days</a:t>
            </a:r>
          </a:p>
        </p:txBody>
      </p:sp>
      <p:sp>
        <p:nvSpPr>
          <p:cNvPr id="47" name="Rectangle 46"/>
          <p:cNvSpPr/>
          <p:nvPr/>
        </p:nvSpPr>
        <p:spPr>
          <a:xfrm>
            <a:off x="777240" y="4432554"/>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432554"/>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4.45pm</a:t>
            </a:r>
          </a:p>
        </p:txBody>
      </p:sp>
      <p:sp>
        <p:nvSpPr>
          <p:cNvPr id="49" name="Rectangle 48"/>
          <p:cNvSpPr/>
          <p:nvPr/>
        </p:nvSpPr>
        <p:spPr>
          <a:xfrm>
            <a:off x="3542202" y="4432554"/>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432554"/>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Revision · Course feedback · TRAQOM survey</a:t>
            </a:r>
          </a:p>
        </p:txBody>
      </p:sp>
      <p:sp>
        <p:nvSpPr>
          <p:cNvPr id="51" name="Rectangle 50"/>
          <p:cNvSpPr/>
          <p:nvPr/>
        </p:nvSpPr>
        <p:spPr>
          <a:xfrm>
            <a:off x="777240" y="4674108"/>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5256" y="4674108"/>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5.15pm</a:t>
            </a:r>
          </a:p>
        </p:txBody>
      </p:sp>
      <p:sp>
        <p:nvSpPr>
          <p:cNvPr id="53" name="Rectangle 52"/>
          <p:cNvSpPr/>
          <p:nvPr/>
        </p:nvSpPr>
        <p:spPr>
          <a:xfrm>
            <a:off x="3542202" y="4674108"/>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70218" y="4674108"/>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Digital Attendance (Assessment) · Final Assessment (WA + Case Study)</a:t>
            </a:r>
          </a:p>
        </p:txBody>
      </p:sp>
      <p:sp>
        <p:nvSpPr>
          <p:cNvPr id="55" name="Rectangle 54"/>
          <p:cNvSpPr/>
          <p:nvPr/>
        </p:nvSpPr>
        <p:spPr>
          <a:xfrm>
            <a:off x="777240" y="4915662"/>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915662"/>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6.30pm</a:t>
            </a:r>
          </a:p>
        </p:txBody>
      </p:sp>
      <p:sp>
        <p:nvSpPr>
          <p:cNvPr id="57" name="Rectangle 56"/>
          <p:cNvSpPr/>
          <p:nvPr/>
        </p:nvSpPr>
        <p:spPr>
          <a:xfrm>
            <a:off x="3542202" y="4915662"/>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915662"/>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End of Course</a:t>
            </a:r>
          </a:p>
        </p:txBody>
      </p:sp>
      <p:sp>
        <p:nvSpPr>
          <p:cNvPr id="59" name="Rectangle 5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Generate, choose, implement and prove the solution — with GenAI as your consultant</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READ BEFORE THE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Clear your table</a:t>
            </a:r>
          </a:p>
          <a:p>
            <a:pPr algn="l">
              <a:spcAft>
                <a:spcPts val="300"/>
              </a:spcAft>
            </a:pPr>
            <a:r>
              <a:rPr sz="1300" b="0">
                <a:solidFill>
                  <a:srgbClr val="5B6372"/>
                </a:solidFill>
                <a:latin typeface="Arial"/>
              </a:rPr>
              <a:t>Place phones and all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 photos or recording</a:t>
            </a:r>
          </a:p>
          <a:p>
            <a:pPr algn="l">
              <a:spcAft>
                <a:spcPts val="300"/>
              </a:spcAft>
            </a:pPr>
            <a:r>
              <a:rPr sz="1300" b="0">
                <a:solidFill>
                  <a:srgbClr val="5B6372"/>
                </a:solidFill>
                <a:latin typeface="Arial"/>
              </a:rPr>
              <a:t>Assessment scripts must not be photographed, copied or recorded.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 discussion</a:t>
            </a:r>
          </a:p>
          <a:p>
            <a:pPr algn="l">
              <a:spcAft>
                <a:spcPts val="300"/>
              </a:spcAft>
            </a:pPr>
            <a:r>
              <a:rPr sz="1300" b="0">
                <a:solidFill>
                  <a:srgbClr val="5B6372"/>
                </a:solidFill>
                <a:latin typeface="Arial"/>
              </a:rPr>
              <a:t>The assessment is individual work. No discussion once the paper is handed out.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Use black or blue pen</a:t>
            </a:r>
          </a:p>
          <a:p>
            <a:pPr algn="l">
              <a:spcAft>
                <a:spcPts val="300"/>
              </a:spcAft>
            </a:pPr>
            <a:r>
              <a:rPr sz="1300" b="0">
                <a:solidFill>
                  <a:srgbClr val="5B6372"/>
                </a:solidFill>
                <a:latin typeface="Arial"/>
              </a:rPr>
              <a:t>For hard-copy scripts. No liquid paper or correction tape.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Time is called</a:t>
            </a:r>
          </a:p>
          <a:p>
            <a:pPr algn="l">
              <a:spcAft>
                <a:spcPts val="300"/>
              </a:spcAft>
            </a:pPr>
            <a:r>
              <a:rPr sz="1300" b="0">
                <a:solidFill>
                  <a:srgbClr val="5B6372"/>
                </a:solidFill>
                <a:latin typeface="Arial"/>
              </a:rPr>
              <a:t>Scripts are collected when time is up. Late submissions are not accepted.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Open book means</a:t>
            </a:r>
          </a:p>
          <a:p>
            <a:pPr algn="l">
              <a:spcAft>
                <a:spcPts val="300"/>
              </a:spcAft>
            </a:pPr>
            <a:r>
              <a:rPr sz="1300" b="0">
                <a:solidFill>
                  <a:srgbClr val="5B6372"/>
                </a:solidFill>
                <a:latin typeface="Arial"/>
              </a:rPr>
              <a:t>Slides, Learner Guide and approved materials only — no internet, no AI tools.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(WA)</a:t>
            </a:r>
          </a:p>
          <a:p>
            <a:pPr algn="l">
              <a:spcAft>
                <a:spcPts val="300"/>
              </a:spcAft>
            </a:pPr>
            <a:r>
              <a:rPr sz="1300" b="0">
                <a:solidFill>
                  <a:srgbClr val="5B6372"/>
                </a:solidFill>
                <a:latin typeface="Arial"/>
              </a:rPr>
              <a:t>Short-answer questions covering problem identification, root cause analysis, solution selection and evaluation.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Case Study (CS)</a:t>
            </a:r>
          </a:p>
          <a:p>
            <a:pPr algn="l">
              <a:spcAft>
                <a:spcPts val="300"/>
              </a:spcAft>
            </a:pPr>
            <a:r>
              <a:rPr sz="1300" b="0">
                <a:solidFill>
                  <a:srgbClr val="5B6372"/>
                </a:solidFill>
                <a:latin typeface="Arial"/>
              </a:rPr>
              <a:t>An integrated workplace scenario — you diagnose, decide and justify, exactly as in the activities.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Slides, Learner Guide and approved materials only. No internet search, no AI tools during assessment.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Competent / Not Yet Competent</a:t>
            </a:r>
          </a:p>
          <a:p>
            <a:pPr algn="l">
              <a:spcAft>
                <a:spcPts val="300"/>
              </a:spcAft>
            </a:pPr>
            <a:r>
              <a:rPr sz="1300" b="0">
                <a:solidFill>
                  <a:srgbClr val="5B6372"/>
                </a:solidFill>
                <a:latin typeface="Arial"/>
              </a:rPr>
              <a:t>Both instruments must be assessed Competent. A re-assessment path is available.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hevron 6"/>
          <p:cNvSpPr/>
          <p:nvPr/>
        </p:nvSpPr>
        <p:spPr>
          <a:xfrm>
            <a:off x="777240" y="2377440"/>
            <a:ext cx="1650492" cy="1737360"/>
          </a:xfrm>
          <a:prstGeom prst="chevron">
            <a:avLst>
              <a:gd name="adj" fmla="val 2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TRAQOM Survey</a:t>
            </a:r>
          </a:p>
        </p:txBody>
      </p:sp>
      <p:sp>
        <p:nvSpPr>
          <p:cNvPr id="9" name="TextBox 8"/>
          <p:cNvSpPr txBox="1"/>
          <p:nvPr/>
        </p:nvSpPr>
        <p:spPr>
          <a:xfrm>
            <a:off x="777240"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Complete on the LMS</a:t>
            </a:r>
          </a:p>
        </p:txBody>
      </p:sp>
      <p:sp>
        <p:nvSpPr>
          <p:cNvPr id="10" name="Chevron 9"/>
          <p:cNvSpPr/>
          <p:nvPr/>
        </p:nvSpPr>
        <p:spPr>
          <a:xfrm>
            <a:off x="2574036" y="2377440"/>
            <a:ext cx="1650492" cy="1737360"/>
          </a:xfrm>
          <a:prstGeom prst="chevron">
            <a:avLst>
              <a:gd name="adj" fmla="val 2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39796"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Digital Attendance</a:t>
            </a:r>
          </a:p>
        </p:txBody>
      </p:sp>
      <p:sp>
        <p:nvSpPr>
          <p:cNvPr id="12" name="TextBox 11"/>
          <p:cNvSpPr txBox="1"/>
          <p:nvPr/>
        </p:nvSpPr>
        <p:spPr>
          <a:xfrm>
            <a:off x="2574036"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Assessment QR scan</a:t>
            </a:r>
          </a:p>
        </p:txBody>
      </p:sp>
      <p:sp>
        <p:nvSpPr>
          <p:cNvPr id="13" name="Chevron 12"/>
          <p:cNvSpPr/>
          <p:nvPr/>
        </p:nvSpPr>
        <p:spPr>
          <a:xfrm>
            <a:off x="4370832" y="2377440"/>
            <a:ext cx="1650492" cy="1737360"/>
          </a:xfrm>
          <a:prstGeom prst="chevron">
            <a:avLst>
              <a:gd name="adj" fmla="val 2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36592"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Written Assessment</a:t>
            </a:r>
          </a:p>
        </p:txBody>
      </p:sp>
      <p:sp>
        <p:nvSpPr>
          <p:cNvPr id="15" name="TextBox 14"/>
          <p:cNvSpPr txBox="1"/>
          <p:nvPr/>
        </p:nvSpPr>
        <p:spPr>
          <a:xfrm>
            <a:off x="4370832"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SAQ · 1 hour</a:t>
            </a:r>
          </a:p>
        </p:txBody>
      </p:sp>
      <p:sp>
        <p:nvSpPr>
          <p:cNvPr id="16" name="Chevron 15"/>
          <p:cNvSpPr/>
          <p:nvPr/>
        </p:nvSpPr>
        <p:spPr>
          <a:xfrm>
            <a:off x="6167628" y="2377440"/>
            <a:ext cx="1650492" cy="1737360"/>
          </a:xfrm>
          <a:prstGeom prst="chevron">
            <a:avLst>
              <a:gd name="adj" fmla="val 2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3388"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Case Study</a:t>
            </a:r>
          </a:p>
        </p:txBody>
      </p:sp>
      <p:sp>
        <p:nvSpPr>
          <p:cNvPr id="18" name="TextBox 17"/>
          <p:cNvSpPr txBox="1"/>
          <p:nvPr/>
        </p:nvSpPr>
        <p:spPr>
          <a:xfrm>
            <a:off x="6167628"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Scenario · 1 hour</a:t>
            </a:r>
          </a:p>
        </p:txBody>
      </p:sp>
      <p:sp>
        <p:nvSpPr>
          <p:cNvPr id="19" name="Chevron 18"/>
          <p:cNvSpPr/>
          <p:nvPr/>
        </p:nvSpPr>
        <p:spPr>
          <a:xfrm>
            <a:off x="7964424" y="2377440"/>
            <a:ext cx="1650492" cy="1737360"/>
          </a:xfrm>
          <a:prstGeom prst="chevron">
            <a:avLst>
              <a:gd name="adj" fmla="val 2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0184"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Submit on LMS</a:t>
            </a:r>
          </a:p>
        </p:txBody>
      </p:sp>
      <p:sp>
        <p:nvSpPr>
          <p:cNvPr id="21" name="TextBox 20"/>
          <p:cNvSpPr txBox="1"/>
          <p:nvPr/>
        </p:nvSpPr>
        <p:spPr>
          <a:xfrm>
            <a:off x="7964424"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Upload your answers</a:t>
            </a:r>
          </a:p>
        </p:txBody>
      </p:sp>
      <p:sp>
        <p:nvSpPr>
          <p:cNvPr id="22" name="Chevron 21"/>
          <p:cNvSpPr/>
          <p:nvPr/>
        </p:nvSpPr>
        <p:spPr>
          <a:xfrm>
            <a:off x="9761220" y="2377440"/>
            <a:ext cx="1650492" cy="1737360"/>
          </a:xfrm>
          <a:prstGeom prst="chevron">
            <a:avLst>
              <a:gd name="adj" fmla="val 2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26980"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Summary Record</a:t>
            </a:r>
          </a:p>
        </p:txBody>
      </p:sp>
      <p:sp>
        <p:nvSpPr>
          <p:cNvPr id="24" name="TextBox 23"/>
          <p:cNvSpPr txBox="1"/>
          <p:nvPr/>
        </p:nvSpPr>
        <p:spPr>
          <a:xfrm>
            <a:off x="9761220"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Sign the ASR</a:t>
            </a:r>
          </a:p>
        </p:txBody>
      </p:sp>
      <p:sp>
        <p:nvSpPr>
          <p:cNvPr id="25" name="Rectangle 24"/>
          <p:cNvSpPr/>
          <p:nvPr/>
        </p:nvSpPr>
        <p:spPr>
          <a:xfrm>
            <a:off x="777240" y="489204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892040"/>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 y="5029200"/>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RE-ASSESSMENT</a:t>
            </a:r>
          </a:p>
        </p:txBody>
      </p:sp>
      <p:sp>
        <p:nvSpPr>
          <p:cNvPr id="28" name="TextBox 27"/>
          <p:cNvSpPr txBox="1"/>
          <p:nvPr/>
        </p:nvSpPr>
        <p:spPr>
          <a:xfrm>
            <a:off x="1051560" y="5340096"/>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A learner assessed Not Yet Competent is counselled on the gap and offered a re-assessment. An appeal may be lodged with the training administrator within 7 working days.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MANDATORY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&amp; TRAQOM Survey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AM · PM · Assessment</a:t>
            </a:r>
          </a:p>
          <a:p>
            <a:pPr algn="l">
              <a:spcAft>
                <a:spcPts val="300"/>
              </a:spcAft>
            </a:pPr>
            <a:r>
              <a:rPr sz="1300" b="0">
                <a:solidFill>
                  <a:srgbClr val="5B6372"/>
                </a:solidFill>
                <a:latin typeface="Arial"/>
              </a:rPr>
              <a:t>Digital attendance is taken three times a day. It is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the SSG QR code</a:t>
            </a:r>
          </a:p>
          <a:p>
            <a:pPr algn="l">
              <a:spcAft>
                <a:spcPts val="300"/>
              </a:spcAft>
            </a:pPr>
            <a:r>
              <a:rPr sz="1300" b="0">
                <a:solidFill>
                  <a:srgbClr val="5B6372"/>
                </a:solidFill>
                <a:latin typeface="Arial"/>
              </a:rPr>
              <a:t>The trainer displays the QR code from the SSG portal. Scan it with your phone camera and submit.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 attendance</a:t>
            </a:r>
          </a:p>
          <a:p>
            <a:pPr algn="l">
              <a:spcAft>
                <a:spcPts val="300"/>
              </a:spcAft>
            </a:pPr>
            <a:r>
              <a:rPr sz="1300" b="0">
                <a:solidFill>
                  <a:srgbClr val="5B6372"/>
                </a:solidFill>
                <a:latin typeface="Arial"/>
              </a:rPr>
              <a:t>Below 75% you are not eligible for assessment or for course fee funding.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post-course survey and collect your certificate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Course Fee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Minimum 75% attendance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instruments and be assessed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Certificate</a:t>
            </a:r>
          </a:p>
          <a:p>
            <a:pPr algn="l">
              <a:spcAft>
                <a:spcPts val="300"/>
              </a:spcAft>
            </a:pPr>
            <a:r>
              <a:rPr sz="1300" b="0">
                <a:solidFill>
                  <a:srgbClr val="5B6372"/>
                </a:solidFill>
                <a:latin typeface="Arial"/>
              </a:rPr>
              <a:t>Certificate of Achievement from Tertiary Infotech Academy Pte Ltd.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SSG Statement</a:t>
            </a:r>
          </a:p>
          <a:p>
            <a:pPr algn="l">
              <a:spcAft>
                <a:spcPts val="300"/>
              </a:spcAft>
            </a:pPr>
            <a:r>
              <a:rPr sz="1300" b="0">
                <a:solidFill>
                  <a:srgbClr val="5B6372"/>
                </a:solidFill>
                <a:latin typeface="Arial"/>
              </a:rPr>
              <a:t>OpenCert / Statement of Achievement issued by SkillsFuture Singapore.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Identifying Performance Gaps and Root Causes with Generative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Problem framing · Problem statements · 5 Whys · Fishbone · Pareto · System loops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FRAMING COMES FIRST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problem well stated is a problem half solved.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Charles Kettering. Most organisations skip straight to solutions — and pay for it twice.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FOR SUCCESS  ·  6 SUB-SKILLS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Problem Solving Actually 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Issue identification</a:t>
            </a:r>
          </a:p>
          <a:p>
            <a:pPr algn="l">
              <a:spcAft>
                <a:spcPts val="300"/>
              </a:spcAft>
            </a:pPr>
            <a:r>
              <a:rPr sz="1100" b="0">
                <a:solidFill>
                  <a:srgbClr val="5B6372"/>
                </a:solidFill>
                <a:latin typeface="Arial"/>
              </a:rPr>
              <a:t>Is the problem familiar or novel, simple or complex? Different answers demand different tools.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Information gathering</a:t>
            </a:r>
          </a:p>
          <a:p>
            <a:pPr algn="l">
              <a:spcAft>
                <a:spcPts val="300"/>
              </a:spcAft>
            </a:pPr>
            <a:r>
              <a:rPr sz="1100" b="0">
                <a:solidFill>
                  <a:srgbClr val="5B6372"/>
                </a:solidFill>
                <a:latin typeface="Arial"/>
              </a:rPr>
              <a:t>Collect the facts. Find out how similar problems were solved before.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Analysis</a:t>
            </a:r>
          </a:p>
          <a:p>
            <a:pPr algn="l">
              <a:spcAft>
                <a:spcPts val="300"/>
              </a:spcAft>
            </a:pPr>
            <a:r>
              <a:rPr sz="1100" b="0">
                <a:solidFill>
                  <a:srgbClr val="5B6372"/>
                </a:solidFill>
                <a:latin typeface="Arial"/>
              </a:rPr>
              <a:t>Break the problem into parts and establish cause and effect.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Action generation</a:t>
            </a:r>
          </a:p>
          <a:p>
            <a:pPr algn="l">
              <a:spcAft>
                <a:spcPts val="300"/>
              </a:spcAft>
            </a:pPr>
            <a:r>
              <a:rPr sz="1100" b="0">
                <a:solidFill>
                  <a:srgbClr val="5B6372"/>
                </a:solidFill>
                <a:latin typeface="Arial"/>
              </a:rPr>
              <a:t>Develop several possible solutions across short and long horizons.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Implementation</a:t>
            </a:r>
          </a:p>
          <a:p>
            <a:pPr algn="l">
              <a:spcAft>
                <a:spcPts val="300"/>
              </a:spcAft>
            </a:pPr>
            <a:r>
              <a:rPr sz="1100" b="0">
                <a:solidFill>
                  <a:srgbClr val="5B6372"/>
                </a:solidFill>
                <a:latin typeface="Arial"/>
              </a:rPr>
              <a:t>Select and execute the most promising approach — and stay flexible.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Evaluation</a:t>
            </a:r>
          </a:p>
          <a:p>
            <a:pPr algn="l">
              <a:spcAft>
                <a:spcPts val="300"/>
              </a:spcAft>
            </a:pPr>
            <a:r>
              <a:rPr sz="1100" b="0">
                <a:solidFill>
                  <a:srgbClr val="5B6372"/>
                </a:solidFill>
                <a:latin typeface="Arial"/>
              </a:rPr>
              <a:t>Assess whether it worked, and extract the lesson for next time.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BRANSFORD &amp; STEIN  ·  MIT CCMIT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IDEAL Problem-Solving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the real problem</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Define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the context</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Explore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possible strategies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Act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on the best option</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Look back</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and learn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DISCIPLINE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Most teams start at 'Act'. The cost of skipping Identify and Define is paid later, with interest — you fix the wrong thing, then fix it again.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med"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DISTINCTION THAT SAVES BUDGETS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Symptom vs Problem vs Root Cause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Symptom</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Problem</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Root Cause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What people notice</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The measurable deficiency</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The system condition producing it</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'Customers are unhappy'</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Checkout completion fell 68%→51%</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 capacity planning from analytics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Fixing it</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Feels responsive</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Improves the number</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Stops recurrence</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If you stop here</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Problem returns next quarter</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Returns in another form</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It is actually solved</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Treating a symptom always feels faster. It is the most expensive habit in problem solving.</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DIFFERENT PROBLEMS, DIFFERENT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Well-Defined vs Ill-Defined Problems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Well-defined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Ill-defined</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Goal</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Clear and specific</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Vague or contested</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Path</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Known method exists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standard method</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Reduce load time to under 2s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Improve the customer experience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Right approach</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Apply the known technique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Frame it first, then decompose</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GenAI's role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Execute and check</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Explore, reframe, generate options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Most workplace problems arrive ill-defined. Framing IS the work.</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TEMPLATE YOU WILL USE ALL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Six Elements of a Workplace Problem Statement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Context</a:t>
            </a:r>
          </a:p>
          <a:p>
            <a:pPr algn="l">
              <a:spcAft>
                <a:spcPts val="300"/>
              </a:spcAft>
            </a:pPr>
            <a:r>
              <a:rPr sz="1100" b="0">
                <a:solidFill>
                  <a:srgbClr val="5B6372"/>
                </a:solidFill>
                <a:latin typeface="Arial"/>
              </a:rPr>
              <a:t>Who, where, and which process is affected.</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The single primary measure you will move.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Baseline</a:t>
            </a:r>
          </a:p>
          <a:p>
            <a:pPr algn="l">
              <a:spcAft>
                <a:spcPts val="300"/>
              </a:spcAft>
            </a:pPr>
            <a:r>
              <a:rPr sz="1100" b="0">
                <a:solidFill>
                  <a:srgbClr val="5B6372"/>
                </a:solidFill>
                <a:latin typeface="Arial"/>
              </a:rPr>
              <a:t>Where that metric is today — with the number.</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Where it must be — with the number.</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Timeframe</a:t>
            </a:r>
          </a:p>
          <a:p>
            <a:pPr algn="l">
              <a:spcAft>
                <a:spcPts val="300"/>
              </a:spcAft>
            </a:pPr>
            <a:r>
              <a:rPr sz="1100" b="0">
                <a:solidFill>
                  <a:srgbClr val="5B6372"/>
                </a:solidFill>
                <a:latin typeface="Arial"/>
              </a:rPr>
              <a:t>By when. Without this, nothing is ever late.</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Constraints</a:t>
            </a:r>
          </a:p>
          <a:p>
            <a:pPr algn="l">
              <a:spcAft>
                <a:spcPts val="300"/>
              </a:spcAft>
            </a:pPr>
            <a:r>
              <a:rPr sz="1100" b="0">
                <a:solidFill>
                  <a:srgbClr val="5B6372"/>
                </a:solidFill>
                <a:latin typeface="Arial"/>
              </a:rPr>
              <a:t>Budget, headcount, compliance, brand — what you may not change.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COMPARE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Good or Bad Problem Definition?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  BAD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  GOOD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"Our customers are not happy with our services."</a:t>
            </a:r>
          </a:p>
          <a:p>
            <a:pPr>
              <a:spcAft>
                <a:spcPts val="1000"/>
              </a:spcAft>
            </a:pPr>
            <a:r>
              <a:rPr sz="1600" b="0">
                <a:solidFill>
                  <a:srgbClr val="161B26"/>
                </a:solidFill>
                <a:latin typeface="Arial"/>
              </a:rPr>
              <a:t>•  No metric. No baseline. No target. No timeframe.</a:t>
            </a:r>
          </a:p>
          <a:p>
            <a:pPr>
              <a:spcAft>
                <a:spcPts val="1000"/>
              </a:spcAft>
            </a:pPr>
            <a:r>
              <a:rPr sz="1600" b="0">
                <a:solidFill>
                  <a:srgbClr val="161B26"/>
                </a:solidFill>
                <a:latin typeface="Arial"/>
              </a:rPr>
              <a:t>•  Every department will interpret it differently.</a:t>
            </a:r>
          </a:p>
          <a:p>
            <a:pPr>
              <a:spcAft>
                <a:spcPts val="1000"/>
              </a:spcAft>
            </a:pPr>
            <a:r>
              <a:rPr sz="1600" b="0">
                <a:solidFill>
                  <a:srgbClr val="161B26"/>
                </a:solidFill>
                <a:latin typeface="Arial"/>
              </a:rPr>
              <a:t>•  Unmeasurable — you can never prove it was solved.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"Checkout completion on our app fell from 68% to 51% over 12 months against a 70% benchmark. We aim to restore it to 68% within 90 days without added headcount."</a:t>
            </a:r>
          </a:p>
          <a:p>
            <a:pPr>
              <a:spcAft>
                <a:spcPts val="1000"/>
              </a:spcAft>
            </a:pPr>
            <a:r>
              <a:rPr sz="1600" b="0">
                <a:solidFill>
                  <a:srgbClr val="161B26"/>
                </a:solidFill>
                <a:latin typeface="Arial"/>
              </a:rPr>
              <a:t>•  Metric, baseline, target, timeframe and constraint all present.</a:t>
            </a:r>
          </a:p>
          <a:p>
            <a:pPr>
              <a:spcAft>
                <a:spcPts val="1000"/>
              </a:spcAft>
            </a:pPr>
            <a:r>
              <a:rPr sz="1600" b="0">
                <a:solidFill>
                  <a:srgbClr val="161B26"/>
                </a:solidFill>
                <a:latin typeface="Arial"/>
              </a:rPr>
              <a:t>•  Actionable by a specific team.</a:t>
            </a:r>
          </a:p>
          <a:p>
            <a:pPr>
              <a:spcAft>
                <a:spcPts val="1000"/>
              </a:spcAft>
            </a:pPr>
            <a:r>
              <a:rPr sz="1600" b="0">
                <a:solidFill>
                  <a:srgbClr val="161B26"/>
                </a:solidFill>
                <a:latin typeface="Arial"/>
              </a:rPr>
              <a:t>•  Evaluable at day 90 against a real number.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COGNITIVE TRAPS  ·  KNOW THEM TO BEAT THEM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Barriers That Quietly Wreck Problem Solving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Functional fixedness</a:t>
            </a:r>
          </a:p>
          <a:p>
            <a:pPr algn="l">
              <a:spcAft>
                <a:spcPts val="300"/>
              </a:spcAft>
            </a:pPr>
            <a:r>
              <a:rPr sz="1100" b="0">
                <a:solidFill>
                  <a:srgbClr val="5B6372"/>
                </a:solidFill>
                <a:latin typeface="Arial"/>
              </a:rPr>
              <a:t>Seeing a thing only for its usual purpose — the reason obvious re-uses stay invisible.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Mental set</a:t>
            </a:r>
          </a:p>
          <a:p>
            <a:pPr algn="l">
              <a:spcAft>
                <a:spcPts val="300"/>
              </a:spcAft>
            </a:pPr>
            <a:r>
              <a:rPr sz="1100" b="0">
                <a:solidFill>
                  <a:srgbClr val="5B6372"/>
                </a:solidFill>
                <a:latin typeface="Arial"/>
              </a:rPr>
              <a:t>Re-using the solution that worked last time, on a problem that has changed.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Confirmation bias</a:t>
            </a:r>
          </a:p>
          <a:p>
            <a:pPr algn="l">
              <a:spcAft>
                <a:spcPts val="300"/>
              </a:spcAft>
            </a:pPr>
            <a:r>
              <a:rPr sz="1100" b="0">
                <a:solidFill>
                  <a:srgbClr val="5B6372"/>
                </a:solidFill>
                <a:latin typeface="Arial"/>
              </a:rPr>
              <a:t>Collecting evidence that supports the cause you already suspect.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Unnecessary constraints</a:t>
            </a:r>
          </a:p>
          <a:p>
            <a:pPr algn="l">
              <a:spcAft>
                <a:spcPts val="300"/>
              </a:spcAft>
            </a:pPr>
            <a:r>
              <a:rPr sz="1100" b="0">
                <a:solidFill>
                  <a:srgbClr val="5B6372"/>
                </a:solidFill>
                <a:latin typeface="Arial"/>
              </a:rPr>
              <a:t>Self-imposed limits nobody actually stated. Most 'fixed' constraints are habits.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Irrelevant information</a:t>
            </a:r>
          </a:p>
          <a:p>
            <a:pPr algn="l">
              <a:spcAft>
                <a:spcPts val="300"/>
              </a:spcAft>
            </a:pPr>
            <a:r>
              <a:rPr sz="1100" b="0">
                <a:solidFill>
                  <a:srgbClr val="5B6372"/>
                </a:solidFill>
                <a:latin typeface="Arial"/>
              </a:rPr>
              <a:t>Rich data that distracts from the few numbers that matter.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Consensus fatigue</a:t>
            </a:r>
          </a:p>
          <a:p>
            <a:pPr algn="l">
              <a:spcAft>
                <a:spcPts val="300"/>
              </a:spcAft>
            </a:pPr>
            <a:r>
              <a:rPr sz="1100" b="0">
                <a:solidFill>
                  <a:srgbClr val="5B6372"/>
                </a:solidFill>
                <a:latin typeface="Arial"/>
              </a:rPr>
              <a:t>Accepting a weak option just to end the meeting.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SETTING EXPECTATIONS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GenAI does not solve your problem.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It expands what you consider, and accelerates how fast you get there. The judgement stays yours.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LSE BUSINESS REVIEW  ·  AI LITERACY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GenAI Is Good At — and Not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GenAI is strong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GenAI is weak</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Breadth of options</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Generates 20 ideas in seconds, free of politics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Cannot tell which are real</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Framing help</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Restates vague problems into structured form</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Invents specifics not in your evidence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Analogy</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Borrows patterns across every industry</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May transfer an inapplicable pattern</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Arithmetic</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Improving, but still errs</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Verify every number it produces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Context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Applies general best practice</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Does not know your people, history or politics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Accountability</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Tireless, unbiased by hierarchy</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Cannot be held responsible for the decision</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Use it as a divergence engine and a challenger — never as an oracle.</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WHERE IT ADDS VALUE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GenAI Fits the Problem-Solving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Frame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Sharpen the statement</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Diagnose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Generate cause hypotheses</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Expand the option set</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Decide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Score against your…</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Evaluate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Structure the evidence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HUMAN'S JOB</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Supply the evidence, challenge the assumptions, own the decision. The AI proposes; you dispose.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med"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PROMPT ENGINEERING FOR PROBLEM SOLVING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Prompting Habits That Actually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Give it a role</a:t>
            </a:r>
          </a:p>
          <a:p>
            <a:pPr algn="l">
              <a:spcAft>
                <a:spcPts val="300"/>
              </a:spcAft>
            </a:pPr>
            <a:r>
              <a:rPr sz="1100" b="0">
                <a:solidFill>
                  <a:srgbClr val="5B6372"/>
                </a:solidFill>
                <a:latin typeface="Arial"/>
              </a:rPr>
              <a:t>'Act as a root cause analysis expert' sets the reasoning frame.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Supply the evidence</a:t>
            </a:r>
          </a:p>
          <a:p>
            <a:pPr algn="l">
              <a:spcAft>
                <a:spcPts val="300"/>
              </a:spcAft>
            </a:pPr>
            <a:r>
              <a:rPr sz="1100" b="0">
                <a:solidFill>
                  <a:srgbClr val="5B6372"/>
                </a:solidFill>
                <a:latin typeface="Arial"/>
              </a:rPr>
              <a:t>Paste your real numbers. Without them the AI invents plausible ones.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Demand structure</a:t>
            </a:r>
          </a:p>
          <a:p>
            <a:pPr algn="l">
              <a:spcAft>
                <a:spcPts val="300"/>
              </a:spcAft>
            </a:pPr>
            <a:r>
              <a:rPr sz="1100" b="0">
                <a:solidFill>
                  <a:srgbClr val="5B6372"/>
                </a:solidFill>
                <a:latin typeface="Arial"/>
              </a:rPr>
              <a:t>Name the fields you want back — Context, Metric, Baseline, Target.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Ask it to flag assumptions</a:t>
            </a:r>
          </a:p>
          <a:p>
            <a:pPr algn="l">
              <a:spcAft>
                <a:spcPts val="300"/>
              </a:spcAft>
            </a:pPr>
            <a:r>
              <a:rPr sz="1100" b="0">
                <a:solidFill>
                  <a:srgbClr val="5B6372"/>
                </a:solidFill>
                <a:latin typeface="Arial"/>
              </a:rPr>
              <a:t>'Mark anything you assumed that my evidence did not support.'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Make it challenge you</a:t>
            </a:r>
          </a:p>
          <a:p>
            <a:pPr algn="l">
              <a:spcAft>
                <a:spcPts val="300"/>
              </a:spcAft>
            </a:pPr>
            <a:r>
              <a:rPr sz="1100" b="0">
                <a:solidFill>
                  <a:srgbClr val="5B6372"/>
                </a:solidFill>
                <a:latin typeface="Arial"/>
              </a:rPr>
              <a:t>'Ask me for evidence rather than accepting my answer.'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Iterate, don't accept</a:t>
            </a:r>
          </a:p>
          <a:p>
            <a:pPr algn="l">
              <a:spcAft>
                <a:spcPts val="300"/>
              </a:spcAft>
            </a:pPr>
            <a:r>
              <a:rPr sz="1100" b="0">
                <a:solidFill>
                  <a:srgbClr val="5B6372"/>
                </a:solidFill>
                <a:latin typeface="Arial"/>
              </a:rPr>
              <a:t>The first output is a draft. The third is usually useful.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PROMPT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Problem Statement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1638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2889504"/>
          </a:xfrm>
          <a:prstGeom prst="rect">
            <a:avLst/>
          </a:prstGeom>
          <a:noFill/>
        </p:spPr>
        <p:txBody>
          <a:bodyPr wrap="square">
            <a:spAutoFit/>
          </a:bodyPr>
          <a:lstStyle/>
          <a:p>
            <a:pPr>
              <a:spcAft>
                <a:spcPts val="150"/>
              </a:spcAft>
            </a:pPr>
            <a:r>
              <a:rPr sz="900" b="0">
                <a:solidFill>
                  <a:srgbClr val="D4D4D4"/>
                </a:solidFill>
                <a:latin typeface="Consolas"/>
              </a:rPr>
              <a:t>You are a business analyst for an e-commerce company.</a:t>
            </a:r>
          </a:p>
          <a:p>
            <a:pPr>
              <a:spcAft>
                <a:spcPts val="150"/>
              </a:spcAft>
            </a:pPr>
            <a:r>
              <a:rPr sz="900" b="0">
                <a:solidFill>
                  <a:srgbClr val="D4D4D4"/>
                </a:solidFill>
                <a:latin typeface="Consolas"/>
              </a:rPr>
              <a:t> </a:t>
            </a:r>
          </a:p>
          <a:p>
            <a:pPr>
              <a:spcAft>
                <a:spcPts val="150"/>
              </a:spcAft>
            </a:pPr>
            <a:r>
              <a:rPr sz="900" b="0">
                <a:solidFill>
                  <a:srgbClr val="D4D4D4"/>
                </a:solidFill>
                <a:latin typeface="Consolas"/>
              </a:rPr>
              <a:t>Refine this vague problem into a clear, measurable problem statement:</a:t>
            </a:r>
          </a:p>
          <a:p>
            <a:pPr>
              <a:spcAft>
                <a:spcPts val="150"/>
              </a:spcAft>
            </a:pPr>
            <a:r>
              <a:rPr sz="900" b="1">
                <a:solidFill>
                  <a:srgbClr val="F59E0B"/>
                </a:solidFill>
                <a:latin typeface="Consolas"/>
              </a:rPr>
              <a:t>&lt;&lt;State your problem here&gt;&gt;</a:t>
            </a:r>
          </a:p>
          <a:p>
            <a:pPr>
              <a:spcAft>
                <a:spcPts val="150"/>
              </a:spcAft>
            </a:pPr>
            <a:r>
              <a:rPr sz="900" b="0">
                <a:solidFill>
                  <a:srgbClr val="D4D4D4"/>
                </a:solidFill>
                <a:latin typeface="Consolas"/>
              </a:rPr>
              <a:t> </a:t>
            </a:r>
          </a:p>
          <a:p>
            <a:pPr>
              <a:spcAft>
                <a:spcPts val="150"/>
              </a:spcAft>
            </a:pPr>
            <a:r>
              <a:rPr sz="900" b="1">
                <a:solidFill>
                  <a:srgbClr val="4EC9B0"/>
                </a:solidFill>
                <a:latin typeface="Consolas"/>
              </a:rPr>
              <a:t>Include, each clearly labelled:</a:t>
            </a:r>
          </a:p>
          <a:p>
            <a:pPr>
              <a:spcAft>
                <a:spcPts val="150"/>
              </a:spcAft>
            </a:pPr>
            <a:r>
              <a:rPr sz="900" b="0">
                <a:solidFill>
                  <a:srgbClr val="9CDCFE"/>
                </a:solidFill>
                <a:latin typeface="Consolas"/>
              </a:rPr>
              <a:t>- Context (who, where, which process)</a:t>
            </a:r>
          </a:p>
          <a:p>
            <a:pPr>
              <a:spcAft>
                <a:spcPts val="150"/>
              </a:spcAft>
            </a:pPr>
            <a:r>
              <a:rPr sz="900" b="0">
                <a:solidFill>
                  <a:srgbClr val="9CDCFE"/>
                </a:solidFill>
                <a:latin typeface="Consolas"/>
              </a:rPr>
              <a:t>- Metric (the single primary measure)</a:t>
            </a:r>
          </a:p>
          <a:p>
            <a:pPr>
              <a:spcAft>
                <a:spcPts val="150"/>
              </a:spcAft>
            </a:pPr>
            <a:r>
              <a:rPr sz="900" b="0">
                <a:solidFill>
                  <a:srgbClr val="9CDCFE"/>
                </a:solidFill>
                <a:latin typeface="Consolas"/>
              </a:rPr>
              <a:t>- Baseline (where it is now, with the number)</a:t>
            </a:r>
          </a:p>
          <a:p>
            <a:pPr>
              <a:spcAft>
                <a:spcPts val="150"/>
              </a:spcAft>
            </a:pPr>
            <a:r>
              <a:rPr sz="900" b="0">
                <a:solidFill>
                  <a:srgbClr val="9CDCFE"/>
                </a:solidFill>
                <a:latin typeface="Consolas"/>
              </a:rPr>
              <a:t>- Target (where it must be, with the number)</a:t>
            </a:r>
          </a:p>
          <a:p>
            <a:pPr>
              <a:spcAft>
                <a:spcPts val="150"/>
              </a:spcAft>
            </a:pPr>
            <a:r>
              <a:rPr sz="900" b="0">
                <a:solidFill>
                  <a:srgbClr val="9CDCFE"/>
                </a:solidFill>
                <a:latin typeface="Consolas"/>
              </a:rPr>
              <a:t>- Timeframe (by when)</a:t>
            </a:r>
          </a:p>
          <a:p>
            <a:pPr>
              <a:spcAft>
                <a:spcPts val="150"/>
              </a:spcAft>
            </a:pPr>
            <a:r>
              <a:rPr sz="900" b="0">
                <a:solidFill>
                  <a:srgbClr val="9CDCFE"/>
                </a:solidFill>
                <a:latin typeface="Consolas"/>
              </a:rPr>
              <a:t>- Constraints (budget, headcount, compliance)</a:t>
            </a:r>
          </a:p>
          <a:p>
            <a:pPr>
              <a:spcAft>
                <a:spcPts val="150"/>
              </a:spcAft>
            </a:pPr>
            <a:r>
              <a:rPr sz="900" b="0">
                <a:solidFill>
                  <a:srgbClr val="D4D4D4"/>
                </a:solidFill>
                <a:latin typeface="Consolas"/>
              </a:rPr>
              <a:t> </a:t>
            </a:r>
          </a:p>
          <a:p>
            <a:pPr>
              <a:spcAft>
                <a:spcPts val="150"/>
              </a:spcAft>
            </a:pPr>
            <a:r>
              <a:rPr sz="900" b="0">
                <a:solidFill>
                  <a:srgbClr val="D4D4D4"/>
                </a:solidFill>
                <a:latin typeface="Consolas"/>
              </a:rPr>
              <a:t>Then list every assumption you had to make, and state what</a:t>
            </a:r>
          </a:p>
          <a:p>
            <a:pPr>
              <a:spcAft>
                <a:spcPts val="150"/>
              </a:spcAft>
            </a:pPr>
            <a:r>
              <a:rPr sz="900" b="0">
                <a:solidFill>
                  <a:srgbClr val="D4D4D4"/>
                </a:solidFill>
                <a:latin typeface="Consolas"/>
              </a:rPr>
              <a:t>evidence would let me remove that assumption.</a:t>
            </a:r>
          </a:p>
          <a:p>
            <a:pPr>
              <a:spcAft>
                <a:spcPts val="150"/>
              </a:spcAft>
            </a:pPr>
            <a:r>
              <a:rPr sz="900" b="0">
                <a:solidFill>
                  <a:srgbClr val="D4D4D4"/>
                </a:solidFill>
                <a:latin typeface="Consolas"/>
              </a:rPr>
              <a:t> </a:t>
            </a:r>
          </a:p>
          <a:p>
            <a:pPr>
              <a:spcAft>
                <a:spcPts val="150"/>
              </a:spcAft>
            </a:pPr>
            <a:r>
              <a:rPr sz="900" b="0">
                <a:solidFill>
                  <a:srgbClr val="D4D4D4"/>
                </a:solidFill>
                <a:latin typeface="Consolas"/>
              </a:rPr>
              <a:t>Do not propose solutions yet.</a:t>
            </a:r>
          </a:p>
        </p:txBody>
      </p:sp>
      <p:sp>
        <p:nvSpPr>
          <p:cNvPr id="12" name="Rectangle 11"/>
          <p:cNvSpPr/>
          <p:nvPr/>
        </p:nvSpPr>
        <p:spPr>
          <a:xfrm>
            <a:off x="777240" y="5541264"/>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541264"/>
            <a:ext cx="8229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541264"/>
            <a:ext cx="10149840" cy="713232"/>
          </a:xfrm>
          <a:prstGeom prst="rect">
            <a:avLst/>
          </a:prstGeom>
          <a:noFill/>
        </p:spPr>
        <p:txBody>
          <a:bodyPr wrap="square" anchor="ctr">
            <a:spAutoFit/>
          </a:bodyPr>
          <a:lstStyle/>
          <a:p>
            <a:pPr algn="l">
              <a:spcAft>
                <a:spcPts val="400"/>
              </a:spcAft>
            </a:pPr>
            <a:r>
              <a:rPr sz="1050" b="1">
                <a:solidFill>
                  <a:srgbClr val="F59E0B"/>
                </a:solidFill>
                <a:latin typeface="Arial"/>
              </a:rPr>
              <a:t>WATCH FOR  </a:t>
            </a:r>
            <a:r>
              <a:rPr sz="1150" b="0">
                <a:solidFill>
                  <a:srgbClr val="161B26"/>
                </a:solidFill>
                <a:latin typeface="Arial"/>
              </a:rPr>
              <a:t>The AI will supply specifics your evidence never contained. Mark each one as an assumption.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Activity 1 — Rewriting a Vague Problem into a Measurable Problem Statement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46304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463040" cy="402336"/>
          </a:xfrm>
          <a:prstGeom prst="rect">
            <a:avLst/>
          </a:prstGeom>
          <a:noFill/>
        </p:spPr>
        <p:txBody>
          <a:bodyPr wrap="square" anchor="ctr">
            <a:spAutoFit/>
          </a:bodyPr>
          <a:lstStyle/>
          <a:p>
            <a:pPr algn="ctr">
              <a:spcAft>
                <a:spcPts val="400"/>
              </a:spcAft>
            </a:pPr>
            <a:r>
              <a:rPr sz="1400" b="1">
                <a:solidFill>
                  <a:srgbClr val="FFFFFF"/>
                </a:solidFill>
                <a:latin typeface="Arial"/>
              </a:rPr>
              <a:t>ACTIVITY 1</a:t>
            </a:r>
          </a:p>
        </p:txBody>
      </p:sp>
      <p:sp>
        <p:nvSpPr>
          <p:cNvPr id="9" name="TextBox 8"/>
          <p:cNvSpPr txBox="1"/>
          <p:nvPr/>
        </p:nvSpPr>
        <p:spPr>
          <a:xfrm>
            <a:off x="2395728" y="1719072"/>
            <a:ext cx="8961120" cy="402336"/>
          </a:xfrm>
          <a:prstGeom prst="rect">
            <a:avLst/>
          </a:prstGeom>
          <a:noFill/>
        </p:spPr>
        <p:txBody>
          <a:bodyPr wrap="square" anchor="ctr">
            <a:spAutoFit/>
          </a:bodyPr>
          <a:lstStyle/>
          <a:p>
            <a:pPr algn="l">
              <a:spcAft>
                <a:spcPts val="400"/>
              </a:spcAft>
            </a:pPr>
            <a:r>
              <a:rPr sz="1100" b="0">
                <a:solidFill>
                  <a:srgbClr val="5B6372"/>
                </a:solidFill>
                <a:latin typeface="Arial"/>
              </a:rPr>
              <a:t>A1 · K1 — Identify the type of performance deficiency and express it as a measurable problem statement.</a:t>
            </a:r>
          </a:p>
        </p:txBody>
      </p:sp>
      <p:sp>
        <p:nvSpPr>
          <p:cNvPr id="10" name="Rectangle 9"/>
          <p:cNvSpPr/>
          <p:nvPr/>
        </p:nvSpPr>
        <p:spPr>
          <a:xfrm>
            <a:off x="777240" y="228600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14016"/>
            <a:ext cx="10149840" cy="329184"/>
          </a:xfrm>
          <a:prstGeom prst="rect">
            <a:avLst/>
          </a:prstGeom>
          <a:noFill/>
        </p:spPr>
        <p:txBody>
          <a:bodyPr wrap="square" anchor="t">
            <a:spAutoFit/>
          </a:bodyPr>
          <a:lstStyle/>
          <a:p>
            <a:pPr algn="l">
              <a:spcAft>
                <a:spcPts val="400"/>
              </a:spcAft>
            </a:pPr>
            <a:r>
              <a:rPr sz="1550" b="1">
                <a:solidFill>
                  <a:srgbClr val="161B26"/>
                </a:solidFill>
                <a:latin typeface="Arial"/>
              </a:rPr>
              <a:t>ShopFront SG — 'Customers are unhappy and sales are dropping'</a:t>
            </a:r>
          </a:p>
        </p:txBody>
      </p:sp>
      <p:sp>
        <p:nvSpPr>
          <p:cNvPr id="13" name="TextBox 12"/>
          <p:cNvSpPr txBox="1"/>
          <p:nvPr/>
        </p:nvSpPr>
        <p:spPr>
          <a:xfrm>
            <a:off x="1078992" y="2779776"/>
            <a:ext cx="10149840" cy="731520"/>
          </a:xfrm>
          <a:prstGeom prst="rect">
            <a:avLst/>
          </a:prstGeom>
          <a:noFill/>
        </p:spPr>
        <p:txBody>
          <a:bodyPr wrap="square" anchor="t">
            <a:spAutoFit/>
          </a:bodyPr>
          <a:lstStyle/>
          <a:p>
            <a:pPr algn="l">
              <a:spcAft>
                <a:spcPts val="400"/>
              </a:spcAft>
            </a:pPr>
            <a:r>
              <a:rPr sz="1250" b="0">
                <a:solidFill>
                  <a:srgbClr val="5B6372"/>
                </a:solidFill>
                <a:latin typeface="Arial"/>
              </a:rPr>
              <a:t>Rewrite an executive's vague complaint into a measurable problem statement your team can defend.</a:t>
            </a:r>
          </a:p>
        </p:txBody>
      </p:sp>
      <p:sp>
        <p:nvSpPr>
          <p:cNvPr id="14" name="Rectangle 13"/>
          <p:cNvSpPr/>
          <p:nvPr/>
        </p:nvSpPr>
        <p:spPr>
          <a:xfrm>
            <a:off x="777240"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85615"/>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31920"/>
            <a:ext cx="2980944" cy="292608"/>
          </a:xfrm>
          <a:prstGeom prst="rect">
            <a:avLst/>
          </a:prstGeom>
          <a:noFill/>
        </p:spPr>
        <p:txBody>
          <a:bodyPr wrap="square" anchor="t">
            <a:spAutoFit/>
          </a:bodyPr>
          <a:lstStyle/>
          <a:p>
            <a:pPr algn="l">
              <a:spcAft>
                <a:spcPts val="400"/>
              </a:spcAft>
            </a:pPr>
            <a:r>
              <a:rPr sz="1100" b="1">
                <a:solidFill>
                  <a:srgbClr val="1F6FEB"/>
                </a:solidFill>
                <a:latin typeface="Arial"/>
              </a:rPr>
              <a:t>TEAM</a:t>
            </a:r>
          </a:p>
        </p:txBody>
      </p:sp>
      <p:sp>
        <p:nvSpPr>
          <p:cNvPr id="17" name="TextBox 16"/>
          <p:cNvSpPr txBox="1"/>
          <p:nvPr/>
        </p:nvSpPr>
        <p:spPr>
          <a:xfrm>
            <a:off x="996696"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Teams of 3</a:t>
            </a:r>
          </a:p>
        </p:txBody>
      </p:sp>
      <p:sp>
        <p:nvSpPr>
          <p:cNvPr id="18" name="Rectangle 17"/>
          <p:cNvSpPr/>
          <p:nvPr/>
        </p:nvSpPr>
        <p:spPr>
          <a:xfrm>
            <a:off x="4398264"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85615"/>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31920"/>
            <a:ext cx="2980944" cy="292608"/>
          </a:xfrm>
          <a:prstGeom prst="rect">
            <a:avLst/>
          </a:prstGeom>
          <a:noFill/>
        </p:spPr>
        <p:txBody>
          <a:bodyPr wrap="square" anchor="t">
            <a:spAutoFit/>
          </a:bodyPr>
          <a:lstStyle/>
          <a:p>
            <a:pPr algn="l">
              <a:spcAft>
                <a:spcPts val="400"/>
              </a:spcAft>
            </a:pPr>
            <a:r>
              <a:rPr sz="1100" b="1">
                <a:solidFill>
                  <a:srgbClr val="10B981"/>
                </a:solidFill>
                <a:latin typeface="Arial"/>
              </a:rPr>
              <a:t>TIME</a:t>
            </a:r>
          </a:p>
        </p:txBody>
      </p:sp>
      <p:sp>
        <p:nvSpPr>
          <p:cNvPr id="21" name="TextBox 20"/>
          <p:cNvSpPr txBox="1"/>
          <p:nvPr/>
        </p:nvSpPr>
        <p:spPr>
          <a:xfrm>
            <a:off x="4617720"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45 minutes</a:t>
            </a:r>
          </a:p>
        </p:txBody>
      </p:sp>
      <p:sp>
        <p:nvSpPr>
          <p:cNvPr id="22" name="Rectangle 21"/>
          <p:cNvSpPr/>
          <p:nvPr/>
        </p:nvSpPr>
        <p:spPr>
          <a:xfrm>
            <a:off x="8019288"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85615"/>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31920"/>
            <a:ext cx="2980944" cy="292608"/>
          </a:xfrm>
          <a:prstGeom prst="rect">
            <a:avLst/>
          </a:prstGeom>
          <a:noFill/>
        </p:spPr>
        <p:txBody>
          <a:bodyPr wrap="square" anchor="t">
            <a:spAutoFit/>
          </a:bodyPr>
          <a:lstStyle/>
          <a:p>
            <a:pPr algn="l">
              <a:spcAft>
                <a:spcPts val="400"/>
              </a:spcAft>
            </a:pPr>
            <a:r>
              <a:rPr sz="1100" b="1">
                <a:solidFill>
                  <a:srgbClr val="7C3AED"/>
                </a:solidFill>
                <a:latin typeface="Arial"/>
              </a:rPr>
              <a:t>TOOL</a:t>
            </a:r>
          </a:p>
        </p:txBody>
      </p:sp>
      <p:sp>
        <p:nvSpPr>
          <p:cNvPr id="25" name="TextBox 24"/>
          <p:cNvSpPr txBox="1"/>
          <p:nvPr/>
        </p:nvSpPr>
        <p:spPr>
          <a:xfrm>
            <a:off x="8238744" y="4261104"/>
            <a:ext cx="2980944" cy="914400"/>
          </a:xfrm>
          <a:prstGeom prst="rect">
            <a:avLst/>
          </a:prstGeom>
          <a:noFill/>
        </p:spPr>
        <p:txBody>
          <a:bodyPr wrap="square" anchor="t">
            <a:spAutoFit/>
          </a:bodyPr>
          <a:lstStyle/>
          <a:p>
            <a:pPr algn="l">
              <a:spcAft>
                <a:spcPts val="400"/>
              </a:spcAft>
            </a:pPr>
            <a:r>
              <a:rPr sz="1050" b="0">
                <a:solidFill>
                  <a:srgbClr val="161B26"/>
                </a:solidFill>
                <a:latin typeface="Arial"/>
              </a:rPr>
              <a:t>CollabNote · https://alfredang.github.io/collabnote/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1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Situation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02336"/>
          </a:xfrm>
          <a:prstGeom prst="rect">
            <a:avLst/>
          </a:prstGeom>
          <a:noFill/>
        </p:spPr>
        <p:txBody>
          <a:bodyPr wrap="square" anchor="ctr">
            <a:spAutoFit/>
          </a:bodyPr>
          <a:lstStyle/>
          <a:p>
            <a:pPr algn="ctr">
              <a:spcAft>
                <a:spcPts val="400"/>
              </a:spcAft>
            </a:pPr>
            <a:r>
              <a:rPr sz="1200" b="1">
                <a:solidFill>
                  <a:srgbClr val="FFFFFF"/>
                </a:solidFill>
                <a:latin typeface="Arial"/>
              </a:rPr>
              <a:t>CASE STUDY</a:t>
            </a:r>
          </a:p>
        </p:txBody>
      </p:sp>
      <p:sp>
        <p:nvSpPr>
          <p:cNvPr id="9" name="TextBox 8"/>
          <p:cNvSpPr txBox="1"/>
          <p:nvPr/>
        </p:nvSpPr>
        <p:spPr>
          <a:xfrm>
            <a:off x="2633472" y="1719072"/>
            <a:ext cx="8778240" cy="402336"/>
          </a:xfrm>
          <a:prstGeom prst="rect">
            <a:avLst/>
          </a:prstGeom>
          <a:noFill/>
        </p:spPr>
        <p:txBody>
          <a:bodyPr wrap="square" anchor="ctr">
            <a:spAutoFit/>
          </a:bodyPr>
          <a:lstStyle/>
          <a:p>
            <a:pPr algn="l">
              <a:spcAft>
                <a:spcPts val="400"/>
              </a:spcAft>
            </a:pPr>
            <a:r>
              <a:rPr sz="1500" b="1">
                <a:solidFill>
                  <a:srgbClr val="161B26"/>
                </a:solidFill>
                <a:latin typeface="Arial"/>
              </a:rPr>
              <a:t>ShopFront SG — 'Customers are unhappy and sales are dropping'</a:t>
            </a:r>
          </a:p>
        </p:txBody>
      </p:sp>
      <p:sp>
        <p:nvSpPr>
          <p:cNvPr id="10" name="Rectangle 9"/>
          <p:cNvSpPr/>
          <p:nvPr/>
        </p:nvSpPr>
        <p:spPr>
          <a:xfrm>
            <a:off x="777240" y="2286000"/>
            <a:ext cx="10634472" cy="3931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3931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432304"/>
            <a:ext cx="10058400" cy="3657600"/>
          </a:xfrm>
          <a:prstGeom prst="rect">
            <a:avLst/>
          </a:prstGeom>
          <a:noFill/>
        </p:spPr>
        <p:txBody>
          <a:bodyPr wrap="square">
            <a:spAutoFit/>
          </a:bodyPr>
          <a:lstStyle/>
          <a:p>
            <a:pPr>
              <a:spcAft>
                <a:spcPts val="700"/>
              </a:spcAft>
            </a:pPr>
            <a:r>
              <a:rPr sz="1300">
                <a:solidFill>
                  <a:srgbClr val="161B26"/>
                </a:solidFill>
                <a:latin typeface="Arial"/>
              </a:rPr>
              <a:t>ShopFront SG is a 42-outlet fashion retailer with an e-commerce site and a mobile app. At the Monday management meeting the Head of Retail Operations opens with one line: "Customers are unhappy and sales are dropping — fix it." No metric, no baseline, no scope. Three departments leave the room with three different interpretations. Marketing books a S$180,000 discount campaign. IT starts an app redesign. Customer Service hires two temps. Ninety days later the complaint rate is unchanged and the budget is gone.</a:t>
            </a:r>
          </a:p>
          <a:p>
            <a:pPr>
              <a:spcAft>
                <a:spcPts val="700"/>
              </a:spcAft>
            </a:pPr>
            <a:r>
              <a:rPr sz="1300">
                <a:solidFill>
                  <a:srgbClr val="161B26"/>
                </a:solidFill>
                <a:latin typeface="Arial"/>
              </a:rPr>
              <a:t>You are the business analyst asked to restate the problem BEFORE any more money is committed. The dashboard extract below is all the evidence you have.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Metric</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12 months ago</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Current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Industry benchmark</a:t>
            </a:r>
          </a:p>
        </p:txBody>
      </p:sp>
      <p:sp>
        <p:nvSpPr>
          <p:cNvPr id="15" name="Rectangle 14"/>
          <p:cNvSpPr/>
          <p:nvPr/>
        </p:nvSpPr>
        <p:spPr>
          <a:xfrm>
            <a:off x="777240" y="2258568"/>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Average app page load</a:t>
            </a:r>
          </a:p>
        </p:txBody>
      </p:sp>
      <p:sp>
        <p:nvSpPr>
          <p:cNvPr id="17" name="Rectangle 16"/>
          <p:cNvSpPr/>
          <p:nvPr/>
        </p:nvSpPr>
        <p:spPr>
          <a:xfrm>
            <a:off x="3542202" y="2258568"/>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2.1 s</a:t>
            </a:r>
          </a:p>
        </p:txBody>
      </p:sp>
      <p:sp>
        <p:nvSpPr>
          <p:cNvPr id="19" name="Rectangle 18"/>
          <p:cNvSpPr/>
          <p:nvPr/>
        </p:nvSpPr>
        <p:spPr>
          <a:xfrm>
            <a:off x="6165372" y="2258568"/>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4.8 s</a:t>
            </a:r>
          </a:p>
        </p:txBody>
      </p:sp>
      <p:sp>
        <p:nvSpPr>
          <p:cNvPr id="21" name="Rectangle 20"/>
          <p:cNvSpPr/>
          <p:nvPr/>
        </p:nvSpPr>
        <p:spPr>
          <a:xfrm>
            <a:off x="8788542" y="2258568"/>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under 2.0 s</a:t>
            </a:r>
          </a:p>
        </p:txBody>
      </p:sp>
      <p:sp>
        <p:nvSpPr>
          <p:cNvPr id="23" name="Rectangle 22"/>
          <p:cNvSpPr/>
          <p:nvPr/>
        </p:nvSpPr>
        <p:spPr>
          <a:xfrm>
            <a:off x="777240" y="2620899"/>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620899"/>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Checkout completion rate</a:t>
            </a:r>
          </a:p>
        </p:txBody>
      </p:sp>
      <p:sp>
        <p:nvSpPr>
          <p:cNvPr id="25" name="Rectangle 24"/>
          <p:cNvSpPr/>
          <p:nvPr/>
        </p:nvSpPr>
        <p:spPr>
          <a:xfrm>
            <a:off x="3542202" y="2620899"/>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620899"/>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68%</a:t>
            </a:r>
          </a:p>
        </p:txBody>
      </p:sp>
      <p:sp>
        <p:nvSpPr>
          <p:cNvPr id="27" name="Rectangle 26"/>
          <p:cNvSpPr/>
          <p:nvPr/>
        </p:nvSpPr>
        <p:spPr>
          <a:xfrm>
            <a:off x="6165372" y="2620899"/>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620899"/>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51%</a:t>
            </a:r>
          </a:p>
        </p:txBody>
      </p:sp>
      <p:sp>
        <p:nvSpPr>
          <p:cNvPr id="29" name="Rectangle 28"/>
          <p:cNvSpPr/>
          <p:nvPr/>
        </p:nvSpPr>
        <p:spPr>
          <a:xfrm>
            <a:off x="8788542" y="2620899"/>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620899"/>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70%</a:t>
            </a:r>
          </a:p>
        </p:txBody>
      </p:sp>
      <p:sp>
        <p:nvSpPr>
          <p:cNvPr id="31" name="Rectangle 30"/>
          <p:cNvSpPr/>
          <p:nvPr/>
        </p:nvSpPr>
        <p:spPr>
          <a:xfrm>
            <a:off x="777240" y="2983230"/>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2983230"/>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Cart abandonment</a:t>
            </a:r>
          </a:p>
        </p:txBody>
      </p:sp>
      <p:sp>
        <p:nvSpPr>
          <p:cNvPr id="33" name="Rectangle 32"/>
          <p:cNvSpPr/>
          <p:nvPr/>
        </p:nvSpPr>
        <p:spPr>
          <a:xfrm>
            <a:off x="3542202" y="2983230"/>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2983230"/>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61%</a:t>
            </a:r>
          </a:p>
        </p:txBody>
      </p:sp>
      <p:sp>
        <p:nvSpPr>
          <p:cNvPr id="35" name="Rectangle 34"/>
          <p:cNvSpPr/>
          <p:nvPr/>
        </p:nvSpPr>
        <p:spPr>
          <a:xfrm>
            <a:off x="6165372" y="2983230"/>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2983230"/>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74%</a:t>
            </a:r>
          </a:p>
        </p:txBody>
      </p:sp>
      <p:sp>
        <p:nvSpPr>
          <p:cNvPr id="37" name="Rectangle 36"/>
          <p:cNvSpPr/>
          <p:nvPr/>
        </p:nvSpPr>
        <p:spPr>
          <a:xfrm>
            <a:off x="8788542" y="2983230"/>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2983230"/>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60%</a:t>
            </a:r>
          </a:p>
        </p:txBody>
      </p:sp>
      <p:sp>
        <p:nvSpPr>
          <p:cNvPr id="39" name="Rectangle 38"/>
          <p:cNvSpPr/>
          <p:nvPr/>
        </p:nvSpPr>
        <p:spPr>
          <a:xfrm>
            <a:off x="777240" y="3345561"/>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345561"/>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CSAT (post-purchase)</a:t>
            </a:r>
          </a:p>
        </p:txBody>
      </p:sp>
      <p:sp>
        <p:nvSpPr>
          <p:cNvPr id="41" name="Rectangle 40"/>
          <p:cNvSpPr/>
          <p:nvPr/>
        </p:nvSpPr>
        <p:spPr>
          <a:xfrm>
            <a:off x="3542202" y="3345561"/>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345561"/>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84%</a:t>
            </a:r>
          </a:p>
        </p:txBody>
      </p:sp>
      <p:sp>
        <p:nvSpPr>
          <p:cNvPr id="43" name="Rectangle 42"/>
          <p:cNvSpPr/>
          <p:nvPr/>
        </p:nvSpPr>
        <p:spPr>
          <a:xfrm>
            <a:off x="6165372" y="3345561"/>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345561"/>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70%</a:t>
            </a:r>
          </a:p>
        </p:txBody>
      </p:sp>
      <p:sp>
        <p:nvSpPr>
          <p:cNvPr id="45" name="Rectangle 44"/>
          <p:cNvSpPr/>
          <p:nvPr/>
        </p:nvSpPr>
        <p:spPr>
          <a:xfrm>
            <a:off x="8788542" y="3345561"/>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345561"/>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85%</a:t>
            </a:r>
          </a:p>
        </p:txBody>
      </p:sp>
      <p:sp>
        <p:nvSpPr>
          <p:cNvPr id="47" name="Rectangle 46"/>
          <p:cNvSpPr/>
          <p:nvPr/>
        </p:nvSpPr>
        <p:spPr>
          <a:xfrm>
            <a:off x="777240" y="3707892"/>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3707892"/>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Repeat purchase (90-day)</a:t>
            </a:r>
          </a:p>
        </p:txBody>
      </p:sp>
      <p:sp>
        <p:nvSpPr>
          <p:cNvPr id="49" name="Rectangle 48"/>
          <p:cNvSpPr/>
          <p:nvPr/>
        </p:nvSpPr>
        <p:spPr>
          <a:xfrm>
            <a:off x="3542202" y="3707892"/>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3707892"/>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38%</a:t>
            </a:r>
          </a:p>
        </p:txBody>
      </p:sp>
      <p:sp>
        <p:nvSpPr>
          <p:cNvPr id="51" name="Rectangle 50"/>
          <p:cNvSpPr/>
          <p:nvPr/>
        </p:nvSpPr>
        <p:spPr>
          <a:xfrm>
            <a:off x="6165372" y="3707892"/>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3707892"/>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29%</a:t>
            </a:r>
          </a:p>
        </p:txBody>
      </p:sp>
      <p:sp>
        <p:nvSpPr>
          <p:cNvPr id="53" name="Rectangle 52"/>
          <p:cNvSpPr/>
          <p:nvPr/>
        </p:nvSpPr>
        <p:spPr>
          <a:xfrm>
            <a:off x="8788542" y="3707892"/>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3707892"/>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40%</a:t>
            </a:r>
          </a:p>
        </p:txBody>
      </p:sp>
      <p:sp>
        <p:nvSpPr>
          <p:cNvPr id="55" name="Rectangle 54"/>
          <p:cNvSpPr/>
          <p:nvPr/>
        </p:nvSpPr>
        <p:spPr>
          <a:xfrm>
            <a:off x="777240" y="4070223"/>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070223"/>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Complaint tickets / week</a:t>
            </a:r>
          </a:p>
        </p:txBody>
      </p:sp>
      <p:sp>
        <p:nvSpPr>
          <p:cNvPr id="57" name="Rectangle 56"/>
          <p:cNvSpPr/>
          <p:nvPr/>
        </p:nvSpPr>
        <p:spPr>
          <a:xfrm>
            <a:off x="3542202" y="4070223"/>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070223"/>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120</a:t>
            </a:r>
          </a:p>
        </p:txBody>
      </p:sp>
      <p:sp>
        <p:nvSpPr>
          <p:cNvPr id="59" name="Rectangle 58"/>
          <p:cNvSpPr/>
          <p:nvPr/>
        </p:nvSpPr>
        <p:spPr>
          <a:xfrm>
            <a:off x="6165372" y="4070223"/>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070223"/>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410</a:t>
            </a:r>
          </a:p>
        </p:txBody>
      </p:sp>
      <p:sp>
        <p:nvSpPr>
          <p:cNvPr id="61" name="Rectangle 60"/>
          <p:cNvSpPr/>
          <p:nvPr/>
        </p:nvSpPr>
        <p:spPr>
          <a:xfrm>
            <a:off x="8788542" y="4070223"/>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070223"/>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63" name="Rectangle 62"/>
          <p:cNvSpPr/>
          <p:nvPr/>
        </p:nvSpPr>
        <p:spPr>
          <a:xfrm>
            <a:off x="777240" y="4432554"/>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05256" y="4432554"/>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In-store sales</a:t>
            </a:r>
          </a:p>
        </p:txBody>
      </p:sp>
      <p:sp>
        <p:nvSpPr>
          <p:cNvPr id="65" name="Rectangle 64"/>
          <p:cNvSpPr/>
          <p:nvPr/>
        </p:nvSpPr>
        <p:spPr>
          <a:xfrm>
            <a:off x="3542202" y="4432554"/>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70218" y="4432554"/>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S$4.2m/mo</a:t>
            </a:r>
          </a:p>
        </p:txBody>
      </p:sp>
      <p:sp>
        <p:nvSpPr>
          <p:cNvPr id="67" name="Rectangle 66"/>
          <p:cNvSpPr/>
          <p:nvPr/>
        </p:nvSpPr>
        <p:spPr>
          <a:xfrm>
            <a:off x="6165372" y="4432554"/>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293388" y="4432554"/>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S$4.1m/mo</a:t>
            </a:r>
          </a:p>
        </p:txBody>
      </p:sp>
      <p:sp>
        <p:nvSpPr>
          <p:cNvPr id="69" name="Rectangle 68"/>
          <p:cNvSpPr/>
          <p:nvPr/>
        </p:nvSpPr>
        <p:spPr>
          <a:xfrm>
            <a:off x="8788542" y="4432554"/>
            <a:ext cx="262317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916558" y="4432554"/>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71" name="Rectangle 70"/>
          <p:cNvSpPr/>
          <p:nvPr/>
        </p:nvSpPr>
        <p:spPr>
          <a:xfrm>
            <a:off x="777240" y="4794885"/>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05256" y="4794885"/>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Online sales</a:t>
            </a:r>
          </a:p>
        </p:txBody>
      </p:sp>
      <p:sp>
        <p:nvSpPr>
          <p:cNvPr id="73" name="Rectangle 72"/>
          <p:cNvSpPr/>
          <p:nvPr/>
        </p:nvSpPr>
        <p:spPr>
          <a:xfrm>
            <a:off x="3542202" y="4794885"/>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670218" y="4794885"/>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S$2.8m/mo</a:t>
            </a:r>
          </a:p>
        </p:txBody>
      </p:sp>
      <p:sp>
        <p:nvSpPr>
          <p:cNvPr id="75" name="Rectangle 74"/>
          <p:cNvSpPr/>
          <p:nvPr/>
        </p:nvSpPr>
        <p:spPr>
          <a:xfrm>
            <a:off x="6165372" y="4794885"/>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93388" y="4794885"/>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S$1.9m/mo</a:t>
            </a:r>
          </a:p>
        </p:txBody>
      </p:sp>
      <p:sp>
        <p:nvSpPr>
          <p:cNvPr id="77" name="Rectangle 76"/>
          <p:cNvSpPr/>
          <p:nvPr/>
        </p:nvSpPr>
        <p:spPr>
          <a:xfrm>
            <a:off x="8788542" y="4794885"/>
            <a:ext cx="262317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916558" y="4794885"/>
            <a:ext cx="2367138" cy="362331"/>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79" name="Rectangle 7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ShopFront SG — 90-day performance extract</a:t>
            </a:r>
          </a:p>
        </p:txBody>
      </p:sp>
      <p:sp>
        <p:nvSpPr>
          <p:cNvPr id="82" name="TextBox 8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3" name="TextBox 8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4" name="TextBox 8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1  ·  RUN THIS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 — The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8953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3621024"/>
          </a:xfrm>
          <a:prstGeom prst="rect">
            <a:avLst/>
          </a:prstGeom>
          <a:noFill/>
        </p:spPr>
        <p:txBody>
          <a:bodyPr wrap="square">
            <a:spAutoFit/>
          </a:bodyPr>
          <a:lstStyle/>
          <a:p>
            <a:pPr>
              <a:spcAft>
                <a:spcPts val="150"/>
              </a:spcAft>
            </a:pPr>
            <a:r>
              <a:rPr sz="850" b="0">
                <a:solidFill>
                  <a:srgbClr val="D4D4D4"/>
                </a:solidFill>
                <a:latin typeface="Consolas"/>
              </a:rPr>
              <a:t>You are a business analyst for a Singapore fashion retailer.</a:t>
            </a:r>
          </a:p>
          <a:p>
            <a:pPr>
              <a:spcAft>
                <a:spcPts val="150"/>
              </a:spcAft>
            </a:pPr>
            <a:r>
              <a:rPr sz="850" b="0">
                <a:solidFill>
                  <a:srgbClr val="D4D4D4"/>
                </a:solidFill>
                <a:latin typeface="Consolas"/>
              </a:rPr>
              <a:t> </a:t>
            </a:r>
          </a:p>
          <a:p>
            <a:pPr>
              <a:spcAft>
                <a:spcPts val="150"/>
              </a:spcAft>
            </a:pPr>
            <a:r>
              <a:rPr sz="850" b="0">
                <a:solidFill>
                  <a:srgbClr val="D4D4D4"/>
                </a:solidFill>
                <a:latin typeface="Consolas"/>
              </a:rPr>
              <a:t>Refine the vague statement below into ONE clear, measurable problem statement.</a:t>
            </a:r>
          </a:p>
          <a:p>
            <a:pPr>
              <a:spcAft>
                <a:spcPts val="150"/>
              </a:spcAft>
            </a:pPr>
            <a:r>
              <a:rPr sz="850" b="0">
                <a:solidFill>
                  <a:srgbClr val="D4D4D4"/>
                </a:solidFill>
                <a:latin typeface="Consolas"/>
              </a:rPr>
              <a:t> </a:t>
            </a:r>
          </a:p>
          <a:p>
            <a:pPr>
              <a:spcAft>
                <a:spcPts val="150"/>
              </a:spcAft>
            </a:pPr>
            <a:r>
              <a:rPr sz="850" b="0">
                <a:solidFill>
                  <a:srgbClr val="D4D4D4"/>
                </a:solidFill>
                <a:latin typeface="Consolas"/>
              </a:rPr>
              <a:t>Vague statement: "Customers are unhappy and sales are dropping."</a:t>
            </a:r>
          </a:p>
          <a:p>
            <a:pPr>
              <a:spcAft>
                <a:spcPts val="150"/>
              </a:spcAft>
            </a:pPr>
            <a:r>
              <a:rPr sz="850" b="0">
                <a:solidFill>
                  <a:srgbClr val="D4D4D4"/>
                </a:solidFill>
                <a:latin typeface="Consolas"/>
              </a:rPr>
              <a:t> </a:t>
            </a:r>
          </a:p>
          <a:p>
            <a:pPr>
              <a:spcAft>
                <a:spcPts val="150"/>
              </a:spcAft>
            </a:pPr>
            <a:r>
              <a:rPr sz="850" b="1">
                <a:solidFill>
                  <a:srgbClr val="4EC9B0"/>
                </a:solidFill>
                <a:latin typeface="Consolas"/>
              </a:rPr>
              <a:t>Evidence:</a:t>
            </a:r>
          </a:p>
          <a:p>
            <a:pPr>
              <a:spcAft>
                <a:spcPts val="150"/>
              </a:spcAft>
            </a:pPr>
            <a:r>
              <a:rPr sz="850" b="0">
                <a:solidFill>
                  <a:srgbClr val="9CDCFE"/>
                </a:solidFill>
                <a:latin typeface="Consolas"/>
              </a:rPr>
              <a:t>- App page load rose from 2.1s to 4.8s (benchmark &lt;2.0s)</a:t>
            </a:r>
          </a:p>
          <a:p>
            <a:pPr>
              <a:spcAft>
                <a:spcPts val="150"/>
              </a:spcAft>
            </a:pPr>
            <a:r>
              <a:rPr sz="850" b="0">
                <a:solidFill>
                  <a:srgbClr val="9CDCFE"/>
                </a:solidFill>
                <a:latin typeface="Consolas"/>
              </a:rPr>
              <a:t>- Checkout completion fell 68% -&gt; 51% (benchmark 70%)</a:t>
            </a:r>
          </a:p>
          <a:p>
            <a:pPr>
              <a:spcAft>
                <a:spcPts val="150"/>
              </a:spcAft>
            </a:pPr>
            <a:r>
              <a:rPr sz="850" b="0">
                <a:solidFill>
                  <a:srgbClr val="9CDCFE"/>
                </a:solidFill>
                <a:latin typeface="Consolas"/>
              </a:rPr>
              <a:t>- Cart abandonment rose 61% -&gt; 74%</a:t>
            </a:r>
          </a:p>
          <a:p>
            <a:pPr>
              <a:spcAft>
                <a:spcPts val="150"/>
              </a:spcAft>
            </a:pPr>
            <a:r>
              <a:rPr sz="850" b="0">
                <a:solidFill>
                  <a:srgbClr val="9CDCFE"/>
                </a:solidFill>
                <a:latin typeface="Consolas"/>
              </a:rPr>
              <a:t>- CSAT fell 84% -&gt; 70%</a:t>
            </a:r>
          </a:p>
          <a:p>
            <a:pPr>
              <a:spcAft>
                <a:spcPts val="150"/>
              </a:spcAft>
            </a:pPr>
            <a:r>
              <a:rPr sz="850" b="0">
                <a:solidFill>
                  <a:srgbClr val="9CDCFE"/>
                </a:solidFill>
                <a:latin typeface="Consolas"/>
              </a:rPr>
              <a:t>- Online sales fell S$2.8m -&gt; S$1.9m per month; in-store flat</a:t>
            </a:r>
          </a:p>
          <a:p>
            <a:pPr>
              <a:spcAft>
                <a:spcPts val="150"/>
              </a:spcAft>
            </a:pPr>
            <a:r>
              <a:rPr sz="850" b="0">
                <a:solidFill>
                  <a:srgbClr val="D4D4D4"/>
                </a:solidFill>
                <a:latin typeface="Consolas"/>
              </a:rPr>
              <a:t> </a:t>
            </a:r>
          </a:p>
          <a:p>
            <a:pPr>
              <a:spcAft>
                <a:spcPts val="150"/>
              </a:spcAft>
            </a:pPr>
            <a:r>
              <a:rPr sz="850" b="1">
                <a:solidFill>
                  <a:srgbClr val="4EC9B0"/>
                </a:solidFill>
                <a:latin typeface="Consolas"/>
              </a:rPr>
              <a:t>Your problem statement MUST contain, each labelled:</a:t>
            </a:r>
          </a:p>
          <a:p>
            <a:pPr>
              <a:spcAft>
                <a:spcPts val="150"/>
              </a:spcAft>
            </a:pPr>
            <a:r>
              <a:rPr sz="850" b="0">
                <a:solidFill>
                  <a:srgbClr val="9CDCFE"/>
                </a:solidFill>
                <a:latin typeface="Consolas"/>
              </a:rPr>
              <a:t>- Context (who, where, which process)</a:t>
            </a:r>
          </a:p>
          <a:p>
            <a:pPr>
              <a:spcAft>
                <a:spcPts val="150"/>
              </a:spcAft>
            </a:pPr>
            <a:r>
              <a:rPr sz="850" b="0">
                <a:solidFill>
                  <a:srgbClr val="9CDCFE"/>
                </a:solidFill>
                <a:latin typeface="Consolas"/>
              </a:rPr>
              <a:t>- Metric (the single primary measure)</a:t>
            </a:r>
          </a:p>
          <a:p>
            <a:pPr>
              <a:spcAft>
                <a:spcPts val="150"/>
              </a:spcAft>
            </a:pPr>
            <a:r>
              <a:rPr sz="850" b="0">
                <a:solidFill>
                  <a:srgbClr val="9CDCFE"/>
                </a:solidFill>
                <a:latin typeface="Consolas"/>
              </a:rPr>
              <a:t>- Baseline (where it is now, with the number)</a:t>
            </a:r>
          </a:p>
          <a:p>
            <a:pPr>
              <a:spcAft>
                <a:spcPts val="150"/>
              </a:spcAft>
            </a:pPr>
            <a:r>
              <a:rPr sz="850" b="0">
                <a:solidFill>
                  <a:srgbClr val="9CDCFE"/>
                </a:solidFill>
                <a:latin typeface="Consolas"/>
              </a:rPr>
              <a:t>- Target (where it must be, with the number)</a:t>
            </a:r>
          </a:p>
          <a:p>
            <a:pPr>
              <a:spcAft>
                <a:spcPts val="150"/>
              </a:spcAft>
            </a:pPr>
            <a:r>
              <a:rPr sz="850" b="0">
                <a:solidFill>
                  <a:srgbClr val="9CDCFE"/>
                </a:solidFill>
                <a:latin typeface="Consolas"/>
              </a:rPr>
              <a:t>- Timeframe (by when)</a:t>
            </a:r>
          </a:p>
          <a:p>
            <a:pPr>
              <a:spcAft>
                <a:spcPts val="150"/>
              </a:spcAft>
            </a:pPr>
            <a:r>
              <a:rPr sz="850" b="0">
                <a:solidFill>
                  <a:srgbClr val="9CDCFE"/>
                </a:solidFill>
                <a:latin typeface="Consolas"/>
              </a:rPr>
              <a:t>- Constraints (budget, headcount, compliance, brand)</a:t>
            </a:r>
          </a:p>
          <a:p>
            <a:pPr>
              <a:spcAft>
                <a:spcPts val="150"/>
              </a:spcAft>
            </a:pPr>
            <a:r>
              <a:rPr sz="850" b="0">
                <a:solidFill>
                  <a:srgbClr val="D4D4D4"/>
                </a:solidFill>
                <a:latin typeface="Consolas"/>
              </a:rPr>
              <a:t> </a:t>
            </a:r>
          </a:p>
          <a:p>
            <a:pPr>
              <a:spcAft>
                <a:spcPts val="150"/>
              </a:spcAft>
            </a:pPr>
            <a:r>
              <a:rPr sz="850" b="0">
                <a:solidFill>
                  <a:srgbClr val="D4D4D4"/>
                </a:solidFill>
                <a:latin typeface="Consolas"/>
              </a:rPr>
              <a:t>Then list any assumption you had to make, and state what additional evidence would let you remove that assumption. Do not propose solutions yet.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BREAKOUT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F6FEB"/>
                </a:solidFill>
                <a:latin typeface="Arial"/>
              </a:rPr>
              <a:t>DISCUSSION QUESTIONS</a:t>
            </a:r>
          </a:p>
        </p:txBody>
      </p:sp>
      <p:sp>
        <p:nvSpPr>
          <p:cNvPr id="10" name="Rectangle 9"/>
          <p:cNvSpPr/>
          <p:nvPr/>
        </p:nvSpPr>
        <p:spPr>
          <a:xfrm>
            <a:off x="777240" y="2231136"/>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237561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75611"/>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Q1</a:t>
            </a:r>
          </a:p>
        </p:txBody>
      </p:sp>
      <p:sp>
        <p:nvSpPr>
          <p:cNvPr id="14" name="TextBox 13"/>
          <p:cNvSpPr txBox="1"/>
          <p:nvPr/>
        </p:nvSpPr>
        <p:spPr>
          <a:xfrm>
            <a:off x="1609344" y="2231136"/>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Which metric in the table is the SYMPTOM the executive noticed, and which metric is closest to the actual performance deficiency? Justify with the numbers.</a:t>
            </a:r>
          </a:p>
        </p:txBody>
      </p:sp>
      <p:sp>
        <p:nvSpPr>
          <p:cNvPr id="15" name="Rectangle 14"/>
          <p:cNvSpPr/>
          <p:nvPr/>
        </p:nvSpPr>
        <p:spPr>
          <a:xfrm>
            <a:off x="777240" y="3059582"/>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59582"/>
            <a:ext cx="82296" cy="7095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32040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204057"/>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Q2</a:t>
            </a:r>
          </a:p>
        </p:txBody>
      </p:sp>
      <p:sp>
        <p:nvSpPr>
          <p:cNvPr id="19" name="TextBox 18"/>
          <p:cNvSpPr txBox="1"/>
          <p:nvPr/>
        </p:nvSpPr>
        <p:spPr>
          <a:xfrm>
            <a:off x="1609344" y="3059582"/>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The evidence shows in-store sales are flat while online sales fell 32%. What does that single contrast rule out as a cause, and why does that matter before you spend a dollar?</a:t>
            </a:r>
          </a:p>
        </p:txBody>
      </p:sp>
      <p:sp>
        <p:nvSpPr>
          <p:cNvPr id="20" name="Rectangle 19"/>
          <p:cNvSpPr/>
          <p:nvPr/>
        </p:nvSpPr>
        <p:spPr>
          <a:xfrm>
            <a:off x="777240" y="3888028"/>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88028"/>
            <a:ext cx="82296" cy="7095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 y="4032503"/>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032503"/>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Q3</a:t>
            </a:r>
          </a:p>
        </p:txBody>
      </p:sp>
      <p:sp>
        <p:nvSpPr>
          <p:cNvPr id="24" name="TextBox 23"/>
          <p:cNvSpPr txBox="1"/>
          <p:nvPr/>
        </p:nvSpPr>
        <p:spPr>
          <a:xfrm>
            <a:off x="1609344" y="3888028"/>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Write the problem statement with all six elements. Which element was hardest to fill, and what does the gap tell you about your organisation's data?</a:t>
            </a:r>
          </a:p>
        </p:txBody>
      </p:sp>
      <p:sp>
        <p:nvSpPr>
          <p:cNvPr id="25" name="Rectangle 24"/>
          <p:cNvSpPr/>
          <p:nvPr/>
        </p:nvSpPr>
        <p:spPr>
          <a:xfrm>
            <a:off x="777240" y="4716474"/>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716474"/>
            <a:ext cx="82296" cy="70957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860949"/>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860949"/>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Q4</a:t>
            </a:r>
          </a:p>
        </p:txBody>
      </p:sp>
      <p:sp>
        <p:nvSpPr>
          <p:cNvPr id="29" name="TextBox 28"/>
          <p:cNvSpPr txBox="1"/>
          <p:nvPr/>
        </p:nvSpPr>
        <p:spPr>
          <a:xfrm>
            <a:off x="1609344" y="4716474"/>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Compare your team's statement with the GenAI-generated one. What did the AI assume that is NOT supported by the evidence? (Every team will find at least one.)</a:t>
            </a:r>
          </a:p>
        </p:txBody>
      </p:sp>
      <p:sp>
        <p:nvSpPr>
          <p:cNvPr id="30" name="Rectangle 29"/>
          <p:cNvSpPr/>
          <p:nvPr/>
        </p:nvSpPr>
        <p:spPr>
          <a:xfrm>
            <a:off x="777240" y="5544920"/>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544920"/>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5840" y="5689395"/>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689395"/>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Q5</a:t>
            </a:r>
          </a:p>
        </p:txBody>
      </p:sp>
      <p:sp>
        <p:nvSpPr>
          <p:cNvPr id="34" name="TextBox 33"/>
          <p:cNvSpPr txBox="1"/>
          <p:nvPr/>
        </p:nvSpPr>
        <p:spPr>
          <a:xfrm>
            <a:off x="1609344" y="5544920"/>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Whose sign-off do you need on this problem statement before work starts, and what would you show them to get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WHAT WE LEARNED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0B981"/>
                </a:solidFill>
                <a:latin typeface="Arial"/>
              </a:rPr>
              <a:t>TRAINER DEBRIEF</a:t>
            </a:r>
          </a:p>
        </p:txBody>
      </p:sp>
      <p:sp>
        <p:nvSpPr>
          <p:cNvPr id="10" name="Rectangle 9"/>
          <p:cNvSpPr/>
          <p:nvPr/>
        </p:nvSpPr>
        <p:spPr>
          <a:xfrm>
            <a:off x="777240" y="2231136"/>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31720"/>
            <a:ext cx="10058400" cy="292608"/>
          </a:xfrm>
          <a:prstGeom prst="rect">
            <a:avLst/>
          </a:prstGeom>
          <a:noFill/>
        </p:spPr>
        <p:txBody>
          <a:bodyPr wrap="square" anchor="t">
            <a:spAutoFit/>
          </a:bodyPr>
          <a:lstStyle/>
          <a:p>
            <a:pPr algn="l">
              <a:spcAft>
                <a:spcPts val="400"/>
              </a:spcAft>
            </a:pPr>
            <a:r>
              <a:rPr sz="1050" b="1">
                <a:solidFill>
                  <a:srgbClr val="1F6FEB"/>
                </a:solidFill>
                <a:latin typeface="Arial"/>
              </a:rPr>
              <a:t>THE DEFICIENCY</a:t>
            </a:r>
          </a:p>
        </p:txBody>
      </p:sp>
      <p:sp>
        <p:nvSpPr>
          <p:cNvPr id="13" name="TextBox 12"/>
          <p:cNvSpPr txBox="1"/>
          <p:nvPr/>
        </p:nvSpPr>
        <p:spPr>
          <a:xfrm>
            <a:off x="1097280" y="2642616"/>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In-store flat while online fell 32% localises the problem to the digital funnel — which invalidates the S$180k discount campaign before a dollar more is spent.</a:t>
            </a:r>
          </a:p>
        </p:txBody>
      </p:sp>
      <p:sp>
        <p:nvSpPr>
          <p:cNvPr id="14" name="Rectangle 13"/>
          <p:cNvSpPr/>
          <p:nvPr/>
        </p:nvSpPr>
        <p:spPr>
          <a:xfrm>
            <a:off x="777240" y="3268980"/>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8980"/>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69564"/>
            <a:ext cx="10058400" cy="292608"/>
          </a:xfrm>
          <a:prstGeom prst="rect">
            <a:avLst/>
          </a:prstGeom>
          <a:noFill/>
        </p:spPr>
        <p:txBody>
          <a:bodyPr wrap="square" anchor="t">
            <a:spAutoFit/>
          </a:bodyPr>
          <a:lstStyle/>
          <a:p>
            <a:pPr algn="l">
              <a:spcAft>
                <a:spcPts val="400"/>
              </a:spcAft>
            </a:pPr>
            <a:r>
              <a:rPr sz="1050" b="1">
                <a:solidFill>
                  <a:srgbClr val="10B981"/>
                </a:solidFill>
                <a:latin typeface="Arial"/>
              </a:rPr>
              <a:t>SYMPTOM VS PROBLEM</a:t>
            </a:r>
          </a:p>
        </p:txBody>
      </p:sp>
      <p:sp>
        <p:nvSpPr>
          <p:cNvPr id="17" name="TextBox 16"/>
          <p:cNvSpPr txBox="1"/>
          <p:nvPr/>
        </p:nvSpPr>
        <p:spPr>
          <a:xfrm>
            <a:off x="1097280" y="3680460"/>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CSAT is a lagging perception measure. Checkout completion is the operational deficiency you can act on.</a:t>
            </a:r>
          </a:p>
        </p:txBody>
      </p:sp>
      <p:sp>
        <p:nvSpPr>
          <p:cNvPr id="18" name="Rectangle 17"/>
          <p:cNvSpPr/>
          <p:nvPr/>
        </p:nvSpPr>
        <p:spPr>
          <a:xfrm>
            <a:off x="777240" y="4306824"/>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06824"/>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10058400" cy="292608"/>
          </a:xfrm>
          <a:prstGeom prst="rect">
            <a:avLst/>
          </a:prstGeom>
          <a:noFill/>
        </p:spPr>
        <p:txBody>
          <a:bodyPr wrap="square" anchor="t">
            <a:spAutoFit/>
          </a:bodyPr>
          <a:lstStyle/>
          <a:p>
            <a:pPr algn="l">
              <a:spcAft>
                <a:spcPts val="400"/>
              </a:spcAft>
            </a:pPr>
            <a:r>
              <a:rPr sz="1050" b="1">
                <a:solidFill>
                  <a:srgbClr val="7C3AED"/>
                </a:solidFill>
                <a:latin typeface="Arial"/>
              </a:rPr>
              <a:t>THE AI'S ASSUMPTIONS</a:t>
            </a:r>
          </a:p>
        </p:txBody>
      </p:sp>
      <p:sp>
        <p:nvSpPr>
          <p:cNvPr id="21" name="TextBox 20"/>
          <p:cNvSpPr txBox="1"/>
          <p:nvPr/>
        </p:nvSpPr>
        <p:spPr>
          <a:xfrm>
            <a:off x="1097280" y="4718304"/>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Every team finds the AI inventing peak-hour windows, gateway names or segments the evidence never supplied. Mark them. This is the core AI-literacy habit.</a:t>
            </a:r>
          </a:p>
        </p:txBody>
      </p:sp>
      <p:sp>
        <p:nvSpPr>
          <p:cNvPr id="22" name="Rectangle 21"/>
          <p:cNvSpPr/>
          <p:nvPr/>
        </p:nvSpPr>
        <p:spPr>
          <a:xfrm>
            <a:off x="777240" y="5344668"/>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44668"/>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445252"/>
            <a:ext cx="10058400" cy="292608"/>
          </a:xfrm>
          <a:prstGeom prst="rect">
            <a:avLst/>
          </a:prstGeom>
          <a:noFill/>
        </p:spPr>
        <p:txBody>
          <a:bodyPr wrap="square" anchor="t">
            <a:spAutoFit/>
          </a:bodyPr>
          <a:lstStyle/>
          <a:p>
            <a:pPr algn="l">
              <a:spcAft>
                <a:spcPts val="400"/>
              </a:spcAft>
            </a:pPr>
            <a:r>
              <a:rPr sz="1050" b="1">
                <a:solidFill>
                  <a:srgbClr val="F59E0B"/>
                </a:solidFill>
                <a:latin typeface="Arial"/>
              </a:rPr>
              <a:t>WHAT IS STILL UNKNOWN</a:t>
            </a:r>
          </a:p>
        </p:txBody>
      </p:sp>
      <p:sp>
        <p:nvSpPr>
          <p:cNvPr id="25" name="TextBox 24"/>
          <p:cNvSpPr txBox="1"/>
          <p:nvPr/>
        </p:nvSpPr>
        <p:spPr>
          <a:xfrm>
            <a:off x="1097280" y="5756148"/>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WHY load time rose is root cause — that is Activity 2. Resist 'we need more servers'.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ROOT CAUSE TOOLKIT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Four tools. Four different jobs.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Depth · Breadth · Priority · Dynamics. Mature problem solvers use them together, not instead of each other.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  ·  ANALYTICAL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Choosing Your Root Cause 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Tool</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gives you</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Use it when</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Limitation</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5 Whys</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Depth on one causal chain</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The problem is focused</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Only follows one branch</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Fishbone</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Breadth across all dimensions</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Causes are many and unclear</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Shallow on each</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Pareto</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Priority by contribution</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You have counted data</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Ranks frequency, not severity</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System Loops</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Feedback dynamics over time</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Fixes keep rebounding</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Needs time-series insight</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Pareto tells you WHERE to look. 5 Whys tells you WHY. They chain together.</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TOOL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Ed-Tool: 5 Whys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20240"/>
            <a:ext cx="10058400" cy="402336"/>
          </a:xfrm>
          <a:prstGeom prst="rect">
            <a:avLst/>
          </a:prstGeom>
          <a:noFill/>
        </p:spPr>
        <p:txBody>
          <a:bodyPr wrap="square" anchor="t">
            <a:spAutoFit/>
          </a:bodyPr>
          <a:lstStyle/>
          <a:p>
            <a:pPr algn="l">
              <a:spcAft>
                <a:spcPts val="400"/>
              </a:spcAft>
            </a:pPr>
            <a:r>
              <a:rPr sz="2200" b="1">
                <a:solidFill>
                  <a:srgbClr val="161B26"/>
                </a:solidFill>
                <a:latin typeface="Arial"/>
              </a:rPr>
              <a:t>5 Whys Analysis Tool</a:t>
            </a:r>
          </a:p>
        </p:txBody>
      </p:sp>
      <p:sp>
        <p:nvSpPr>
          <p:cNvPr id="10" name="Rectangle 9"/>
          <p:cNvSpPr/>
          <p:nvPr/>
        </p:nvSpPr>
        <p:spPr>
          <a:xfrm>
            <a:off x="1097280" y="2432304"/>
            <a:ext cx="996696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61872" y="2624328"/>
            <a:ext cx="128016" cy="128016"/>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63040" y="2624328"/>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64208" y="2624328"/>
            <a:ext cx="128016" cy="128016"/>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0" y="2432304"/>
            <a:ext cx="8778240" cy="566928"/>
          </a:xfrm>
          <a:prstGeom prst="rect">
            <a:avLst/>
          </a:prstGeom>
          <a:noFill/>
        </p:spPr>
        <p:txBody>
          <a:bodyPr wrap="square" anchor="ctr">
            <a:spAutoFit/>
          </a:bodyPr>
          <a:lstStyle/>
          <a:p>
            <a:pPr algn="l">
              <a:spcAft>
                <a:spcPts val="400"/>
              </a:spcAft>
            </a:pPr>
            <a:r>
              <a:rPr sz="1350" b="1">
                <a:solidFill>
                  <a:srgbClr val="1F6FEB"/>
                </a:solidFill>
                <a:latin typeface="Arial"/>
              </a:rPr>
              <a:t>https://alfredang.github.io/5whys/</a:t>
            </a:r>
          </a:p>
        </p:txBody>
      </p:sp>
      <p:sp>
        <p:nvSpPr>
          <p:cNvPr id="15" name="Rectangle 14"/>
          <p:cNvSpPr/>
          <p:nvPr/>
        </p:nvSpPr>
        <p:spPr>
          <a:xfrm>
            <a:off x="777240" y="3364992"/>
            <a:ext cx="5184648"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64992"/>
            <a:ext cx="518464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4" y="3547872"/>
            <a:ext cx="4727448" cy="310896"/>
          </a:xfrm>
          <a:prstGeom prst="rect">
            <a:avLst/>
          </a:prstGeom>
          <a:noFill/>
        </p:spPr>
        <p:txBody>
          <a:bodyPr wrap="square" anchor="t">
            <a:spAutoFit/>
          </a:bodyPr>
          <a:lstStyle/>
          <a:p>
            <a:pPr algn="l">
              <a:spcAft>
                <a:spcPts val="400"/>
              </a:spcAft>
            </a:pPr>
            <a:r>
              <a:rPr sz="1100" b="1">
                <a:solidFill>
                  <a:srgbClr val="1F6FEB"/>
                </a:solidFill>
                <a:latin typeface="Arial"/>
              </a:rPr>
              <a:t>WHAT IT DOES</a:t>
            </a:r>
          </a:p>
        </p:txBody>
      </p:sp>
      <p:sp>
        <p:nvSpPr>
          <p:cNvPr id="18" name="TextBox 17"/>
          <p:cNvSpPr txBox="1"/>
          <p:nvPr/>
        </p:nvSpPr>
        <p:spPr>
          <a:xfrm>
            <a:off x="1014984" y="3895344"/>
            <a:ext cx="4727448" cy="1737360"/>
          </a:xfrm>
          <a:prstGeom prst="rect">
            <a:avLst/>
          </a:prstGeom>
          <a:noFill/>
        </p:spPr>
        <p:txBody>
          <a:bodyPr wrap="square" anchor="t">
            <a:spAutoFit/>
          </a:bodyPr>
          <a:lstStyle/>
          <a:p>
            <a:pPr algn="l">
              <a:spcAft>
                <a:spcPts val="400"/>
              </a:spcAft>
            </a:pPr>
            <a:r>
              <a:rPr sz="1300" b="0">
                <a:solidFill>
                  <a:srgbClr val="161B26"/>
                </a:solidFill>
                <a:latin typeface="Arial"/>
              </a:rPr>
              <a:t>Drives a symptom down to a systemic root cause by asking 'why' five times, recording each level so the chain stays visible and auditable.</a:t>
            </a:r>
          </a:p>
        </p:txBody>
      </p:sp>
      <p:sp>
        <p:nvSpPr>
          <p:cNvPr id="19" name="Rectangle 18"/>
          <p:cNvSpPr/>
          <p:nvPr/>
        </p:nvSpPr>
        <p:spPr>
          <a:xfrm>
            <a:off x="6227064" y="3364992"/>
            <a:ext cx="5184648"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7064" y="3364992"/>
            <a:ext cx="518464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8" y="3547872"/>
            <a:ext cx="4727448" cy="310896"/>
          </a:xfrm>
          <a:prstGeom prst="rect">
            <a:avLst/>
          </a:prstGeom>
          <a:noFill/>
        </p:spPr>
        <p:txBody>
          <a:bodyPr wrap="square" anchor="t">
            <a:spAutoFit/>
          </a:bodyPr>
          <a:lstStyle/>
          <a:p>
            <a:pPr algn="l">
              <a:spcAft>
                <a:spcPts val="400"/>
              </a:spcAft>
            </a:pPr>
            <a:r>
              <a:rPr sz="1100" b="1">
                <a:solidFill>
                  <a:srgbClr val="7C3AED"/>
                </a:solidFill>
                <a:latin typeface="Arial"/>
              </a:rPr>
              <a:t>HOW YOU'LL USE IT</a:t>
            </a:r>
          </a:p>
        </p:txBody>
      </p:sp>
      <p:sp>
        <p:nvSpPr>
          <p:cNvPr id="22" name="TextBox 21"/>
          <p:cNvSpPr txBox="1"/>
          <p:nvPr/>
        </p:nvSpPr>
        <p:spPr>
          <a:xfrm>
            <a:off x="6464808" y="3895344"/>
            <a:ext cx="4727448" cy="1737360"/>
          </a:xfrm>
          <a:prstGeom prst="rect">
            <a:avLst/>
          </a:prstGeom>
          <a:noFill/>
        </p:spPr>
        <p:txBody>
          <a:bodyPr wrap="square" anchor="t">
            <a:spAutoFit/>
          </a:bodyPr>
          <a:lstStyle/>
          <a:p>
            <a:pPr algn="l">
              <a:spcAft>
                <a:spcPts val="400"/>
              </a:spcAft>
            </a:pPr>
            <a:r>
              <a:rPr sz="1300" b="0">
                <a:solidFill>
                  <a:srgbClr val="161B26"/>
                </a:solidFill>
                <a:latin typeface="Arial"/>
              </a:rPr>
              <a:t>Enter the problem statement, then add one why and answer per level. Stay on ONE causal branch — depth is the point.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MERIDIAN HEALTH  ·  DEPTH ON ONE BRANCH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5 Whys — Worked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87452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874520"/>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90472" y="1783080"/>
            <a:ext cx="9720072" cy="292608"/>
          </a:xfrm>
          <a:prstGeom prst="rect">
            <a:avLst/>
          </a:prstGeom>
          <a:noFill/>
        </p:spPr>
        <p:txBody>
          <a:bodyPr wrap="square" anchor="t">
            <a:spAutoFit/>
          </a:bodyPr>
          <a:lstStyle/>
          <a:p>
            <a:pPr algn="l">
              <a:spcAft>
                <a:spcPts val="400"/>
              </a:spcAft>
            </a:pPr>
            <a:r>
              <a:rPr sz="1100" b="1">
                <a:solidFill>
                  <a:srgbClr val="1F6FEB"/>
                </a:solidFill>
                <a:latin typeface="Arial"/>
              </a:rPr>
              <a:t>Why do morning appointments overrun?</a:t>
            </a:r>
          </a:p>
        </p:txBody>
      </p:sp>
      <p:sp>
        <p:nvSpPr>
          <p:cNvPr id="12" name="TextBox 11"/>
          <p:cNvSpPr txBox="1"/>
          <p:nvPr/>
        </p:nvSpPr>
        <p:spPr>
          <a:xfrm>
            <a:off x="1490472" y="2066544"/>
            <a:ext cx="9720072" cy="310896"/>
          </a:xfrm>
          <a:prstGeom prst="rect">
            <a:avLst/>
          </a:prstGeom>
          <a:noFill/>
        </p:spPr>
        <p:txBody>
          <a:bodyPr wrap="square" anchor="t">
            <a:spAutoFit/>
          </a:bodyPr>
          <a:lstStyle/>
          <a:p>
            <a:pPr algn="l">
              <a:spcAft>
                <a:spcPts val="400"/>
              </a:spcAft>
            </a:pPr>
            <a:r>
              <a:rPr sz="1050" b="0">
                <a:solidFill>
                  <a:srgbClr val="161B26"/>
                </a:solidFill>
                <a:latin typeface="Arial"/>
              </a:rPr>
              <a:t>Blood draws take longer than the slot allows.</a:t>
            </a:r>
          </a:p>
        </p:txBody>
      </p:sp>
      <p:cxnSp>
        <p:nvCxnSpPr>
          <p:cNvPr id="13" name="Connector 12"/>
          <p:cNvCxnSpPr/>
          <p:nvPr/>
        </p:nvCxnSpPr>
        <p:spPr>
          <a:xfrm>
            <a:off x="1152144" y="2395728"/>
            <a:ext cx="0" cy="91440"/>
          </a:xfrm>
          <a:prstGeom prst="line">
            <a:avLst/>
          </a:prstGeom>
          <a:ln w="2032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161288" y="2487168"/>
            <a:ext cx="10250424"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61288" y="2487168"/>
            <a:ext cx="8229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44168" y="2624328"/>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44168" y="262432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874520" y="2532888"/>
            <a:ext cx="9336024" cy="292608"/>
          </a:xfrm>
          <a:prstGeom prst="rect">
            <a:avLst/>
          </a:prstGeom>
          <a:noFill/>
        </p:spPr>
        <p:txBody>
          <a:bodyPr wrap="square" anchor="t">
            <a:spAutoFit/>
          </a:bodyPr>
          <a:lstStyle/>
          <a:p>
            <a:pPr algn="l">
              <a:spcAft>
                <a:spcPts val="400"/>
              </a:spcAft>
            </a:pPr>
            <a:r>
              <a:rPr sz="1100" b="1">
                <a:solidFill>
                  <a:srgbClr val="10B981"/>
                </a:solidFill>
                <a:latin typeface="Arial"/>
              </a:rPr>
              <a:t>Why do draws take longer?</a:t>
            </a:r>
          </a:p>
        </p:txBody>
      </p:sp>
      <p:sp>
        <p:nvSpPr>
          <p:cNvPr id="19" name="TextBox 18"/>
          <p:cNvSpPr txBox="1"/>
          <p:nvPr/>
        </p:nvSpPr>
        <p:spPr>
          <a:xfrm>
            <a:off x="1874520" y="2816352"/>
            <a:ext cx="9336024" cy="310896"/>
          </a:xfrm>
          <a:prstGeom prst="rect">
            <a:avLst/>
          </a:prstGeom>
          <a:noFill/>
        </p:spPr>
        <p:txBody>
          <a:bodyPr wrap="square" anchor="t">
            <a:spAutoFit/>
          </a:bodyPr>
          <a:lstStyle/>
          <a:p>
            <a:pPr algn="l">
              <a:spcAft>
                <a:spcPts val="400"/>
              </a:spcAft>
            </a:pPr>
            <a:r>
              <a:rPr sz="1050" b="0">
                <a:solidFill>
                  <a:srgbClr val="161B26"/>
                </a:solidFill>
                <a:latin typeface="Arial"/>
              </a:rPr>
              <a:t>40% of morning staff are relief at 14 min vs 6 min; 18% need a repeat.</a:t>
            </a:r>
          </a:p>
        </p:txBody>
      </p:sp>
      <p:cxnSp>
        <p:nvCxnSpPr>
          <p:cNvPr id="20" name="Connector 19"/>
          <p:cNvCxnSpPr/>
          <p:nvPr/>
        </p:nvCxnSpPr>
        <p:spPr>
          <a:xfrm>
            <a:off x="1536192" y="3145536"/>
            <a:ext cx="0" cy="91440"/>
          </a:xfrm>
          <a:prstGeom prst="line">
            <a:avLst/>
          </a:prstGeom>
          <a:ln w="2032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545336" y="3236976"/>
            <a:ext cx="9866376"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45336" y="3236976"/>
            <a:ext cx="82296"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728216" y="337413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28216" y="337413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2258568" y="3282696"/>
            <a:ext cx="8951976" cy="292608"/>
          </a:xfrm>
          <a:prstGeom prst="rect">
            <a:avLst/>
          </a:prstGeom>
          <a:noFill/>
        </p:spPr>
        <p:txBody>
          <a:bodyPr wrap="square" anchor="t">
            <a:spAutoFit/>
          </a:bodyPr>
          <a:lstStyle/>
          <a:p>
            <a:pPr algn="l">
              <a:spcAft>
                <a:spcPts val="400"/>
              </a:spcAft>
            </a:pPr>
            <a:r>
              <a:rPr sz="1100" b="1">
                <a:solidFill>
                  <a:srgbClr val="7C3AED"/>
                </a:solidFill>
                <a:latin typeface="Arial"/>
              </a:rPr>
              <a:t>Why so many relief staff?</a:t>
            </a:r>
          </a:p>
        </p:txBody>
      </p:sp>
      <p:sp>
        <p:nvSpPr>
          <p:cNvPr id="26" name="TextBox 25"/>
          <p:cNvSpPr txBox="1"/>
          <p:nvPr/>
        </p:nvSpPr>
        <p:spPr>
          <a:xfrm>
            <a:off x="2258568" y="3566160"/>
            <a:ext cx="8951976" cy="310896"/>
          </a:xfrm>
          <a:prstGeom prst="rect">
            <a:avLst/>
          </a:prstGeom>
          <a:noFill/>
        </p:spPr>
        <p:txBody>
          <a:bodyPr wrap="square" anchor="t">
            <a:spAutoFit/>
          </a:bodyPr>
          <a:lstStyle/>
          <a:p>
            <a:pPr algn="l">
              <a:spcAft>
                <a:spcPts val="400"/>
              </a:spcAft>
            </a:pPr>
            <a:r>
              <a:rPr sz="1050" b="0">
                <a:solidFill>
                  <a:srgbClr val="161B26"/>
                </a:solidFill>
                <a:latin typeface="Arial"/>
              </a:rPr>
              <a:t>Only 3 of 5 permanent phlebotomists are rostered at 07:00.</a:t>
            </a:r>
          </a:p>
        </p:txBody>
      </p:sp>
      <p:cxnSp>
        <p:nvCxnSpPr>
          <p:cNvPr id="27" name="Connector 26"/>
          <p:cNvCxnSpPr/>
          <p:nvPr/>
        </p:nvCxnSpPr>
        <p:spPr>
          <a:xfrm>
            <a:off x="1920240" y="3895344"/>
            <a:ext cx="0" cy="91440"/>
          </a:xfrm>
          <a:prstGeom prst="line">
            <a:avLst/>
          </a:prstGeom>
          <a:ln w="2032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29384" y="3986784"/>
            <a:ext cx="9482328"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929384" y="3986784"/>
            <a:ext cx="82296"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112264" y="4123944"/>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12264" y="412394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2642616" y="4032504"/>
            <a:ext cx="8567928" cy="292608"/>
          </a:xfrm>
          <a:prstGeom prst="rect">
            <a:avLst/>
          </a:prstGeom>
          <a:noFill/>
        </p:spPr>
        <p:txBody>
          <a:bodyPr wrap="square" anchor="t">
            <a:spAutoFit/>
          </a:bodyPr>
          <a:lstStyle/>
          <a:p>
            <a:pPr algn="l">
              <a:spcAft>
                <a:spcPts val="400"/>
              </a:spcAft>
            </a:pPr>
            <a:r>
              <a:rPr sz="1100" b="1">
                <a:solidFill>
                  <a:srgbClr val="F59E0B"/>
                </a:solidFill>
                <a:latin typeface="Arial"/>
              </a:rPr>
              <a:t>Why under-rostered at 07:00?</a:t>
            </a:r>
          </a:p>
        </p:txBody>
      </p:sp>
      <p:sp>
        <p:nvSpPr>
          <p:cNvPr id="33" name="TextBox 32"/>
          <p:cNvSpPr txBox="1"/>
          <p:nvPr/>
        </p:nvSpPr>
        <p:spPr>
          <a:xfrm>
            <a:off x="2642616" y="4315968"/>
            <a:ext cx="8567928" cy="310896"/>
          </a:xfrm>
          <a:prstGeom prst="rect">
            <a:avLst/>
          </a:prstGeom>
          <a:noFill/>
        </p:spPr>
        <p:txBody>
          <a:bodyPr wrap="square" anchor="t">
            <a:spAutoFit/>
          </a:bodyPr>
          <a:lstStyle/>
          <a:p>
            <a:pPr algn="l">
              <a:spcAft>
                <a:spcPts val="400"/>
              </a:spcAft>
            </a:pPr>
            <a:r>
              <a:rPr sz="1050" b="0">
                <a:solidFill>
                  <a:srgbClr val="161B26"/>
                </a:solidFill>
                <a:latin typeface="Arial"/>
              </a:rPr>
              <a:t>Turnover is 44%/yr; vacancies are backfilled by untrained agency staff.</a:t>
            </a:r>
          </a:p>
        </p:txBody>
      </p:sp>
      <p:cxnSp>
        <p:nvCxnSpPr>
          <p:cNvPr id="34" name="Connector 33"/>
          <p:cNvCxnSpPr/>
          <p:nvPr/>
        </p:nvCxnSpPr>
        <p:spPr>
          <a:xfrm>
            <a:off x="2304288" y="4645152"/>
            <a:ext cx="0" cy="91440"/>
          </a:xfrm>
          <a:prstGeom prst="line">
            <a:avLst/>
          </a:prstGeom>
          <a:ln w="2032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313432" y="4736592"/>
            <a:ext cx="909828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313432" y="4736592"/>
            <a:ext cx="82296"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496312" y="48737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96312" y="487375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9" name="TextBox 38"/>
          <p:cNvSpPr txBox="1"/>
          <p:nvPr/>
        </p:nvSpPr>
        <p:spPr>
          <a:xfrm>
            <a:off x="3026664" y="4782312"/>
            <a:ext cx="8183880" cy="292608"/>
          </a:xfrm>
          <a:prstGeom prst="rect">
            <a:avLst/>
          </a:prstGeom>
          <a:noFill/>
        </p:spPr>
        <p:txBody>
          <a:bodyPr wrap="square" anchor="t">
            <a:spAutoFit/>
          </a:bodyPr>
          <a:lstStyle/>
          <a:p>
            <a:pPr algn="l">
              <a:spcAft>
                <a:spcPts val="400"/>
              </a:spcAft>
            </a:pPr>
            <a:r>
              <a:rPr sz="1100" b="1">
                <a:solidFill>
                  <a:srgbClr val="1F6FEB"/>
                </a:solidFill>
                <a:latin typeface="Arial"/>
              </a:rPr>
              <a:t>Why is turnover 44%?</a:t>
            </a:r>
          </a:p>
        </p:txBody>
      </p:sp>
      <p:sp>
        <p:nvSpPr>
          <p:cNvPr id="40" name="TextBox 39"/>
          <p:cNvSpPr txBox="1"/>
          <p:nvPr/>
        </p:nvSpPr>
        <p:spPr>
          <a:xfrm>
            <a:off x="3026664" y="5065776"/>
            <a:ext cx="8183880" cy="310896"/>
          </a:xfrm>
          <a:prstGeom prst="rect">
            <a:avLst/>
          </a:prstGeom>
          <a:noFill/>
        </p:spPr>
        <p:txBody>
          <a:bodyPr wrap="square" anchor="t">
            <a:spAutoFit/>
          </a:bodyPr>
          <a:lstStyle/>
          <a:p>
            <a:pPr algn="l">
              <a:spcAft>
                <a:spcPts val="400"/>
              </a:spcAft>
            </a:pPr>
            <a:r>
              <a:rPr sz="1050" b="0">
                <a:solidFill>
                  <a:srgbClr val="161B26"/>
                </a:solidFill>
                <a:latin typeface="Arial"/>
              </a:rPr>
              <a:t>The early shift is unattractive and there is no structured onboarding or career path.</a:t>
            </a:r>
          </a:p>
        </p:txBody>
      </p:sp>
      <p:sp>
        <p:nvSpPr>
          <p:cNvPr id="41" name="Rectangle 40"/>
          <p:cNvSpPr/>
          <p:nvPr/>
        </p:nvSpPr>
        <p:spPr>
          <a:xfrm>
            <a:off x="777240" y="5541264"/>
            <a:ext cx="10634472" cy="786384"/>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541264"/>
            <a:ext cx="100584" cy="786384"/>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623560"/>
            <a:ext cx="10058400" cy="274320"/>
          </a:xfrm>
          <a:prstGeom prst="rect">
            <a:avLst/>
          </a:prstGeom>
          <a:noFill/>
        </p:spPr>
        <p:txBody>
          <a:bodyPr wrap="square" anchor="t">
            <a:spAutoFit/>
          </a:bodyPr>
          <a:lstStyle/>
          <a:p>
            <a:pPr algn="l">
              <a:spcAft>
                <a:spcPts val="400"/>
              </a:spcAft>
            </a:pPr>
            <a:r>
              <a:rPr sz="1050" b="1">
                <a:solidFill>
                  <a:srgbClr val="127A3E"/>
                </a:solidFill>
                <a:latin typeface="Arial"/>
              </a:rPr>
              <a:t>ROOT CAUSE IDENTIFIED</a:t>
            </a:r>
          </a:p>
        </p:txBody>
      </p:sp>
      <p:sp>
        <p:nvSpPr>
          <p:cNvPr id="44" name="TextBox 43"/>
          <p:cNvSpPr txBox="1"/>
          <p:nvPr/>
        </p:nvSpPr>
        <p:spPr>
          <a:xfrm>
            <a:off x="1097280" y="5907024"/>
            <a:ext cx="10058400" cy="384048"/>
          </a:xfrm>
          <a:prstGeom prst="rect">
            <a:avLst/>
          </a:prstGeom>
          <a:noFill/>
        </p:spPr>
        <p:txBody>
          <a:bodyPr wrap="square" anchor="t">
            <a:spAutoFit/>
          </a:bodyPr>
          <a:lstStyle/>
          <a:p>
            <a:pPr algn="l">
              <a:spcAft>
                <a:spcPts val="400"/>
              </a:spcAft>
            </a:pPr>
            <a:r>
              <a:rPr sz="1200" b="1">
                <a:solidFill>
                  <a:srgbClr val="161B26"/>
                </a:solidFill>
                <a:latin typeface="Arial"/>
              </a:rPr>
              <a:t>A workforce retention and onboarding failure — surfacing as a capacity problem.</a:t>
            </a:r>
          </a:p>
        </p:txBody>
      </p:sp>
      <p:sp>
        <p:nvSpPr>
          <p:cNvPr id="45" name="TextBox 4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6" name="TextBox 4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7" name="TextBox 4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WHY ROOT CAUSE PAYS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"We're short-staffed" was wrong in the way that matters.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They are not short of headcount. They are short of TRAINED headcount at 07:00. That distinction is worth S$1.2m.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PROMPT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5 Whys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1638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2889504"/>
          </a:xfrm>
          <a:prstGeom prst="rect">
            <a:avLst/>
          </a:prstGeom>
          <a:noFill/>
        </p:spPr>
        <p:txBody>
          <a:bodyPr wrap="square">
            <a:spAutoFit/>
          </a:bodyPr>
          <a:lstStyle/>
          <a:p>
            <a:pPr>
              <a:spcAft>
                <a:spcPts val="150"/>
              </a:spcAft>
            </a:pPr>
            <a:r>
              <a:rPr sz="1050" b="0">
                <a:solidFill>
                  <a:srgbClr val="D4D4D4"/>
                </a:solidFill>
                <a:latin typeface="Consolas"/>
              </a:rPr>
              <a:t>Act as a root cause analysis expert facilitating a clinical operations team.</a:t>
            </a:r>
          </a:p>
          <a:p>
            <a:pPr>
              <a:spcAft>
                <a:spcPts val="150"/>
              </a:spcAft>
            </a:pPr>
            <a:r>
              <a:rPr sz="1050" b="0">
                <a:solidFill>
                  <a:srgbClr val="D4D4D4"/>
                </a:solidFill>
                <a:latin typeface="Consolas"/>
              </a:rPr>
              <a:t> </a:t>
            </a:r>
          </a:p>
          <a:p>
            <a:pPr>
              <a:spcAft>
                <a:spcPts val="150"/>
              </a:spcAft>
            </a:pPr>
            <a:r>
              <a:rPr sz="1050" b="0">
                <a:solidFill>
                  <a:srgbClr val="D4D4D4"/>
                </a:solidFill>
                <a:latin typeface="Consolas"/>
              </a:rPr>
              <a:t>Problem: 31% of morning health-screening appointments at Meridian Health overrun by more than 40 minutes, and 23% of blood samples miss the fixed 09:45 lab courier.</a:t>
            </a:r>
          </a:p>
          <a:p>
            <a:pPr>
              <a:spcAft>
                <a:spcPts val="150"/>
              </a:spcAft>
            </a:pPr>
            <a:r>
              <a:rPr sz="1050" b="0">
                <a:solidFill>
                  <a:srgbClr val="D4D4D4"/>
                </a:solidFill>
                <a:latin typeface="Consolas"/>
              </a:rPr>
              <a:t> </a:t>
            </a:r>
          </a:p>
          <a:p>
            <a:pPr>
              <a:spcAft>
                <a:spcPts val="150"/>
              </a:spcAft>
            </a:pPr>
            <a:r>
              <a:rPr sz="1050" b="0">
                <a:solidFill>
                  <a:srgbClr val="D4D4D4"/>
                </a:solidFill>
                <a:latin typeface="Consolas"/>
              </a:rPr>
              <a:t>Evidence: only 3 of 5 phlebotomists are rostered at 07:00 (all 5 by 08:30); relief staff take 14 min per draw vs 6 min for trained staff; relief staff are 40% of the morning roster; 18% of draws need a repeat attempt; permanent staff turnover is 44% a year.</a:t>
            </a:r>
          </a:p>
          <a:p>
            <a:pPr>
              <a:spcAft>
                <a:spcPts val="150"/>
              </a:spcAft>
            </a:pPr>
            <a:r>
              <a:rPr sz="1050" b="0">
                <a:solidFill>
                  <a:srgbClr val="D4D4D4"/>
                </a:solidFill>
                <a:latin typeface="Consolas"/>
              </a:rPr>
              <a:t> </a:t>
            </a:r>
          </a:p>
          <a:p>
            <a:pPr>
              <a:spcAft>
                <a:spcPts val="150"/>
              </a:spcAft>
            </a:pPr>
            <a:r>
              <a:rPr sz="1050" b="0">
                <a:solidFill>
                  <a:srgbClr val="D4D4D4"/>
                </a:solidFill>
                <a:latin typeface="Consolas"/>
              </a:rPr>
              <a:t>Apply the 5 Whys technique. Ask ONE why at a time and wait for my answer before asking the next. Go five levels deep.</a:t>
            </a:r>
          </a:p>
          <a:p>
            <a:pPr>
              <a:spcAft>
                <a:spcPts val="150"/>
              </a:spcAft>
            </a:pPr>
            <a:r>
              <a:rPr sz="1050" b="0">
                <a:solidFill>
                  <a:srgbClr val="D4D4D4"/>
                </a:solidFill>
                <a:latin typeface="Consolas"/>
              </a:rPr>
              <a:t> </a:t>
            </a:r>
          </a:p>
          <a:p>
            <a:pPr>
              <a:spcAft>
                <a:spcPts val="150"/>
              </a:spcAft>
            </a:pPr>
            <a:r>
              <a:rPr sz="1050" b="0">
                <a:solidFill>
                  <a:srgbClr val="D4D4D4"/>
                </a:solidFill>
                <a:latin typeface="Consolas"/>
              </a:rPr>
              <a:t>At each level, state what EVIDENCE would confirm or refute that level — do not accept my answer at face value. If my answer is an opinion rather than a fact, say so and ask me for the data that would support it.</a:t>
            </a:r>
          </a:p>
          <a:p>
            <a:pPr>
              <a:spcAft>
                <a:spcPts val="150"/>
              </a:spcAft>
            </a:pPr>
            <a:r>
              <a:rPr sz="1050" b="0">
                <a:solidFill>
                  <a:srgbClr val="D4D4D4"/>
                </a:solidFill>
                <a:latin typeface="Consolas"/>
              </a:rPr>
              <a:t> </a:t>
            </a:r>
          </a:p>
          <a:p>
            <a:pPr>
              <a:spcAft>
                <a:spcPts val="150"/>
              </a:spcAft>
            </a:pPr>
            <a:r>
              <a:rPr sz="1050" b="0">
                <a:solidFill>
                  <a:srgbClr val="D4D4D4"/>
                </a:solidFill>
                <a:latin typeface="Consolas"/>
              </a:rPr>
              <a:t>After level 5, summarise: the root cause, the evidence supporting it, and which levels remain unverified assumptions.</a:t>
            </a:r>
          </a:p>
        </p:txBody>
      </p:sp>
      <p:sp>
        <p:nvSpPr>
          <p:cNvPr id="12" name="Rectangle 11"/>
          <p:cNvSpPr/>
          <p:nvPr/>
        </p:nvSpPr>
        <p:spPr>
          <a:xfrm>
            <a:off x="777240" y="5541264"/>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541264"/>
            <a:ext cx="8229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541264"/>
            <a:ext cx="10149840" cy="713232"/>
          </a:xfrm>
          <a:prstGeom prst="rect">
            <a:avLst/>
          </a:prstGeom>
          <a:noFill/>
        </p:spPr>
        <p:txBody>
          <a:bodyPr wrap="square" anchor="ctr">
            <a:spAutoFit/>
          </a:bodyPr>
          <a:lstStyle/>
          <a:p>
            <a:pPr algn="l">
              <a:spcAft>
                <a:spcPts val="400"/>
              </a:spcAft>
            </a:pPr>
            <a:r>
              <a:rPr sz="1050" b="1">
                <a:solidFill>
                  <a:srgbClr val="F59E0B"/>
                </a:solidFill>
                <a:latin typeface="Arial"/>
              </a:rPr>
              <a:t>WATCH FOR  </a:t>
            </a:r>
            <a:r>
              <a:rPr sz="1150" b="0">
                <a:solidFill>
                  <a:srgbClr val="161B26"/>
                </a:solidFill>
                <a:latin typeface="Arial"/>
              </a:rPr>
              <a:t>Instructing the AI to demand evidence at each level turns it into a facilitator, not an echo.</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2 — 5 Whys Root Cause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46304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463040" cy="402336"/>
          </a:xfrm>
          <a:prstGeom prst="rect">
            <a:avLst/>
          </a:prstGeom>
          <a:noFill/>
        </p:spPr>
        <p:txBody>
          <a:bodyPr wrap="square" anchor="ctr">
            <a:spAutoFit/>
          </a:bodyPr>
          <a:lstStyle/>
          <a:p>
            <a:pPr algn="ctr">
              <a:spcAft>
                <a:spcPts val="400"/>
              </a:spcAft>
            </a:pPr>
            <a:r>
              <a:rPr sz="1400" b="1">
                <a:solidFill>
                  <a:srgbClr val="FFFFFF"/>
                </a:solidFill>
                <a:latin typeface="Arial"/>
              </a:rPr>
              <a:t>ACTIVITY 2</a:t>
            </a:r>
          </a:p>
        </p:txBody>
      </p:sp>
      <p:sp>
        <p:nvSpPr>
          <p:cNvPr id="9" name="TextBox 8"/>
          <p:cNvSpPr txBox="1"/>
          <p:nvPr/>
        </p:nvSpPr>
        <p:spPr>
          <a:xfrm>
            <a:off x="2395728" y="1719072"/>
            <a:ext cx="8961120" cy="402336"/>
          </a:xfrm>
          <a:prstGeom prst="rect">
            <a:avLst/>
          </a:prstGeom>
          <a:noFill/>
        </p:spPr>
        <p:txBody>
          <a:bodyPr wrap="square" anchor="ctr">
            <a:spAutoFit/>
          </a:bodyPr>
          <a:lstStyle/>
          <a:p>
            <a:pPr algn="l">
              <a:spcAft>
                <a:spcPts val="400"/>
              </a:spcAft>
            </a:pPr>
            <a:r>
              <a:rPr sz="1100" b="0">
                <a:solidFill>
                  <a:srgbClr val="5B6372"/>
                </a:solidFill>
                <a:latin typeface="Arial"/>
              </a:rPr>
              <a:t>A2 · K2, K5 — Identify root causes with team members using structured group facilitation.</a:t>
            </a:r>
          </a:p>
        </p:txBody>
      </p:sp>
      <p:sp>
        <p:nvSpPr>
          <p:cNvPr id="10" name="Rectangle 9"/>
          <p:cNvSpPr/>
          <p:nvPr/>
        </p:nvSpPr>
        <p:spPr>
          <a:xfrm>
            <a:off x="777240" y="228600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14016"/>
            <a:ext cx="10149840" cy="329184"/>
          </a:xfrm>
          <a:prstGeom prst="rect">
            <a:avLst/>
          </a:prstGeom>
          <a:noFill/>
        </p:spPr>
        <p:txBody>
          <a:bodyPr wrap="square" anchor="t">
            <a:spAutoFit/>
          </a:bodyPr>
          <a:lstStyle/>
          <a:p>
            <a:pPr algn="l">
              <a:spcAft>
                <a:spcPts val="400"/>
              </a:spcAft>
            </a:pPr>
            <a:r>
              <a:rPr sz="1550" b="1">
                <a:solidFill>
                  <a:srgbClr val="161B26"/>
                </a:solidFill>
                <a:latin typeface="Arial"/>
              </a:rPr>
              <a:t>Meridian Health Screening — the 07:00 blood-test backlog</a:t>
            </a:r>
          </a:p>
        </p:txBody>
      </p:sp>
      <p:sp>
        <p:nvSpPr>
          <p:cNvPr id="13" name="TextBox 12"/>
          <p:cNvSpPr txBox="1"/>
          <p:nvPr/>
        </p:nvSpPr>
        <p:spPr>
          <a:xfrm>
            <a:off x="1078992" y="2779776"/>
            <a:ext cx="10149840" cy="731520"/>
          </a:xfrm>
          <a:prstGeom prst="rect">
            <a:avLst/>
          </a:prstGeom>
          <a:noFill/>
        </p:spPr>
        <p:txBody>
          <a:bodyPr wrap="square" anchor="t">
            <a:spAutoFit/>
          </a:bodyPr>
          <a:lstStyle/>
          <a:p>
            <a:pPr algn="l">
              <a:spcAft>
                <a:spcPts val="400"/>
              </a:spcAft>
            </a:pPr>
            <a:r>
              <a:rPr sz="1250" b="0">
                <a:solidFill>
                  <a:srgbClr val="5B6372"/>
                </a:solidFill>
                <a:latin typeface="Arial"/>
              </a:rPr>
              <a:t>Drive a staffing complaint down five levels to the systemic cause — and test a S$1.2m proposal against it.</a:t>
            </a:r>
          </a:p>
        </p:txBody>
      </p:sp>
      <p:sp>
        <p:nvSpPr>
          <p:cNvPr id="14" name="Rectangle 13"/>
          <p:cNvSpPr/>
          <p:nvPr/>
        </p:nvSpPr>
        <p:spPr>
          <a:xfrm>
            <a:off x="777240"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85615"/>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31920"/>
            <a:ext cx="2980944" cy="292608"/>
          </a:xfrm>
          <a:prstGeom prst="rect">
            <a:avLst/>
          </a:prstGeom>
          <a:noFill/>
        </p:spPr>
        <p:txBody>
          <a:bodyPr wrap="square" anchor="t">
            <a:spAutoFit/>
          </a:bodyPr>
          <a:lstStyle/>
          <a:p>
            <a:pPr algn="l">
              <a:spcAft>
                <a:spcPts val="400"/>
              </a:spcAft>
            </a:pPr>
            <a:r>
              <a:rPr sz="1100" b="1">
                <a:solidFill>
                  <a:srgbClr val="1F6FEB"/>
                </a:solidFill>
                <a:latin typeface="Arial"/>
              </a:rPr>
              <a:t>TEAM</a:t>
            </a:r>
          </a:p>
        </p:txBody>
      </p:sp>
      <p:sp>
        <p:nvSpPr>
          <p:cNvPr id="17" name="TextBox 16"/>
          <p:cNvSpPr txBox="1"/>
          <p:nvPr/>
        </p:nvSpPr>
        <p:spPr>
          <a:xfrm>
            <a:off x="996696"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Teams of 3-5</a:t>
            </a:r>
          </a:p>
        </p:txBody>
      </p:sp>
      <p:sp>
        <p:nvSpPr>
          <p:cNvPr id="18" name="Rectangle 17"/>
          <p:cNvSpPr/>
          <p:nvPr/>
        </p:nvSpPr>
        <p:spPr>
          <a:xfrm>
            <a:off x="4398264"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85615"/>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31920"/>
            <a:ext cx="2980944" cy="292608"/>
          </a:xfrm>
          <a:prstGeom prst="rect">
            <a:avLst/>
          </a:prstGeom>
          <a:noFill/>
        </p:spPr>
        <p:txBody>
          <a:bodyPr wrap="square" anchor="t">
            <a:spAutoFit/>
          </a:bodyPr>
          <a:lstStyle/>
          <a:p>
            <a:pPr algn="l">
              <a:spcAft>
                <a:spcPts val="400"/>
              </a:spcAft>
            </a:pPr>
            <a:r>
              <a:rPr sz="1100" b="1">
                <a:solidFill>
                  <a:srgbClr val="10B981"/>
                </a:solidFill>
                <a:latin typeface="Arial"/>
              </a:rPr>
              <a:t>TIME</a:t>
            </a:r>
          </a:p>
        </p:txBody>
      </p:sp>
      <p:sp>
        <p:nvSpPr>
          <p:cNvPr id="21" name="TextBox 20"/>
          <p:cNvSpPr txBox="1"/>
          <p:nvPr/>
        </p:nvSpPr>
        <p:spPr>
          <a:xfrm>
            <a:off x="4617720"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45 minutes</a:t>
            </a:r>
          </a:p>
        </p:txBody>
      </p:sp>
      <p:sp>
        <p:nvSpPr>
          <p:cNvPr id="22" name="Rectangle 21"/>
          <p:cNvSpPr/>
          <p:nvPr/>
        </p:nvSpPr>
        <p:spPr>
          <a:xfrm>
            <a:off x="8019288"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85615"/>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31920"/>
            <a:ext cx="2980944" cy="292608"/>
          </a:xfrm>
          <a:prstGeom prst="rect">
            <a:avLst/>
          </a:prstGeom>
          <a:noFill/>
        </p:spPr>
        <p:txBody>
          <a:bodyPr wrap="square" anchor="t">
            <a:spAutoFit/>
          </a:bodyPr>
          <a:lstStyle/>
          <a:p>
            <a:pPr algn="l">
              <a:spcAft>
                <a:spcPts val="400"/>
              </a:spcAft>
            </a:pPr>
            <a:r>
              <a:rPr sz="1100" b="1">
                <a:solidFill>
                  <a:srgbClr val="7C3AED"/>
                </a:solidFill>
                <a:latin typeface="Arial"/>
              </a:rPr>
              <a:t>TOOL</a:t>
            </a:r>
          </a:p>
        </p:txBody>
      </p:sp>
      <p:sp>
        <p:nvSpPr>
          <p:cNvPr id="25" name="TextBox 24"/>
          <p:cNvSpPr txBox="1"/>
          <p:nvPr/>
        </p:nvSpPr>
        <p:spPr>
          <a:xfrm>
            <a:off x="8238744" y="4261104"/>
            <a:ext cx="2980944" cy="914400"/>
          </a:xfrm>
          <a:prstGeom prst="rect">
            <a:avLst/>
          </a:prstGeom>
          <a:noFill/>
        </p:spPr>
        <p:txBody>
          <a:bodyPr wrap="square" anchor="t">
            <a:spAutoFit/>
          </a:bodyPr>
          <a:lstStyle/>
          <a:p>
            <a:pPr algn="l">
              <a:spcAft>
                <a:spcPts val="400"/>
              </a:spcAft>
            </a:pPr>
            <a:r>
              <a:rPr sz="1050" b="0">
                <a:solidFill>
                  <a:srgbClr val="161B26"/>
                </a:solidFill>
                <a:latin typeface="Arial"/>
              </a:rPr>
              <a:t>5 Whys Tool · https://alfredang.github.io/5whys/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2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Situation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02336"/>
          </a:xfrm>
          <a:prstGeom prst="rect">
            <a:avLst/>
          </a:prstGeom>
          <a:noFill/>
        </p:spPr>
        <p:txBody>
          <a:bodyPr wrap="square" anchor="ctr">
            <a:spAutoFit/>
          </a:bodyPr>
          <a:lstStyle/>
          <a:p>
            <a:pPr algn="ctr">
              <a:spcAft>
                <a:spcPts val="400"/>
              </a:spcAft>
            </a:pPr>
            <a:r>
              <a:rPr sz="1200" b="1">
                <a:solidFill>
                  <a:srgbClr val="FFFFFF"/>
                </a:solidFill>
                <a:latin typeface="Arial"/>
              </a:rPr>
              <a:t>CASE STUDY</a:t>
            </a:r>
          </a:p>
        </p:txBody>
      </p:sp>
      <p:sp>
        <p:nvSpPr>
          <p:cNvPr id="9" name="TextBox 8"/>
          <p:cNvSpPr txBox="1"/>
          <p:nvPr/>
        </p:nvSpPr>
        <p:spPr>
          <a:xfrm>
            <a:off x="2633472" y="1719072"/>
            <a:ext cx="8778240" cy="402336"/>
          </a:xfrm>
          <a:prstGeom prst="rect">
            <a:avLst/>
          </a:prstGeom>
          <a:noFill/>
        </p:spPr>
        <p:txBody>
          <a:bodyPr wrap="square" anchor="ctr">
            <a:spAutoFit/>
          </a:bodyPr>
          <a:lstStyle/>
          <a:p>
            <a:pPr algn="l">
              <a:spcAft>
                <a:spcPts val="400"/>
              </a:spcAft>
            </a:pPr>
            <a:r>
              <a:rPr sz="1500" b="1">
                <a:solidFill>
                  <a:srgbClr val="161B26"/>
                </a:solidFill>
                <a:latin typeface="Arial"/>
              </a:rPr>
              <a:t>Meridian Health Screening — the 07:00 blood-test backlog</a:t>
            </a:r>
          </a:p>
        </p:txBody>
      </p:sp>
      <p:sp>
        <p:nvSpPr>
          <p:cNvPr id="10" name="Rectangle 9"/>
          <p:cNvSpPr/>
          <p:nvPr/>
        </p:nvSpPr>
        <p:spPr>
          <a:xfrm>
            <a:off x="777240" y="2286000"/>
            <a:ext cx="10634472" cy="3931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3931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432304"/>
            <a:ext cx="10058400" cy="3657600"/>
          </a:xfrm>
          <a:prstGeom prst="rect">
            <a:avLst/>
          </a:prstGeom>
          <a:noFill/>
        </p:spPr>
        <p:txBody>
          <a:bodyPr wrap="square">
            <a:spAutoFit/>
          </a:bodyPr>
          <a:lstStyle/>
          <a:p>
            <a:pPr>
              <a:spcAft>
                <a:spcPts val="700"/>
              </a:spcAft>
            </a:pPr>
            <a:r>
              <a:rPr sz="1300">
                <a:solidFill>
                  <a:srgbClr val="161B26"/>
                </a:solidFill>
                <a:latin typeface="Arial"/>
              </a:rPr>
              <a:t>Meridian Health operates six health-screening centres in Singapore. Corporate clients book annual screening packages; the fasting blood draw must happen between 07:00 and 09:30.</a:t>
            </a:r>
          </a:p>
          <a:p>
            <a:pPr>
              <a:spcAft>
                <a:spcPts val="700"/>
              </a:spcAft>
            </a:pPr>
            <a:r>
              <a:rPr sz="1300">
                <a:solidFill>
                  <a:srgbClr val="161B26"/>
                </a:solidFill>
                <a:latin typeface="Arial"/>
              </a:rPr>
              <a:t>Over the last four months, 31% of morning appointments overrun by more than 40 minutes. Corporate clients have escalated twice. One major client (1,400 employees, S$310,000 annual contract) has given notice of review. The Operations Manager's proposal is to open a seventh centre at a capital cost of S$1.2m.</a:t>
            </a:r>
          </a:p>
          <a:p>
            <a:pPr>
              <a:spcAft>
                <a:spcPts val="700"/>
              </a:spcAft>
            </a:pPr>
            <a:r>
              <a:rPr sz="1300">
                <a:solidFill>
                  <a:srgbClr val="161B26"/>
                </a:solidFill>
                <a:latin typeface="Arial"/>
              </a:rPr>
              <a:t>The Clinical Director is unconvinced. She has asked your team to establish the ROOT CAUSE before the board approves any capital expenditure. The nurses tell you the same thing every morning: "We're just short-staffed." The data below says something more interesting.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Observation</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Value</a:t>
            </a:r>
          </a:p>
        </p:txBody>
      </p:sp>
      <p:sp>
        <p:nvSpPr>
          <p:cNvPr id="11" name="Rectangle 10"/>
          <p:cNvSpPr/>
          <p:nvPr/>
        </p:nvSpPr>
        <p:spPr>
          <a:xfrm>
            <a:off x="777240" y="2258568"/>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Booked slots 07:00-09:30</a:t>
            </a:r>
          </a:p>
        </p:txBody>
      </p:sp>
      <p:sp>
        <p:nvSpPr>
          <p:cNvPr id="13" name="Rectangle 12"/>
          <p:cNvSpPr/>
          <p:nvPr/>
        </p:nvSpPr>
        <p:spPr>
          <a:xfrm>
            <a:off x="3542202" y="2258568"/>
            <a:ext cx="786951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263513"/>
          </a:xfrm>
          <a:prstGeom prst="rect">
            <a:avLst/>
          </a:prstGeom>
          <a:noFill/>
        </p:spPr>
        <p:txBody>
          <a:bodyPr wrap="square" anchor="ctr">
            <a:spAutoFit/>
          </a:bodyPr>
          <a:lstStyle/>
          <a:p>
            <a:pPr algn="l">
              <a:spcAft>
                <a:spcPts val="400"/>
              </a:spcAft>
            </a:pPr>
            <a:r>
              <a:rPr sz="1150" b="0">
                <a:solidFill>
                  <a:srgbClr val="5B6372"/>
                </a:solidFill>
                <a:latin typeface="Arial"/>
              </a:rPr>
              <a:t>48 per centre</a:t>
            </a:r>
          </a:p>
        </p:txBody>
      </p:sp>
      <p:sp>
        <p:nvSpPr>
          <p:cNvPr id="15" name="Rectangle 14"/>
          <p:cNvSpPr/>
          <p:nvPr/>
        </p:nvSpPr>
        <p:spPr>
          <a:xfrm>
            <a:off x="777240" y="2522081"/>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522081"/>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Phlebotomists rostered 07:00</a:t>
            </a:r>
          </a:p>
        </p:txBody>
      </p:sp>
      <p:sp>
        <p:nvSpPr>
          <p:cNvPr id="17" name="Rectangle 16"/>
          <p:cNvSpPr/>
          <p:nvPr/>
        </p:nvSpPr>
        <p:spPr>
          <a:xfrm>
            <a:off x="3542202" y="2522081"/>
            <a:ext cx="786951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522081"/>
            <a:ext cx="7613478" cy="263513"/>
          </a:xfrm>
          <a:prstGeom prst="rect">
            <a:avLst/>
          </a:prstGeom>
          <a:noFill/>
        </p:spPr>
        <p:txBody>
          <a:bodyPr wrap="square" anchor="ctr">
            <a:spAutoFit/>
          </a:bodyPr>
          <a:lstStyle/>
          <a:p>
            <a:pPr algn="l">
              <a:spcAft>
                <a:spcPts val="400"/>
              </a:spcAft>
            </a:pPr>
            <a:r>
              <a:rPr sz="1150" b="0">
                <a:solidFill>
                  <a:srgbClr val="5B6372"/>
                </a:solidFill>
                <a:latin typeface="Arial"/>
              </a:rPr>
              <a:t>3 of 5</a:t>
            </a:r>
          </a:p>
        </p:txBody>
      </p:sp>
      <p:sp>
        <p:nvSpPr>
          <p:cNvPr id="19" name="Rectangle 18"/>
          <p:cNvSpPr/>
          <p:nvPr/>
        </p:nvSpPr>
        <p:spPr>
          <a:xfrm>
            <a:off x="777240" y="2785594"/>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85594"/>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Phlebotomists rostered 08:30</a:t>
            </a:r>
          </a:p>
        </p:txBody>
      </p:sp>
      <p:sp>
        <p:nvSpPr>
          <p:cNvPr id="21" name="Rectangle 20"/>
          <p:cNvSpPr/>
          <p:nvPr/>
        </p:nvSpPr>
        <p:spPr>
          <a:xfrm>
            <a:off x="3542202" y="2785594"/>
            <a:ext cx="786951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85594"/>
            <a:ext cx="7613478" cy="263513"/>
          </a:xfrm>
          <a:prstGeom prst="rect">
            <a:avLst/>
          </a:prstGeom>
          <a:noFill/>
        </p:spPr>
        <p:txBody>
          <a:bodyPr wrap="square" anchor="ctr">
            <a:spAutoFit/>
          </a:bodyPr>
          <a:lstStyle/>
          <a:p>
            <a:pPr algn="l">
              <a:spcAft>
                <a:spcPts val="400"/>
              </a:spcAft>
            </a:pPr>
            <a:r>
              <a:rPr sz="1150" b="0">
                <a:solidFill>
                  <a:srgbClr val="5B6372"/>
                </a:solidFill>
                <a:latin typeface="Arial"/>
              </a:rPr>
              <a:t>5 of 5</a:t>
            </a:r>
          </a:p>
        </p:txBody>
      </p:sp>
      <p:sp>
        <p:nvSpPr>
          <p:cNvPr id="23" name="Rectangle 22"/>
          <p:cNvSpPr/>
          <p:nvPr/>
        </p:nvSpPr>
        <p:spPr>
          <a:xfrm>
            <a:off x="777240" y="3049107"/>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049107"/>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Mean draw time, trained staff</a:t>
            </a:r>
          </a:p>
        </p:txBody>
      </p:sp>
      <p:sp>
        <p:nvSpPr>
          <p:cNvPr id="25" name="Rectangle 24"/>
          <p:cNvSpPr/>
          <p:nvPr/>
        </p:nvSpPr>
        <p:spPr>
          <a:xfrm>
            <a:off x="3542202" y="3049107"/>
            <a:ext cx="786951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3049107"/>
            <a:ext cx="7613478" cy="263513"/>
          </a:xfrm>
          <a:prstGeom prst="rect">
            <a:avLst/>
          </a:prstGeom>
          <a:noFill/>
        </p:spPr>
        <p:txBody>
          <a:bodyPr wrap="square" anchor="ctr">
            <a:spAutoFit/>
          </a:bodyPr>
          <a:lstStyle/>
          <a:p>
            <a:pPr algn="l">
              <a:spcAft>
                <a:spcPts val="400"/>
              </a:spcAft>
            </a:pPr>
            <a:r>
              <a:rPr sz="1150" b="0">
                <a:solidFill>
                  <a:srgbClr val="5B6372"/>
                </a:solidFill>
                <a:latin typeface="Arial"/>
              </a:rPr>
              <a:t>6 min</a:t>
            </a:r>
          </a:p>
        </p:txBody>
      </p:sp>
      <p:sp>
        <p:nvSpPr>
          <p:cNvPr id="27" name="Rectangle 26"/>
          <p:cNvSpPr/>
          <p:nvPr/>
        </p:nvSpPr>
        <p:spPr>
          <a:xfrm>
            <a:off x="777240" y="3312620"/>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3312620"/>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Mean draw time, relief staff</a:t>
            </a:r>
          </a:p>
        </p:txBody>
      </p:sp>
      <p:sp>
        <p:nvSpPr>
          <p:cNvPr id="29" name="Rectangle 28"/>
          <p:cNvSpPr/>
          <p:nvPr/>
        </p:nvSpPr>
        <p:spPr>
          <a:xfrm>
            <a:off x="3542202" y="3312620"/>
            <a:ext cx="786951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3312620"/>
            <a:ext cx="7613478" cy="263513"/>
          </a:xfrm>
          <a:prstGeom prst="rect">
            <a:avLst/>
          </a:prstGeom>
          <a:noFill/>
        </p:spPr>
        <p:txBody>
          <a:bodyPr wrap="square" anchor="ctr">
            <a:spAutoFit/>
          </a:bodyPr>
          <a:lstStyle/>
          <a:p>
            <a:pPr algn="l">
              <a:spcAft>
                <a:spcPts val="400"/>
              </a:spcAft>
            </a:pPr>
            <a:r>
              <a:rPr sz="1150" b="0">
                <a:solidFill>
                  <a:srgbClr val="5B6372"/>
                </a:solidFill>
                <a:latin typeface="Arial"/>
              </a:rPr>
              <a:t>14 min</a:t>
            </a:r>
          </a:p>
        </p:txBody>
      </p:sp>
      <p:sp>
        <p:nvSpPr>
          <p:cNvPr id="31" name="Rectangle 30"/>
          <p:cNvSpPr/>
          <p:nvPr/>
        </p:nvSpPr>
        <p:spPr>
          <a:xfrm>
            <a:off x="777240" y="3576133"/>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76133"/>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Relief staff share of morning roster</a:t>
            </a:r>
          </a:p>
        </p:txBody>
      </p:sp>
      <p:sp>
        <p:nvSpPr>
          <p:cNvPr id="33" name="Rectangle 32"/>
          <p:cNvSpPr/>
          <p:nvPr/>
        </p:nvSpPr>
        <p:spPr>
          <a:xfrm>
            <a:off x="3542202" y="3576133"/>
            <a:ext cx="786951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76133"/>
            <a:ext cx="7613478" cy="263513"/>
          </a:xfrm>
          <a:prstGeom prst="rect">
            <a:avLst/>
          </a:prstGeom>
          <a:noFill/>
        </p:spPr>
        <p:txBody>
          <a:bodyPr wrap="square" anchor="ctr">
            <a:spAutoFit/>
          </a:bodyPr>
          <a:lstStyle/>
          <a:p>
            <a:pPr algn="l">
              <a:spcAft>
                <a:spcPts val="400"/>
              </a:spcAft>
            </a:pPr>
            <a:r>
              <a:rPr sz="1150" b="0">
                <a:solidFill>
                  <a:srgbClr val="5B6372"/>
                </a:solidFill>
                <a:latin typeface="Arial"/>
              </a:rPr>
              <a:t>40%</a:t>
            </a:r>
          </a:p>
        </p:txBody>
      </p:sp>
      <p:sp>
        <p:nvSpPr>
          <p:cNvPr id="35" name="Rectangle 34"/>
          <p:cNvSpPr/>
          <p:nvPr/>
        </p:nvSpPr>
        <p:spPr>
          <a:xfrm>
            <a:off x="777240" y="3839646"/>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3839646"/>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Repeat draws (failed first attempt)</a:t>
            </a:r>
          </a:p>
        </p:txBody>
      </p:sp>
      <p:sp>
        <p:nvSpPr>
          <p:cNvPr id="37" name="Rectangle 36"/>
          <p:cNvSpPr/>
          <p:nvPr/>
        </p:nvSpPr>
        <p:spPr>
          <a:xfrm>
            <a:off x="3542202" y="3839646"/>
            <a:ext cx="786951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70218" y="3839646"/>
            <a:ext cx="7613478" cy="263513"/>
          </a:xfrm>
          <a:prstGeom prst="rect">
            <a:avLst/>
          </a:prstGeom>
          <a:noFill/>
        </p:spPr>
        <p:txBody>
          <a:bodyPr wrap="square" anchor="ctr">
            <a:spAutoFit/>
          </a:bodyPr>
          <a:lstStyle/>
          <a:p>
            <a:pPr algn="l">
              <a:spcAft>
                <a:spcPts val="400"/>
              </a:spcAft>
            </a:pPr>
            <a:r>
              <a:rPr sz="1150" b="0">
                <a:solidFill>
                  <a:srgbClr val="5B6372"/>
                </a:solidFill>
                <a:latin typeface="Arial"/>
              </a:rPr>
              <a:t>18%</a:t>
            </a:r>
          </a:p>
        </p:txBody>
      </p:sp>
      <p:sp>
        <p:nvSpPr>
          <p:cNvPr id="39" name="Rectangle 38"/>
          <p:cNvSpPr/>
          <p:nvPr/>
        </p:nvSpPr>
        <p:spPr>
          <a:xfrm>
            <a:off x="777240" y="4103159"/>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103159"/>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Clients arriving without fasting compliance</a:t>
            </a:r>
          </a:p>
        </p:txBody>
      </p:sp>
      <p:sp>
        <p:nvSpPr>
          <p:cNvPr id="41" name="Rectangle 40"/>
          <p:cNvSpPr/>
          <p:nvPr/>
        </p:nvSpPr>
        <p:spPr>
          <a:xfrm>
            <a:off x="3542202" y="4103159"/>
            <a:ext cx="786951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103159"/>
            <a:ext cx="7613478" cy="263513"/>
          </a:xfrm>
          <a:prstGeom prst="rect">
            <a:avLst/>
          </a:prstGeom>
          <a:noFill/>
        </p:spPr>
        <p:txBody>
          <a:bodyPr wrap="square" anchor="ctr">
            <a:spAutoFit/>
          </a:bodyPr>
          <a:lstStyle/>
          <a:p>
            <a:pPr algn="l">
              <a:spcAft>
                <a:spcPts val="400"/>
              </a:spcAft>
            </a:pPr>
            <a:r>
              <a:rPr sz="1150" b="0">
                <a:solidFill>
                  <a:srgbClr val="5B6372"/>
                </a:solidFill>
                <a:latin typeface="Arial"/>
              </a:rPr>
              <a:t>12%</a:t>
            </a:r>
          </a:p>
        </p:txBody>
      </p:sp>
      <p:sp>
        <p:nvSpPr>
          <p:cNvPr id="43" name="Rectangle 42"/>
          <p:cNvSpPr/>
          <p:nvPr/>
        </p:nvSpPr>
        <p:spPr>
          <a:xfrm>
            <a:off x="777240" y="4366672"/>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66672"/>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Lab courier pickup (fixed)</a:t>
            </a:r>
          </a:p>
        </p:txBody>
      </p:sp>
      <p:sp>
        <p:nvSpPr>
          <p:cNvPr id="45" name="Rectangle 44"/>
          <p:cNvSpPr/>
          <p:nvPr/>
        </p:nvSpPr>
        <p:spPr>
          <a:xfrm>
            <a:off x="3542202" y="4366672"/>
            <a:ext cx="786951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66672"/>
            <a:ext cx="7613478" cy="263513"/>
          </a:xfrm>
          <a:prstGeom prst="rect">
            <a:avLst/>
          </a:prstGeom>
          <a:noFill/>
        </p:spPr>
        <p:txBody>
          <a:bodyPr wrap="square" anchor="ctr">
            <a:spAutoFit/>
          </a:bodyPr>
          <a:lstStyle/>
          <a:p>
            <a:pPr algn="l">
              <a:spcAft>
                <a:spcPts val="400"/>
              </a:spcAft>
            </a:pPr>
            <a:r>
              <a:rPr sz="1150" b="0">
                <a:solidFill>
                  <a:srgbClr val="5B6372"/>
                </a:solidFill>
                <a:latin typeface="Arial"/>
              </a:rPr>
              <a:t>09:45</a:t>
            </a:r>
          </a:p>
        </p:txBody>
      </p:sp>
      <p:sp>
        <p:nvSpPr>
          <p:cNvPr id="47" name="Rectangle 46"/>
          <p:cNvSpPr/>
          <p:nvPr/>
        </p:nvSpPr>
        <p:spPr>
          <a:xfrm>
            <a:off x="777240" y="4630185"/>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630185"/>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Samples missing the 09:45 courier</a:t>
            </a:r>
          </a:p>
        </p:txBody>
      </p:sp>
      <p:sp>
        <p:nvSpPr>
          <p:cNvPr id="49" name="Rectangle 48"/>
          <p:cNvSpPr/>
          <p:nvPr/>
        </p:nvSpPr>
        <p:spPr>
          <a:xfrm>
            <a:off x="3542202" y="4630185"/>
            <a:ext cx="786951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630185"/>
            <a:ext cx="7613478" cy="263513"/>
          </a:xfrm>
          <a:prstGeom prst="rect">
            <a:avLst/>
          </a:prstGeom>
          <a:noFill/>
        </p:spPr>
        <p:txBody>
          <a:bodyPr wrap="square" anchor="ctr">
            <a:spAutoFit/>
          </a:bodyPr>
          <a:lstStyle/>
          <a:p>
            <a:pPr algn="l">
              <a:spcAft>
                <a:spcPts val="400"/>
              </a:spcAft>
            </a:pPr>
            <a:r>
              <a:rPr sz="1150" b="0">
                <a:solidFill>
                  <a:srgbClr val="5B6372"/>
                </a:solidFill>
                <a:latin typeface="Arial"/>
              </a:rPr>
              <a:t>23%</a:t>
            </a:r>
          </a:p>
        </p:txBody>
      </p:sp>
      <p:sp>
        <p:nvSpPr>
          <p:cNvPr id="51" name="Rectangle 50"/>
          <p:cNvSpPr/>
          <p:nvPr/>
        </p:nvSpPr>
        <p:spPr>
          <a:xfrm>
            <a:off x="777240" y="4893698"/>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5256" y="4893698"/>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Permanent staff turnover, 12 months</a:t>
            </a:r>
          </a:p>
        </p:txBody>
      </p:sp>
      <p:sp>
        <p:nvSpPr>
          <p:cNvPr id="53" name="Rectangle 52"/>
          <p:cNvSpPr/>
          <p:nvPr/>
        </p:nvSpPr>
        <p:spPr>
          <a:xfrm>
            <a:off x="3542202" y="4893698"/>
            <a:ext cx="786951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70218" y="4893698"/>
            <a:ext cx="7613478" cy="263513"/>
          </a:xfrm>
          <a:prstGeom prst="rect">
            <a:avLst/>
          </a:prstGeom>
          <a:noFill/>
        </p:spPr>
        <p:txBody>
          <a:bodyPr wrap="square" anchor="ctr">
            <a:spAutoFit/>
          </a:bodyPr>
          <a:lstStyle/>
          <a:p>
            <a:pPr algn="l">
              <a:spcAft>
                <a:spcPts val="400"/>
              </a:spcAft>
            </a:pPr>
            <a:r>
              <a:rPr sz="1150" b="0">
                <a:solidFill>
                  <a:srgbClr val="5B6372"/>
                </a:solidFill>
                <a:latin typeface="Arial"/>
              </a:rPr>
              <a:t>44%</a:t>
            </a:r>
          </a:p>
        </p:txBody>
      </p:sp>
      <p:sp>
        <p:nvSpPr>
          <p:cNvPr id="55" name="Rectangle 54"/>
          <p:cNvSpPr/>
          <p:nvPr/>
        </p:nvSpPr>
        <p:spPr>
          <a:xfrm>
            <a:off x="777240" y="5358379"/>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79"/>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7"/>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Meridian Health — morning screening operations, 4-month sample</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BREAKOUT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2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F6FEB"/>
                </a:solidFill>
                <a:latin typeface="Arial"/>
              </a:rPr>
              <a:t>DISCUSSION QUESTIONS</a:t>
            </a:r>
          </a:p>
        </p:txBody>
      </p:sp>
      <p:sp>
        <p:nvSpPr>
          <p:cNvPr id="10" name="Rectangle 9"/>
          <p:cNvSpPr/>
          <p:nvPr/>
        </p:nvSpPr>
        <p:spPr>
          <a:xfrm>
            <a:off x="777240" y="2231136"/>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237561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75611"/>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Q1</a:t>
            </a:r>
          </a:p>
        </p:txBody>
      </p:sp>
      <p:sp>
        <p:nvSpPr>
          <p:cNvPr id="14" name="TextBox 13"/>
          <p:cNvSpPr txBox="1"/>
          <p:nvPr/>
        </p:nvSpPr>
        <p:spPr>
          <a:xfrm>
            <a:off x="1609344" y="2231136"/>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Run the 5 Whys to five levels. At which level did you stop describing WHAT happens and start explaining WHY the system produces it?</a:t>
            </a:r>
          </a:p>
        </p:txBody>
      </p:sp>
      <p:sp>
        <p:nvSpPr>
          <p:cNvPr id="15" name="Rectangle 14"/>
          <p:cNvSpPr/>
          <p:nvPr/>
        </p:nvSpPr>
        <p:spPr>
          <a:xfrm>
            <a:off x="777240" y="3059582"/>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59582"/>
            <a:ext cx="82296" cy="7095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32040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204057"/>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Q2</a:t>
            </a:r>
          </a:p>
        </p:txBody>
      </p:sp>
      <p:sp>
        <p:nvSpPr>
          <p:cNvPr id="19" name="TextBox 18"/>
          <p:cNvSpPr txBox="1"/>
          <p:nvPr/>
        </p:nvSpPr>
        <p:spPr>
          <a:xfrm>
            <a:off x="1609344" y="3059582"/>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The nurses say 'we're short-staffed'. The data shows all 5 phlebotomists are rostered by 08:30. What is the real constraint — headcount, or something else?</a:t>
            </a:r>
          </a:p>
        </p:txBody>
      </p:sp>
      <p:sp>
        <p:nvSpPr>
          <p:cNvPr id="20" name="Rectangle 19"/>
          <p:cNvSpPr/>
          <p:nvPr/>
        </p:nvSpPr>
        <p:spPr>
          <a:xfrm>
            <a:off x="777240" y="3888028"/>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88028"/>
            <a:ext cx="82296" cy="7095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 y="4032503"/>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032503"/>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Q3</a:t>
            </a:r>
          </a:p>
        </p:txBody>
      </p:sp>
      <p:sp>
        <p:nvSpPr>
          <p:cNvPr id="24" name="TextBox 23"/>
          <p:cNvSpPr txBox="1"/>
          <p:nvPr/>
        </p:nvSpPr>
        <p:spPr>
          <a:xfrm>
            <a:off x="1609344" y="3888028"/>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Trace the causal chain to 44% annual turnover. If turnover is the root cause, what does that say about the S$1.2m seventh centre proposal?</a:t>
            </a:r>
          </a:p>
        </p:txBody>
      </p:sp>
      <p:sp>
        <p:nvSpPr>
          <p:cNvPr id="25" name="Rectangle 24"/>
          <p:cNvSpPr/>
          <p:nvPr/>
        </p:nvSpPr>
        <p:spPr>
          <a:xfrm>
            <a:off x="777240" y="4716474"/>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716474"/>
            <a:ext cx="82296" cy="70957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860949"/>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860949"/>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Q4</a:t>
            </a:r>
          </a:p>
        </p:txBody>
      </p:sp>
      <p:sp>
        <p:nvSpPr>
          <p:cNvPr id="29" name="TextBox 28"/>
          <p:cNvSpPr txBox="1"/>
          <p:nvPr/>
        </p:nvSpPr>
        <p:spPr>
          <a:xfrm>
            <a:off x="1609344" y="4716474"/>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Where could this 5 Whys chain have gone wrong? Identify one point where a different, equally plausible 'why' would have led you somewhere completely different.</a:t>
            </a:r>
          </a:p>
        </p:txBody>
      </p:sp>
      <p:sp>
        <p:nvSpPr>
          <p:cNvPr id="30" name="Rectangle 29"/>
          <p:cNvSpPr/>
          <p:nvPr/>
        </p:nvSpPr>
        <p:spPr>
          <a:xfrm>
            <a:off x="777240" y="5544920"/>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544920"/>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5840" y="5689395"/>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689395"/>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Q5</a:t>
            </a:r>
          </a:p>
        </p:txBody>
      </p:sp>
      <p:sp>
        <p:nvSpPr>
          <p:cNvPr id="34" name="TextBox 33"/>
          <p:cNvSpPr txBox="1"/>
          <p:nvPr/>
        </p:nvSpPr>
        <p:spPr>
          <a:xfrm>
            <a:off x="1609344" y="5544920"/>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The GenAI facilitator challenged at least one of your answers as opinion rather than fact. Which one, and were you able to supply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WHAT WE LEARNED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2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0B981"/>
                </a:solidFill>
                <a:latin typeface="Arial"/>
              </a:rPr>
              <a:t>TRAINER DEBRIEF</a:t>
            </a:r>
          </a:p>
        </p:txBody>
      </p:sp>
      <p:sp>
        <p:nvSpPr>
          <p:cNvPr id="10" name="Rectangle 9"/>
          <p:cNvSpPr/>
          <p:nvPr/>
        </p:nvSpPr>
        <p:spPr>
          <a:xfrm>
            <a:off x="777240" y="2231136"/>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31720"/>
            <a:ext cx="10058400" cy="292608"/>
          </a:xfrm>
          <a:prstGeom prst="rect">
            <a:avLst/>
          </a:prstGeom>
          <a:noFill/>
        </p:spPr>
        <p:txBody>
          <a:bodyPr wrap="square" anchor="t">
            <a:spAutoFit/>
          </a:bodyPr>
          <a:lstStyle/>
          <a:p>
            <a:pPr algn="l">
              <a:spcAft>
                <a:spcPts val="400"/>
              </a:spcAft>
            </a:pPr>
            <a:r>
              <a:rPr sz="1050" b="1">
                <a:solidFill>
                  <a:srgbClr val="1F6FEB"/>
                </a:solidFill>
                <a:latin typeface="Arial"/>
              </a:rPr>
              <a:t>THE CHAIN</a:t>
            </a:r>
          </a:p>
        </p:txBody>
      </p:sp>
      <p:sp>
        <p:nvSpPr>
          <p:cNvPr id="13" name="TextBox 12"/>
          <p:cNvSpPr txBox="1"/>
          <p:nvPr/>
        </p:nvSpPr>
        <p:spPr>
          <a:xfrm>
            <a:off x="1097280" y="2642616"/>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Overrun → relief staff at 14 min → only 3 of 5 permanent rostered → 44% turnover → unattractive early shift with no onboarding or career path.</a:t>
            </a:r>
          </a:p>
        </p:txBody>
      </p:sp>
      <p:sp>
        <p:nvSpPr>
          <p:cNvPr id="14" name="Rectangle 13"/>
          <p:cNvSpPr/>
          <p:nvPr/>
        </p:nvSpPr>
        <p:spPr>
          <a:xfrm>
            <a:off x="777240" y="3268980"/>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8980"/>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69564"/>
            <a:ext cx="10058400" cy="292608"/>
          </a:xfrm>
          <a:prstGeom prst="rect">
            <a:avLst/>
          </a:prstGeom>
          <a:noFill/>
        </p:spPr>
        <p:txBody>
          <a:bodyPr wrap="square" anchor="t">
            <a:spAutoFit/>
          </a:bodyPr>
          <a:lstStyle/>
          <a:p>
            <a:pPr algn="l">
              <a:spcAft>
                <a:spcPts val="400"/>
              </a:spcAft>
            </a:pPr>
            <a:r>
              <a:rPr sz="1050" b="1">
                <a:solidFill>
                  <a:srgbClr val="10B981"/>
                </a:solidFill>
                <a:latin typeface="Arial"/>
              </a:rPr>
              <a:t>THE S$1.2M TEST</a:t>
            </a:r>
          </a:p>
        </p:txBody>
      </p:sp>
      <p:sp>
        <p:nvSpPr>
          <p:cNvPr id="17" name="TextBox 16"/>
          <p:cNvSpPr txBox="1"/>
          <p:nvPr/>
        </p:nvSpPr>
        <p:spPr>
          <a:xfrm>
            <a:off x="1097280" y="3680460"/>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A seventh centre staffed by the same untrained relief pool reproduces the same overrun. You buy the problem twice.</a:t>
            </a:r>
          </a:p>
        </p:txBody>
      </p:sp>
      <p:sp>
        <p:nvSpPr>
          <p:cNvPr id="18" name="Rectangle 17"/>
          <p:cNvSpPr/>
          <p:nvPr/>
        </p:nvSpPr>
        <p:spPr>
          <a:xfrm>
            <a:off x="777240" y="4306824"/>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06824"/>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10058400" cy="292608"/>
          </a:xfrm>
          <a:prstGeom prst="rect">
            <a:avLst/>
          </a:prstGeom>
          <a:noFill/>
        </p:spPr>
        <p:txBody>
          <a:bodyPr wrap="square" anchor="t">
            <a:spAutoFit/>
          </a:bodyPr>
          <a:lstStyle/>
          <a:p>
            <a:pPr algn="l">
              <a:spcAft>
                <a:spcPts val="400"/>
              </a:spcAft>
            </a:pPr>
            <a:r>
              <a:rPr sz="1050" b="1">
                <a:solidFill>
                  <a:srgbClr val="7C3AED"/>
                </a:solidFill>
                <a:latin typeface="Arial"/>
              </a:rPr>
              <a:t>FACILITATION DISCIPLINE</a:t>
            </a:r>
          </a:p>
        </p:txBody>
      </p:sp>
      <p:sp>
        <p:nvSpPr>
          <p:cNvPr id="21" name="TextBox 20"/>
          <p:cNvSpPr txBox="1"/>
          <p:nvPr/>
        </p:nvSpPr>
        <p:spPr>
          <a:xfrm>
            <a:off x="1097280" y="4718304"/>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One why at a time; every level must survive 'what evidence supports this?'. The AI modelling that challenge is the K5 outcome.</a:t>
            </a:r>
          </a:p>
        </p:txBody>
      </p:sp>
      <p:sp>
        <p:nvSpPr>
          <p:cNvPr id="22" name="Rectangle 21"/>
          <p:cNvSpPr/>
          <p:nvPr/>
        </p:nvSpPr>
        <p:spPr>
          <a:xfrm>
            <a:off x="777240" y="5344668"/>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44668"/>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445252"/>
            <a:ext cx="10058400" cy="292608"/>
          </a:xfrm>
          <a:prstGeom prst="rect">
            <a:avLst/>
          </a:prstGeom>
          <a:noFill/>
        </p:spPr>
        <p:txBody>
          <a:bodyPr wrap="square" anchor="t">
            <a:spAutoFit/>
          </a:bodyPr>
          <a:lstStyle/>
          <a:p>
            <a:pPr algn="l">
              <a:spcAft>
                <a:spcPts val="400"/>
              </a:spcAft>
            </a:pPr>
            <a:r>
              <a:rPr sz="1050" b="1">
                <a:solidFill>
                  <a:srgbClr val="F59E0B"/>
                </a:solidFill>
                <a:latin typeface="Arial"/>
              </a:rPr>
              <a:t>THE BRANCH POINT</a:t>
            </a:r>
          </a:p>
        </p:txBody>
      </p:sp>
      <p:sp>
        <p:nvSpPr>
          <p:cNvPr id="25" name="TextBox 24"/>
          <p:cNvSpPr txBox="1"/>
          <p:nvPr/>
        </p:nvSpPr>
        <p:spPr>
          <a:xfrm>
            <a:off x="1097280" y="5756148"/>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At Why 2 a team could have followed the 12% fasting non-compliance instead. That is a legitimate second cause — and exactly why we use Fishbone next.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BREADTH ACROSS ALL DIMENSIONS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Fishbone (Ishikawa)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Who invented it</a:t>
            </a:r>
          </a:p>
          <a:p>
            <a:pPr algn="l">
              <a:spcAft>
                <a:spcPts val="300"/>
              </a:spcAft>
            </a:pPr>
            <a:r>
              <a:rPr sz="1100" b="0">
                <a:solidFill>
                  <a:srgbClr val="5B6372"/>
                </a:solidFill>
                <a:latin typeface="Arial"/>
              </a:rPr>
              <a:t>Dr Kaoru Ishikawa, Japanese quality control expert — to stop teams treating symptoms.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it does</a:t>
            </a:r>
          </a:p>
          <a:p>
            <a:pPr algn="l">
              <a:spcAft>
                <a:spcPts val="300"/>
              </a:spcAft>
            </a:pPr>
            <a:r>
              <a:rPr sz="1100" b="0">
                <a:solidFill>
                  <a:srgbClr val="5B6372"/>
                </a:solidFill>
                <a:latin typeface="Arial"/>
              </a:rPr>
              <a:t>Categorises every potential cause of one problem so nothing is missed.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head</a:t>
            </a:r>
          </a:p>
          <a:p>
            <a:pPr algn="l">
              <a:spcAft>
                <a:spcPts val="300"/>
              </a:spcAft>
            </a:pPr>
            <a:r>
              <a:rPr sz="1100" b="0">
                <a:solidFill>
                  <a:srgbClr val="5B6372"/>
                </a:solidFill>
                <a:latin typeface="Arial"/>
              </a:rPr>
              <a:t>The problem statement — measurable, with the number.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bones</a:t>
            </a:r>
          </a:p>
          <a:p>
            <a:pPr algn="l">
              <a:spcAft>
                <a:spcPts val="300"/>
              </a:spcAft>
            </a:pPr>
            <a:r>
              <a:rPr sz="1100" b="0">
                <a:solidFill>
                  <a:srgbClr val="5B6372"/>
                </a:solidFill>
                <a:latin typeface="Arial"/>
              </a:rPr>
              <a:t>People · Process · Technology · Material/Information · Environment · Measurement.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twigs</a:t>
            </a:r>
          </a:p>
          <a:p>
            <a:pPr algn="l">
              <a:spcAft>
                <a:spcPts val="300"/>
              </a:spcAft>
            </a:pPr>
            <a:r>
              <a:rPr sz="1100" b="0">
                <a:solidFill>
                  <a:srgbClr val="5B6372"/>
                </a:solidFill>
                <a:latin typeface="Arial"/>
              </a:rPr>
              <a:t>Specific candidate causes on each bone, phrased as causes, not complaints.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payoff</a:t>
            </a:r>
          </a:p>
          <a:p>
            <a:pPr algn="l">
              <a:spcAft>
                <a:spcPts val="300"/>
              </a:spcAft>
            </a:pPr>
            <a:r>
              <a:rPr sz="1100" b="0">
                <a:solidFill>
                  <a:srgbClr val="5B6372"/>
                </a:solidFill>
                <a:latin typeface="Arial"/>
              </a:rPr>
              <a:t>Shows you which dimension your intervention is actually targeting.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BONES  ·  EVIDENCE-LOADED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Fishbone — Horizon Bank Jurong East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914400" y="4059936"/>
            <a:ext cx="8915400" cy="0"/>
          </a:xfrm>
          <a:prstGeom prst="line">
            <a:avLst/>
          </a:prstGeom>
          <a:ln w="33020">
            <a:solidFill>
              <a:srgbClr val="161B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829800" y="3282696"/>
            <a:ext cx="2212848" cy="1554480"/>
          </a:xfrm>
          <a:prstGeom prst="roundRect">
            <a:avLst>
              <a:gd name="adj" fmla="val 1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FFFFFF"/>
                </a:solidFill>
                <a:latin typeface="Arial"/>
              </a:rPr>
              <a:t>60 complaints/month (network avg 14); 58-min peak wait vs a 15-min standard</a:t>
            </a:r>
          </a:p>
        </p:txBody>
      </p:sp>
      <p:cxnSp>
        <p:nvCxnSpPr>
          <p:cNvPr id="9" name="Connector 8"/>
          <p:cNvCxnSpPr/>
          <p:nvPr/>
        </p:nvCxnSpPr>
        <p:spPr>
          <a:xfrm flipH="1" flipV="1">
            <a:off x="2009086" y="2999232"/>
            <a:ext cx="457200" cy="1060704"/>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186126" y="2633472"/>
            <a:ext cx="1645920" cy="3291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PEOPLE</a:t>
            </a:r>
          </a:p>
        </p:txBody>
      </p:sp>
      <p:sp>
        <p:nvSpPr>
          <p:cNvPr id="11" name="TextBox 10"/>
          <p:cNvSpPr txBox="1"/>
          <p:nvPr/>
        </p:nvSpPr>
        <p:spPr>
          <a:xfrm>
            <a:off x="1048966" y="2340864"/>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44% tellers under 6 months</a:t>
            </a:r>
          </a:p>
        </p:txBody>
      </p:sp>
      <p:sp>
        <p:nvSpPr>
          <p:cNvPr id="12" name="TextBox 11"/>
          <p:cNvSpPr txBox="1"/>
          <p:nvPr/>
        </p:nvSpPr>
        <p:spPr>
          <a:xfrm>
            <a:off x="1048966" y="2066544"/>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Two resignations this quarter</a:t>
            </a:r>
          </a:p>
        </p:txBody>
      </p:sp>
      <p:sp>
        <p:nvSpPr>
          <p:cNvPr id="13" name="TextBox 12"/>
          <p:cNvSpPr txBox="1"/>
          <p:nvPr/>
        </p:nvSpPr>
        <p:spPr>
          <a:xfrm>
            <a:off x="1048966" y="1792224"/>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Thin coaching</a:t>
            </a:r>
          </a:p>
        </p:txBody>
      </p:sp>
      <p:cxnSp>
        <p:nvCxnSpPr>
          <p:cNvPr id="14" name="Connector 13"/>
          <p:cNvCxnSpPr/>
          <p:nvPr/>
        </p:nvCxnSpPr>
        <p:spPr>
          <a:xfrm flipH="1" flipV="1">
            <a:off x="4506626" y="2999232"/>
            <a:ext cx="457200" cy="10607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683666" y="2633472"/>
            <a:ext cx="1645920" cy="3291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TECHNOLOGY</a:t>
            </a:r>
          </a:p>
        </p:txBody>
      </p:sp>
      <p:sp>
        <p:nvSpPr>
          <p:cNvPr id="16" name="TextBox 15"/>
          <p:cNvSpPr txBox="1"/>
          <p:nvPr/>
        </p:nvSpPr>
        <p:spPr>
          <a:xfrm>
            <a:off x="3546506" y="2340864"/>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KYC needs triple data entry</a:t>
            </a:r>
          </a:p>
        </p:txBody>
      </p:sp>
      <p:sp>
        <p:nvSpPr>
          <p:cNvPr id="17" name="TextBox 16"/>
          <p:cNvSpPr txBox="1"/>
          <p:nvPr/>
        </p:nvSpPr>
        <p:spPr>
          <a:xfrm>
            <a:off x="3546506" y="2066544"/>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Screen response 2s → 8s</a:t>
            </a:r>
          </a:p>
        </p:txBody>
      </p:sp>
      <p:sp>
        <p:nvSpPr>
          <p:cNvPr id="18" name="TextBox 17"/>
          <p:cNvSpPr txBox="1"/>
          <p:nvPr/>
        </p:nvSpPr>
        <p:spPr>
          <a:xfrm>
            <a:off x="3546506" y="1792224"/>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Systems not integrated</a:t>
            </a:r>
          </a:p>
        </p:txBody>
      </p:sp>
      <p:cxnSp>
        <p:nvCxnSpPr>
          <p:cNvPr id="19" name="Connector 18"/>
          <p:cNvCxnSpPr/>
          <p:nvPr/>
        </p:nvCxnSpPr>
        <p:spPr>
          <a:xfrm flipH="1" flipV="1">
            <a:off x="7004166" y="2999232"/>
            <a:ext cx="457200" cy="1060704"/>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181206" y="2633472"/>
            <a:ext cx="1645920" cy="3291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ENVIRONMENT</a:t>
            </a:r>
          </a:p>
        </p:txBody>
      </p:sp>
      <p:sp>
        <p:nvSpPr>
          <p:cNvPr id="21" name="TextBox 20"/>
          <p:cNvSpPr txBox="1"/>
          <p:nvPr/>
        </p:nvSpPr>
        <p:spPr>
          <a:xfrm>
            <a:off x="6044046" y="2340864"/>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18 seats for a 58-min wait</a:t>
            </a:r>
          </a:p>
        </p:txBody>
      </p:sp>
      <p:sp>
        <p:nvSpPr>
          <p:cNvPr id="22" name="TextBox 21"/>
          <p:cNvSpPr txBox="1"/>
          <p:nvPr/>
        </p:nvSpPr>
        <p:spPr>
          <a:xfrm>
            <a:off x="6044046" y="2066544"/>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Standing customers agitated</a:t>
            </a:r>
          </a:p>
        </p:txBody>
      </p:sp>
      <p:sp>
        <p:nvSpPr>
          <p:cNvPr id="23" name="TextBox 22"/>
          <p:cNvSpPr txBox="1"/>
          <p:nvPr/>
        </p:nvSpPr>
        <p:spPr>
          <a:xfrm>
            <a:off x="6044046" y="1792224"/>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No queue visibility</a:t>
            </a:r>
          </a:p>
        </p:txBody>
      </p:sp>
      <p:cxnSp>
        <p:nvCxnSpPr>
          <p:cNvPr id="24" name="Connector 23"/>
          <p:cNvCxnSpPr/>
          <p:nvPr/>
        </p:nvCxnSpPr>
        <p:spPr>
          <a:xfrm flipH="1">
            <a:off x="2009086" y="4059936"/>
            <a:ext cx="457200" cy="1060704"/>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186126" y="5138928"/>
            <a:ext cx="16459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PROCESS</a:t>
            </a:r>
          </a:p>
        </p:txBody>
      </p:sp>
      <p:sp>
        <p:nvSpPr>
          <p:cNvPr id="26" name="TextBox 25"/>
          <p:cNvSpPr txBox="1"/>
          <p:nvPr/>
        </p:nvSpPr>
        <p:spPr>
          <a:xfrm>
            <a:off x="1048966" y="5486400"/>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Single queue, no triage</a:t>
            </a:r>
          </a:p>
        </p:txBody>
      </p:sp>
      <p:sp>
        <p:nvSpPr>
          <p:cNvPr id="27" name="TextBox 26"/>
          <p:cNvSpPr txBox="1"/>
          <p:nvPr/>
        </p:nvSpPr>
        <p:spPr>
          <a:xfrm>
            <a:off x="1048966" y="5760720"/>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Complex cases block counters 27…</a:t>
            </a:r>
          </a:p>
        </p:txBody>
      </p:sp>
      <p:sp>
        <p:nvSpPr>
          <p:cNvPr id="28" name="TextBox 27"/>
          <p:cNvSpPr txBox="1"/>
          <p:nvPr/>
        </p:nvSpPr>
        <p:spPr>
          <a:xfrm>
            <a:off x="1048966" y="6035040"/>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Rostering misses peak</a:t>
            </a:r>
          </a:p>
        </p:txBody>
      </p:sp>
      <p:cxnSp>
        <p:nvCxnSpPr>
          <p:cNvPr id="29" name="Connector 28"/>
          <p:cNvCxnSpPr/>
          <p:nvPr/>
        </p:nvCxnSpPr>
        <p:spPr>
          <a:xfrm flipH="1">
            <a:off x="4506626" y="4059936"/>
            <a:ext cx="457200" cy="1060704"/>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3683666" y="5138928"/>
            <a:ext cx="164592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MATERIAL</a:t>
            </a:r>
          </a:p>
        </p:txBody>
      </p:sp>
      <p:sp>
        <p:nvSpPr>
          <p:cNvPr id="31" name="TextBox 30"/>
          <p:cNvSpPr txBox="1"/>
          <p:nvPr/>
        </p:nvSpPr>
        <p:spPr>
          <a:xfrm>
            <a:off x="3546506" y="5486400"/>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App checklist ≠ branch signage</a:t>
            </a:r>
          </a:p>
        </p:txBody>
      </p:sp>
      <p:sp>
        <p:nvSpPr>
          <p:cNvPr id="32" name="TextBox 31"/>
          <p:cNvSpPr txBox="1"/>
          <p:nvPr/>
        </p:nvSpPr>
        <p:spPr>
          <a:xfrm>
            <a:off x="3546506" y="5760720"/>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34% arrive without documents</a:t>
            </a:r>
          </a:p>
        </p:txBody>
      </p:sp>
      <p:sp>
        <p:nvSpPr>
          <p:cNvPr id="33" name="TextBox 32"/>
          <p:cNvSpPr txBox="1"/>
          <p:nvPr/>
        </p:nvSpPr>
        <p:spPr>
          <a:xfrm>
            <a:off x="3546506" y="6035040"/>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Forms confusing</a:t>
            </a:r>
          </a:p>
        </p:txBody>
      </p:sp>
      <p:cxnSp>
        <p:nvCxnSpPr>
          <p:cNvPr id="34" name="Connector 33"/>
          <p:cNvCxnSpPr/>
          <p:nvPr/>
        </p:nvCxnSpPr>
        <p:spPr>
          <a:xfrm flipH="1">
            <a:off x="7004166" y="4059936"/>
            <a:ext cx="457200" cy="1060704"/>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181206" y="5138928"/>
            <a:ext cx="16459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FFFFFF"/>
                </a:solidFill>
                <a:latin typeface="Arial"/>
              </a:rPr>
              <a:t>MEASUREMENT</a:t>
            </a:r>
          </a:p>
        </p:txBody>
      </p:sp>
      <p:sp>
        <p:nvSpPr>
          <p:cNvPr id="36" name="TextBox 35"/>
          <p:cNvSpPr txBox="1"/>
          <p:nvPr/>
        </p:nvSpPr>
        <p:spPr>
          <a:xfrm>
            <a:off x="6044046" y="5486400"/>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KPI is transactions/hour only</a:t>
            </a:r>
          </a:p>
        </p:txBody>
      </p:sp>
      <p:sp>
        <p:nvSpPr>
          <p:cNvPr id="37" name="TextBox 36"/>
          <p:cNvSpPr txBox="1"/>
          <p:nvPr/>
        </p:nvSpPr>
        <p:spPr>
          <a:xfrm>
            <a:off x="6044046" y="5760720"/>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No experience measure</a:t>
            </a:r>
          </a:p>
        </p:txBody>
      </p:sp>
      <p:sp>
        <p:nvSpPr>
          <p:cNvPr id="38" name="TextBox 37"/>
          <p:cNvSpPr txBox="1"/>
          <p:nvPr/>
        </p:nvSpPr>
        <p:spPr>
          <a:xfrm>
            <a:off x="6044046" y="6035040"/>
            <a:ext cx="2286000" cy="256032"/>
          </a:xfrm>
          <a:prstGeom prst="rect">
            <a:avLst/>
          </a:prstGeom>
          <a:noFill/>
        </p:spPr>
        <p:txBody>
          <a:bodyPr wrap="square" anchor="t">
            <a:spAutoFit/>
          </a:bodyPr>
          <a:lstStyle/>
          <a:p>
            <a:pPr algn="l">
              <a:spcAft>
                <a:spcPts val="400"/>
              </a:spcAft>
            </a:pPr>
            <a:r>
              <a:rPr sz="850" b="0">
                <a:solidFill>
                  <a:srgbClr val="5B6372"/>
                </a:solidFill>
                <a:latin typeface="Arial"/>
              </a:rPr>
              <a:t>• No branch→HO feedback</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THE EXPENSIVE LESSON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Head Office trained the People bone.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It carries the fewest evidenced causes. That is precisely why complaints did not move — they intervened on the wrong bone.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TOOL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Ed-Tool: Fishbone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20240"/>
            <a:ext cx="10058400" cy="402336"/>
          </a:xfrm>
          <a:prstGeom prst="rect">
            <a:avLst/>
          </a:prstGeom>
          <a:noFill/>
        </p:spPr>
        <p:txBody>
          <a:bodyPr wrap="square" anchor="t">
            <a:spAutoFit/>
          </a:bodyPr>
          <a:lstStyle/>
          <a:p>
            <a:pPr algn="l">
              <a:spcAft>
                <a:spcPts val="400"/>
              </a:spcAft>
            </a:pPr>
            <a:r>
              <a:rPr sz="2200" b="1">
                <a:solidFill>
                  <a:srgbClr val="161B26"/>
                </a:solidFill>
                <a:latin typeface="Arial"/>
              </a:rPr>
              <a:t>Fishbone Diagram Tool</a:t>
            </a:r>
          </a:p>
        </p:txBody>
      </p:sp>
      <p:sp>
        <p:nvSpPr>
          <p:cNvPr id="10" name="Rectangle 9"/>
          <p:cNvSpPr/>
          <p:nvPr/>
        </p:nvSpPr>
        <p:spPr>
          <a:xfrm>
            <a:off x="1097280" y="2432304"/>
            <a:ext cx="996696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61872" y="2624328"/>
            <a:ext cx="128016" cy="128016"/>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63040" y="2624328"/>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64208" y="2624328"/>
            <a:ext cx="128016" cy="128016"/>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0" y="2432304"/>
            <a:ext cx="8778240" cy="566928"/>
          </a:xfrm>
          <a:prstGeom prst="rect">
            <a:avLst/>
          </a:prstGeom>
          <a:noFill/>
        </p:spPr>
        <p:txBody>
          <a:bodyPr wrap="square" anchor="ctr">
            <a:spAutoFit/>
          </a:bodyPr>
          <a:lstStyle/>
          <a:p>
            <a:pPr algn="l">
              <a:spcAft>
                <a:spcPts val="400"/>
              </a:spcAft>
            </a:pPr>
            <a:r>
              <a:rPr sz="1350" b="1">
                <a:solidFill>
                  <a:srgbClr val="1F6FEB"/>
                </a:solidFill>
                <a:latin typeface="Arial"/>
              </a:rPr>
              <a:t>https://alfredang.github.io/fishbone/</a:t>
            </a:r>
          </a:p>
        </p:txBody>
      </p:sp>
      <p:sp>
        <p:nvSpPr>
          <p:cNvPr id="15" name="Rectangle 14"/>
          <p:cNvSpPr/>
          <p:nvPr/>
        </p:nvSpPr>
        <p:spPr>
          <a:xfrm>
            <a:off x="777240" y="3364992"/>
            <a:ext cx="5184648"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64992"/>
            <a:ext cx="518464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4" y="3547872"/>
            <a:ext cx="4727448" cy="310896"/>
          </a:xfrm>
          <a:prstGeom prst="rect">
            <a:avLst/>
          </a:prstGeom>
          <a:noFill/>
        </p:spPr>
        <p:txBody>
          <a:bodyPr wrap="square" anchor="t">
            <a:spAutoFit/>
          </a:bodyPr>
          <a:lstStyle/>
          <a:p>
            <a:pPr algn="l">
              <a:spcAft>
                <a:spcPts val="400"/>
              </a:spcAft>
            </a:pPr>
            <a:r>
              <a:rPr sz="1100" b="1">
                <a:solidFill>
                  <a:srgbClr val="1F6FEB"/>
                </a:solidFill>
                <a:latin typeface="Arial"/>
              </a:rPr>
              <a:t>WHAT IT DOES</a:t>
            </a:r>
          </a:p>
        </p:txBody>
      </p:sp>
      <p:sp>
        <p:nvSpPr>
          <p:cNvPr id="18" name="TextBox 17"/>
          <p:cNvSpPr txBox="1"/>
          <p:nvPr/>
        </p:nvSpPr>
        <p:spPr>
          <a:xfrm>
            <a:off x="1014984" y="3895344"/>
            <a:ext cx="4727448" cy="1737360"/>
          </a:xfrm>
          <a:prstGeom prst="rect">
            <a:avLst/>
          </a:prstGeom>
          <a:noFill/>
        </p:spPr>
        <p:txBody>
          <a:bodyPr wrap="square" anchor="t">
            <a:spAutoFit/>
          </a:bodyPr>
          <a:lstStyle/>
          <a:p>
            <a:pPr algn="l">
              <a:spcAft>
                <a:spcPts val="400"/>
              </a:spcAft>
            </a:pPr>
            <a:r>
              <a:rPr sz="1300" b="0">
                <a:solidFill>
                  <a:srgbClr val="161B26"/>
                </a:solidFill>
                <a:latin typeface="Arial"/>
              </a:rPr>
              <a:t>Builds an Ishikawa diagram across six cause categories, so a team can see at a glance which dimension carries the weight of evidence.</a:t>
            </a:r>
          </a:p>
        </p:txBody>
      </p:sp>
      <p:sp>
        <p:nvSpPr>
          <p:cNvPr id="19" name="Rectangle 18"/>
          <p:cNvSpPr/>
          <p:nvPr/>
        </p:nvSpPr>
        <p:spPr>
          <a:xfrm>
            <a:off x="6227064" y="3364992"/>
            <a:ext cx="5184648"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7064" y="3364992"/>
            <a:ext cx="518464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8" y="3547872"/>
            <a:ext cx="4727448" cy="310896"/>
          </a:xfrm>
          <a:prstGeom prst="rect">
            <a:avLst/>
          </a:prstGeom>
          <a:noFill/>
        </p:spPr>
        <p:txBody>
          <a:bodyPr wrap="square" anchor="t">
            <a:spAutoFit/>
          </a:bodyPr>
          <a:lstStyle/>
          <a:p>
            <a:pPr algn="l">
              <a:spcAft>
                <a:spcPts val="400"/>
              </a:spcAft>
            </a:pPr>
            <a:r>
              <a:rPr sz="1100" b="1">
                <a:solidFill>
                  <a:srgbClr val="7C3AED"/>
                </a:solidFill>
                <a:latin typeface="Arial"/>
              </a:rPr>
              <a:t>HOW YOU'LL USE IT</a:t>
            </a:r>
          </a:p>
        </p:txBody>
      </p:sp>
      <p:sp>
        <p:nvSpPr>
          <p:cNvPr id="22" name="TextBox 21"/>
          <p:cNvSpPr txBox="1"/>
          <p:nvPr/>
        </p:nvSpPr>
        <p:spPr>
          <a:xfrm>
            <a:off x="6464808" y="3895344"/>
            <a:ext cx="4727448" cy="1737360"/>
          </a:xfrm>
          <a:prstGeom prst="rect">
            <a:avLst/>
          </a:prstGeom>
          <a:noFill/>
        </p:spPr>
        <p:txBody>
          <a:bodyPr wrap="square" anchor="t">
            <a:spAutoFit/>
          </a:bodyPr>
          <a:lstStyle/>
          <a:p>
            <a:pPr algn="l">
              <a:spcAft>
                <a:spcPts val="400"/>
              </a:spcAft>
            </a:pPr>
            <a:r>
              <a:rPr sz="1300" b="0">
                <a:solidFill>
                  <a:srgbClr val="161B26"/>
                </a:solidFill>
                <a:latin typeface="Arial"/>
              </a:rPr>
              <a:t>Enter the problem as the head, then add causes bone by bone. Mark each [EVIDENCED] or [HYPOTHESIS].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PROMPT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Fishbone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1638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2889504"/>
          </a:xfrm>
          <a:prstGeom prst="rect">
            <a:avLst/>
          </a:prstGeom>
          <a:noFill/>
        </p:spPr>
        <p:txBody>
          <a:bodyPr wrap="square">
            <a:spAutoFit/>
          </a:bodyPr>
          <a:lstStyle/>
          <a:p>
            <a:pPr>
              <a:spcAft>
                <a:spcPts val="150"/>
              </a:spcAft>
            </a:pPr>
            <a:r>
              <a:rPr sz="900" b="0">
                <a:solidFill>
                  <a:srgbClr val="D4D4D4"/>
                </a:solidFill>
                <a:latin typeface="Consolas"/>
              </a:rPr>
              <a:t>Act as a quality improvement facilitator running an Ishikawa (fishbone) analysis with a bank branch team.</a:t>
            </a:r>
          </a:p>
          <a:p>
            <a:pPr>
              <a:spcAft>
                <a:spcPts val="150"/>
              </a:spcAft>
            </a:pPr>
            <a:r>
              <a:rPr sz="900" b="0">
                <a:solidFill>
                  <a:srgbClr val="D4D4D4"/>
                </a:solidFill>
                <a:latin typeface="Consolas"/>
              </a:rPr>
              <a:t> </a:t>
            </a:r>
          </a:p>
          <a:p>
            <a:pPr>
              <a:spcAft>
                <a:spcPts val="150"/>
              </a:spcAft>
            </a:pPr>
            <a:r>
              <a:rPr sz="900" b="0">
                <a:solidFill>
                  <a:srgbClr val="D4D4D4"/>
                </a:solidFill>
                <a:latin typeface="Consolas"/>
              </a:rPr>
              <a:t>Problem (the fish head): Customer complaints at the Horizon Bank Jurong East branch have risen to 60 per month (network average 14), with peak counter wait time at 58 minutes against a 15-minute standard.</a:t>
            </a:r>
          </a:p>
          <a:p>
            <a:pPr>
              <a:spcAft>
                <a:spcPts val="150"/>
              </a:spcAft>
            </a:pPr>
            <a:r>
              <a:rPr sz="900" b="0">
                <a:solidFill>
                  <a:srgbClr val="D4D4D4"/>
                </a:solidFill>
                <a:latin typeface="Consolas"/>
              </a:rPr>
              <a:t> </a:t>
            </a:r>
          </a:p>
          <a:p>
            <a:pPr>
              <a:spcAft>
                <a:spcPts val="150"/>
              </a:spcAft>
            </a:pPr>
            <a:r>
              <a:rPr sz="900" b="0">
                <a:solidFill>
                  <a:srgbClr val="D4D4D4"/>
                </a:solidFill>
                <a:latin typeface="Consolas"/>
              </a:rPr>
              <a:t>Generate candidate causes under these six bones: People, Process, Technology, Material/Information, Environment, Measurement.</a:t>
            </a:r>
          </a:p>
          <a:p>
            <a:pPr>
              <a:spcAft>
                <a:spcPts val="150"/>
              </a:spcAft>
            </a:pPr>
            <a:r>
              <a:rPr sz="900" b="0">
                <a:solidFill>
                  <a:srgbClr val="D4D4D4"/>
                </a:solidFill>
                <a:latin typeface="Consolas"/>
              </a:rPr>
              <a:t> </a:t>
            </a:r>
          </a:p>
          <a:p>
            <a:pPr>
              <a:spcAft>
                <a:spcPts val="150"/>
              </a:spcAft>
            </a:pPr>
            <a:r>
              <a:rPr sz="900" b="1">
                <a:solidFill>
                  <a:srgbClr val="4EC9B0"/>
                </a:solidFill>
                <a:latin typeface="Consolas"/>
              </a:rPr>
              <a:t>Rules:</a:t>
            </a:r>
          </a:p>
          <a:p>
            <a:pPr>
              <a:spcAft>
                <a:spcPts val="150"/>
              </a:spcAft>
            </a:pPr>
            <a:r>
              <a:rPr sz="900" b="0">
                <a:solidFill>
                  <a:srgbClr val="9CDCFE"/>
                </a:solidFill>
                <a:latin typeface="Consolas"/>
              </a:rPr>
              <a:t>- Give 4-6 candidate causes per bone, each phrased as a CAUSE not a complaint</a:t>
            </a:r>
          </a:p>
          <a:p>
            <a:pPr>
              <a:spcAft>
                <a:spcPts val="150"/>
              </a:spcAft>
            </a:pPr>
            <a:r>
              <a:rPr sz="900" b="0">
                <a:solidFill>
                  <a:srgbClr val="9CDCFE"/>
                </a:solidFill>
                <a:latin typeface="Consolas"/>
              </a:rPr>
              <a:t>- Mark each cause [EVIDENCED] or [HYPOTHESIS] based only on what I give you below</a:t>
            </a:r>
          </a:p>
          <a:p>
            <a:pPr>
              <a:spcAft>
                <a:spcPts val="150"/>
              </a:spcAft>
            </a:pPr>
            <a:r>
              <a:rPr sz="900" b="0">
                <a:solidFill>
                  <a:srgbClr val="9CDCFE"/>
                </a:solidFill>
                <a:latin typeface="Consolas"/>
              </a:rPr>
              <a:t>- Do NOT propose solutions</a:t>
            </a:r>
          </a:p>
          <a:p>
            <a:pPr>
              <a:spcAft>
                <a:spcPts val="150"/>
              </a:spcAft>
            </a:pPr>
            <a:r>
              <a:rPr sz="900" b="0">
                <a:solidFill>
                  <a:srgbClr val="9CDCFE"/>
                </a:solidFill>
                <a:latin typeface="Consolas"/>
              </a:rPr>
              <a:t>- Finish by naming the 3 causes you would investigate first and say why</a:t>
            </a:r>
          </a:p>
          <a:p>
            <a:pPr>
              <a:spcAft>
                <a:spcPts val="150"/>
              </a:spcAft>
            </a:pPr>
            <a:r>
              <a:rPr sz="900" b="0">
                <a:solidFill>
                  <a:srgbClr val="D4D4D4"/>
                </a:solidFill>
                <a:latin typeface="Consolas"/>
              </a:rPr>
              <a:t> </a:t>
            </a:r>
          </a:p>
          <a:p>
            <a:pPr>
              <a:spcAft>
                <a:spcPts val="150"/>
              </a:spcAft>
            </a:pPr>
            <a:r>
              <a:rPr sz="900" b="0">
                <a:solidFill>
                  <a:srgbClr val="D4D4D4"/>
                </a:solidFill>
                <a:latin typeface="Consolas"/>
              </a:rPr>
              <a:t>Evidence available: single queue with no triage; 61% of footfall between 11:30-14:00; 3.2 of 6 counters staffed at peak; new KYC platform requires triple data entry; screen response degraded 2s to 8s; 44% of tellers under 6 months tenure; teller KPI is transactions-per-hour only; 34% of customers arrive without documents; app checklist and branch signage disagree; complex cases take 27 minutes at the counter; no branch-to-HO feedback route; 18 seats in the waiting area.</a:t>
            </a:r>
          </a:p>
        </p:txBody>
      </p:sp>
      <p:sp>
        <p:nvSpPr>
          <p:cNvPr id="12" name="Rectangle 11"/>
          <p:cNvSpPr/>
          <p:nvPr/>
        </p:nvSpPr>
        <p:spPr>
          <a:xfrm>
            <a:off x="777240" y="5541264"/>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541264"/>
            <a:ext cx="8229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541264"/>
            <a:ext cx="10149840" cy="713232"/>
          </a:xfrm>
          <a:prstGeom prst="rect">
            <a:avLst/>
          </a:prstGeom>
          <a:noFill/>
        </p:spPr>
        <p:txBody>
          <a:bodyPr wrap="square" anchor="ctr">
            <a:spAutoFit/>
          </a:bodyPr>
          <a:lstStyle/>
          <a:p>
            <a:pPr algn="l">
              <a:spcAft>
                <a:spcPts val="400"/>
              </a:spcAft>
            </a:pPr>
            <a:r>
              <a:rPr sz="1050" b="1">
                <a:solidFill>
                  <a:srgbClr val="F59E0B"/>
                </a:solidFill>
                <a:latin typeface="Arial"/>
              </a:rPr>
              <a:t>WATCH FOR  </a:t>
            </a:r>
            <a:r>
              <a:rPr sz="1150" b="0">
                <a:solidFill>
                  <a:srgbClr val="161B26"/>
                </a:solidFill>
                <a:latin typeface="Arial"/>
              </a:rPr>
              <a:t>Forcing [EVIDENCED] vs [HYPOTHESIS] labels stops the AI's confident guesses becoming your facts.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Activity 3 — Fishbone (Ishikawa) Diagram for Breadth of Causes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46304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463040" cy="402336"/>
          </a:xfrm>
          <a:prstGeom prst="rect">
            <a:avLst/>
          </a:prstGeom>
          <a:noFill/>
        </p:spPr>
        <p:txBody>
          <a:bodyPr wrap="square" anchor="ctr">
            <a:spAutoFit/>
          </a:bodyPr>
          <a:lstStyle/>
          <a:p>
            <a:pPr algn="ctr">
              <a:spcAft>
                <a:spcPts val="400"/>
              </a:spcAft>
            </a:pPr>
            <a:r>
              <a:rPr sz="1400" b="1">
                <a:solidFill>
                  <a:srgbClr val="FFFFFF"/>
                </a:solidFill>
                <a:latin typeface="Arial"/>
              </a:rPr>
              <a:t>ACTIVITY 3</a:t>
            </a:r>
          </a:p>
        </p:txBody>
      </p:sp>
      <p:sp>
        <p:nvSpPr>
          <p:cNvPr id="9" name="TextBox 8"/>
          <p:cNvSpPr txBox="1"/>
          <p:nvPr/>
        </p:nvSpPr>
        <p:spPr>
          <a:xfrm>
            <a:off x="2395728" y="1719072"/>
            <a:ext cx="8961120" cy="402336"/>
          </a:xfrm>
          <a:prstGeom prst="rect">
            <a:avLst/>
          </a:prstGeom>
          <a:noFill/>
        </p:spPr>
        <p:txBody>
          <a:bodyPr wrap="square" anchor="ctr">
            <a:spAutoFit/>
          </a:bodyPr>
          <a:lstStyle/>
          <a:p>
            <a:pPr algn="l">
              <a:spcAft>
                <a:spcPts val="400"/>
              </a:spcAft>
            </a:pPr>
            <a:r>
              <a:rPr sz="1100" b="0">
                <a:solidFill>
                  <a:srgbClr val="5B6372"/>
                </a:solidFill>
                <a:latin typeface="Arial"/>
              </a:rPr>
              <a:t>A2 · K2, K5 — Categorise potential causes across all contributing dimensions.</a:t>
            </a:r>
          </a:p>
        </p:txBody>
      </p:sp>
      <p:sp>
        <p:nvSpPr>
          <p:cNvPr id="10" name="Rectangle 9"/>
          <p:cNvSpPr/>
          <p:nvPr/>
        </p:nvSpPr>
        <p:spPr>
          <a:xfrm>
            <a:off x="777240" y="228600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14016"/>
            <a:ext cx="10149840" cy="329184"/>
          </a:xfrm>
          <a:prstGeom prst="rect">
            <a:avLst/>
          </a:prstGeom>
          <a:noFill/>
        </p:spPr>
        <p:txBody>
          <a:bodyPr wrap="square" anchor="t">
            <a:spAutoFit/>
          </a:bodyPr>
          <a:lstStyle/>
          <a:p>
            <a:pPr algn="l">
              <a:spcAft>
                <a:spcPts val="400"/>
              </a:spcAft>
            </a:pPr>
            <a:r>
              <a:rPr sz="1550" b="1">
                <a:solidFill>
                  <a:srgbClr val="161B26"/>
                </a:solidFill>
                <a:latin typeface="Arial"/>
              </a:rPr>
              <a:t>Horizon Bank — branch service complaints at Jurong East</a:t>
            </a:r>
          </a:p>
        </p:txBody>
      </p:sp>
      <p:sp>
        <p:nvSpPr>
          <p:cNvPr id="13" name="TextBox 12"/>
          <p:cNvSpPr txBox="1"/>
          <p:nvPr/>
        </p:nvSpPr>
        <p:spPr>
          <a:xfrm>
            <a:off x="1078992" y="2779776"/>
            <a:ext cx="10149840" cy="731520"/>
          </a:xfrm>
          <a:prstGeom prst="rect">
            <a:avLst/>
          </a:prstGeom>
          <a:noFill/>
        </p:spPr>
        <p:txBody>
          <a:bodyPr wrap="square" anchor="t">
            <a:spAutoFit/>
          </a:bodyPr>
          <a:lstStyle/>
          <a:p>
            <a:pPr algn="l">
              <a:spcAft>
                <a:spcPts val="400"/>
              </a:spcAft>
            </a:pPr>
            <a:r>
              <a:rPr sz="1250" b="0">
                <a:solidFill>
                  <a:srgbClr val="5B6372"/>
                </a:solidFill>
                <a:latin typeface="Arial"/>
              </a:rPr>
              <a:t>Map every contributing cause across six dimensions — and discover why the training refresher failed.</a:t>
            </a:r>
          </a:p>
        </p:txBody>
      </p:sp>
      <p:sp>
        <p:nvSpPr>
          <p:cNvPr id="14" name="Rectangle 13"/>
          <p:cNvSpPr/>
          <p:nvPr/>
        </p:nvSpPr>
        <p:spPr>
          <a:xfrm>
            <a:off x="777240"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85615"/>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31920"/>
            <a:ext cx="2980944" cy="292608"/>
          </a:xfrm>
          <a:prstGeom prst="rect">
            <a:avLst/>
          </a:prstGeom>
          <a:noFill/>
        </p:spPr>
        <p:txBody>
          <a:bodyPr wrap="square" anchor="t">
            <a:spAutoFit/>
          </a:bodyPr>
          <a:lstStyle/>
          <a:p>
            <a:pPr algn="l">
              <a:spcAft>
                <a:spcPts val="400"/>
              </a:spcAft>
            </a:pPr>
            <a:r>
              <a:rPr sz="1100" b="1">
                <a:solidFill>
                  <a:srgbClr val="1F6FEB"/>
                </a:solidFill>
                <a:latin typeface="Arial"/>
              </a:rPr>
              <a:t>TEAM</a:t>
            </a:r>
          </a:p>
        </p:txBody>
      </p:sp>
      <p:sp>
        <p:nvSpPr>
          <p:cNvPr id="17" name="TextBox 16"/>
          <p:cNvSpPr txBox="1"/>
          <p:nvPr/>
        </p:nvSpPr>
        <p:spPr>
          <a:xfrm>
            <a:off x="996696"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Teams of 3-5</a:t>
            </a:r>
          </a:p>
        </p:txBody>
      </p:sp>
      <p:sp>
        <p:nvSpPr>
          <p:cNvPr id="18" name="Rectangle 17"/>
          <p:cNvSpPr/>
          <p:nvPr/>
        </p:nvSpPr>
        <p:spPr>
          <a:xfrm>
            <a:off x="4398264"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85615"/>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31920"/>
            <a:ext cx="2980944" cy="292608"/>
          </a:xfrm>
          <a:prstGeom prst="rect">
            <a:avLst/>
          </a:prstGeom>
          <a:noFill/>
        </p:spPr>
        <p:txBody>
          <a:bodyPr wrap="square" anchor="t">
            <a:spAutoFit/>
          </a:bodyPr>
          <a:lstStyle/>
          <a:p>
            <a:pPr algn="l">
              <a:spcAft>
                <a:spcPts val="400"/>
              </a:spcAft>
            </a:pPr>
            <a:r>
              <a:rPr sz="1100" b="1">
                <a:solidFill>
                  <a:srgbClr val="10B981"/>
                </a:solidFill>
                <a:latin typeface="Arial"/>
              </a:rPr>
              <a:t>TIME</a:t>
            </a:r>
          </a:p>
        </p:txBody>
      </p:sp>
      <p:sp>
        <p:nvSpPr>
          <p:cNvPr id="21" name="TextBox 20"/>
          <p:cNvSpPr txBox="1"/>
          <p:nvPr/>
        </p:nvSpPr>
        <p:spPr>
          <a:xfrm>
            <a:off x="4617720"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45 minutes</a:t>
            </a:r>
          </a:p>
        </p:txBody>
      </p:sp>
      <p:sp>
        <p:nvSpPr>
          <p:cNvPr id="22" name="Rectangle 21"/>
          <p:cNvSpPr/>
          <p:nvPr/>
        </p:nvSpPr>
        <p:spPr>
          <a:xfrm>
            <a:off x="8019288"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85615"/>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31920"/>
            <a:ext cx="2980944" cy="292608"/>
          </a:xfrm>
          <a:prstGeom prst="rect">
            <a:avLst/>
          </a:prstGeom>
          <a:noFill/>
        </p:spPr>
        <p:txBody>
          <a:bodyPr wrap="square" anchor="t">
            <a:spAutoFit/>
          </a:bodyPr>
          <a:lstStyle/>
          <a:p>
            <a:pPr algn="l">
              <a:spcAft>
                <a:spcPts val="400"/>
              </a:spcAft>
            </a:pPr>
            <a:r>
              <a:rPr sz="1100" b="1">
                <a:solidFill>
                  <a:srgbClr val="7C3AED"/>
                </a:solidFill>
                <a:latin typeface="Arial"/>
              </a:rPr>
              <a:t>TOOL</a:t>
            </a:r>
          </a:p>
        </p:txBody>
      </p:sp>
      <p:sp>
        <p:nvSpPr>
          <p:cNvPr id="25" name="TextBox 24"/>
          <p:cNvSpPr txBox="1"/>
          <p:nvPr/>
        </p:nvSpPr>
        <p:spPr>
          <a:xfrm>
            <a:off x="8238744" y="4261104"/>
            <a:ext cx="2980944" cy="914400"/>
          </a:xfrm>
          <a:prstGeom prst="rect">
            <a:avLst/>
          </a:prstGeom>
          <a:noFill/>
        </p:spPr>
        <p:txBody>
          <a:bodyPr wrap="square" anchor="t">
            <a:spAutoFit/>
          </a:bodyPr>
          <a:lstStyle/>
          <a:p>
            <a:pPr algn="l">
              <a:spcAft>
                <a:spcPts val="400"/>
              </a:spcAft>
            </a:pPr>
            <a:r>
              <a:rPr sz="1050" b="0">
                <a:solidFill>
                  <a:srgbClr val="161B26"/>
                </a:solidFill>
                <a:latin typeface="Arial"/>
              </a:rPr>
              <a:t>Fishbone Tool · https://alfredang.github.io/fishbone/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3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Situation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02336"/>
          </a:xfrm>
          <a:prstGeom prst="rect">
            <a:avLst/>
          </a:prstGeom>
          <a:noFill/>
        </p:spPr>
        <p:txBody>
          <a:bodyPr wrap="square" anchor="ctr">
            <a:spAutoFit/>
          </a:bodyPr>
          <a:lstStyle/>
          <a:p>
            <a:pPr algn="ctr">
              <a:spcAft>
                <a:spcPts val="400"/>
              </a:spcAft>
            </a:pPr>
            <a:r>
              <a:rPr sz="1200" b="1">
                <a:solidFill>
                  <a:srgbClr val="FFFFFF"/>
                </a:solidFill>
                <a:latin typeface="Arial"/>
              </a:rPr>
              <a:t>CASE STUDY</a:t>
            </a:r>
          </a:p>
        </p:txBody>
      </p:sp>
      <p:sp>
        <p:nvSpPr>
          <p:cNvPr id="9" name="TextBox 8"/>
          <p:cNvSpPr txBox="1"/>
          <p:nvPr/>
        </p:nvSpPr>
        <p:spPr>
          <a:xfrm>
            <a:off x="2633472" y="1719072"/>
            <a:ext cx="8778240" cy="402336"/>
          </a:xfrm>
          <a:prstGeom prst="rect">
            <a:avLst/>
          </a:prstGeom>
          <a:noFill/>
        </p:spPr>
        <p:txBody>
          <a:bodyPr wrap="square" anchor="ctr">
            <a:spAutoFit/>
          </a:bodyPr>
          <a:lstStyle/>
          <a:p>
            <a:pPr algn="l">
              <a:spcAft>
                <a:spcPts val="400"/>
              </a:spcAft>
            </a:pPr>
            <a:r>
              <a:rPr sz="1500" b="1">
                <a:solidFill>
                  <a:srgbClr val="161B26"/>
                </a:solidFill>
                <a:latin typeface="Arial"/>
              </a:rPr>
              <a:t>Horizon Bank — branch service complaints at Jurong East</a:t>
            </a:r>
          </a:p>
        </p:txBody>
      </p:sp>
      <p:sp>
        <p:nvSpPr>
          <p:cNvPr id="10" name="Rectangle 9"/>
          <p:cNvSpPr/>
          <p:nvPr/>
        </p:nvSpPr>
        <p:spPr>
          <a:xfrm>
            <a:off x="777240" y="2286000"/>
            <a:ext cx="10634472" cy="3931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3931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432304"/>
            <a:ext cx="10058400" cy="3657600"/>
          </a:xfrm>
          <a:prstGeom prst="rect">
            <a:avLst/>
          </a:prstGeom>
          <a:noFill/>
        </p:spPr>
        <p:txBody>
          <a:bodyPr wrap="square">
            <a:spAutoFit/>
          </a:bodyPr>
          <a:lstStyle/>
          <a:p>
            <a:pPr>
              <a:spcAft>
                <a:spcPts val="700"/>
              </a:spcAft>
            </a:pPr>
            <a:r>
              <a:rPr sz="1300">
                <a:solidFill>
                  <a:srgbClr val="161B26"/>
                </a:solidFill>
                <a:latin typeface="Arial"/>
              </a:rPr>
              <a:t>Horizon Bank's Jurong East branch has moved from best to worst in the retail network on customer experience in eleven months. Complaints run at 60 per month against a network average of 14. Average counter wait time is 58 minutes at peak; the service standard is 15.</a:t>
            </a:r>
          </a:p>
          <a:p>
            <a:pPr>
              <a:spcAft>
                <a:spcPts val="700"/>
              </a:spcAft>
            </a:pPr>
            <a:r>
              <a:rPr sz="1300">
                <a:solidFill>
                  <a:srgbClr val="161B26"/>
                </a:solidFill>
                <a:latin typeface="Arial"/>
              </a:rPr>
              <a:t>Head Office ran a 'Service Excellence' refresher for all branch staff four months ago. Complaints did not move. The Branch Manager is now under performance review and morale is visibly poor — two tellers have resigned this quarter.</a:t>
            </a:r>
          </a:p>
          <a:p>
            <a:pPr>
              <a:spcAft>
                <a:spcPts val="700"/>
              </a:spcAft>
            </a:pPr>
            <a:r>
              <a:rPr sz="1300">
                <a:solidFill>
                  <a:srgbClr val="161B26"/>
                </a:solidFill>
                <a:latin typeface="Arial"/>
              </a:rPr>
              <a:t>The Regional Director suspects the training was aimed at the wrong cause. Your team has been asked to map ALL contributing causes across every dimension before another intervention is funded. 5 Whys gave depth on one branch; this problem is too broad for one branch.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Observation</a:t>
            </a:r>
          </a:p>
        </p:txBody>
      </p:sp>
      <p:sp>
        <p:nvSpPr>
          <p:cNvPr id="11" name="Rectangle 10"/>
          <p:cNvSpPr/>
          <p:nvPr/>
        </p:nvSpPr>
        <p:spPr>
          <a:xfrm>
            <a:off x="777240" y="2258568"/>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Queue</a:t>
            </a:r>
          </a:p>
        </p:txBody>
      </p:sp>
      <p:sp>
        <p:nvSpPr>
          <p:cNvPr id="13" name="Rectangle 12"/>
          <p:cNvSpPr/>
          <p:nvPr/>
        </p:nvSpPr>
        <p:spPr>
          <a:xfrm>
            <a:off x="3542202" y="2258568"/>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Single queue for all transaction types; no triage between simple and complex</a:t>
            </a:r>
          </a:p>
        </p:txBody>
      </p:sp>
      <p:sp>
        <p:nvSpPr>
          <p:cNvPr id="15" name="Rectangle 14"/>
          <p:cNvSpPr/>
          <p:nvPr/>
        </p:nvSpPr>
        <p:spPr>
          <a:xfrm>
            <a:off x="777240" y="2500122"/>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500122"/>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Peak</a:t>
            </a:r>
          </a:p>
        </p:txBody>
      </p:sp>
      <p:sp>
        <p:nvSpPr>
          <p:cNvPr id="17" name="Rectangle 16"/>
          <p:cNvSpPr/>
          <p:nvPr/>
        </p:nvSpPr>
        <p:spPr>
          <a:xfrm>
            <a:off x="3542202" y="2500122"/>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500122"/>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11:30-14:00 accounts for 61% of daily footfall (lunch crowd from nearby offices)</a:t>
            </a:r>
          </a:p>
        </p:txBody>
      </p:sp>
      <p:sp>
        <p:nvSpPr>
          <p:cNvPr id="19" name="Rectangle 18"/>
          <p:cNvSpPr/>
          <p:nvPr/>
        </p:nvSpPr>
        <p:spPr>
          <a:xfrm>
            <a:off x="777240" y="2741676"/>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Counters</a:t>
            </a:r>
          </a:p>
        </p:txBody>
      </p:sp>
      <p:sp>
        <p:nvSpPr>
          <p:cNvPr id="21" name="Rectangle 20"/>
          <p:cNvSpPr/>
          <p:nvPr/>
        </p:nvSpPr>
        <p:spPr>
          <a:xfrm>
            <a:off x="3542202" y="2741676"/>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6 counters exist; mean 3.2 staffed at peak</a:t>
            </a:r>
          </a:p>
        </p:txBody>
      </p:sp>
      <p:sp>
        <p:nvSpPr>
          <p:cNvPr id="23" name="Rectangle 22"/>
          <p:cNvSpPr/>
          <p:nvPr/>
        </p:nvSpPr>
        <p:spPr>
          <a:xfrm>
            <a:off x="777240" y="2983230"/>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83230"/>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Systems</a:t>
            </a:r>
          </a:p>
        </p:txBody>
      </p:sp>
      <p:sp>
        <p:nvSpPr>
          <p:cNvPr id="25" name="Rectangle 24"/>
          <p:cNvSpPr/>
          <p:nvPr/>
        </p:nvSpPr>
        <p:spPr>
          <a:xfrm>
            <a:off x="3542202" y="2983230"/>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83230"/>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New KYC platform launched 11 months ago; teller must key client data into 3 systems</a:t>
            </a:r>
          </a:p>
        </p:txBody>
      </p:sp>
      <p:sp>
        <p:nvSpPr>
          <p:cNvPr id="27" name="Rectangle 26"/>
          <p:cNvSpPr/>
          <p:nvPr/>
        </p:nvSpPr>
        <p:spPr>
          <a:xfrm>
            <a:off x="777240" y="3224784"/>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3224784"/>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Systems</a:t>
            </a:r>
          </a:p>
        </p:txBody>
      </p:sp>
      <p:sp>
        <p:nvSpPr>
          <p:cNvPr id="29" name="Rectangle 28"/>
          <p:cNvSpPr/>
          <p:nvPr/>
        </p:nvSpPr>
        <p:spPr>
          <a:xfrm>
            <a:off x="3542202" y="3224784"/>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3224784"/>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Mean core-banking screen response 8s, was 2s before the KYC platform</a:t>
            </a:r>
          </a:p>
        </p:txBody>
      </p:sp>
      <p:sp>
        <p:nvSpPr>
          <p:cNvPr id="31" name="Rectangle 30"/>
          <p:cNvSpPr/>
          <p:nvPr/>
        </p:nvSpPr>
        <p:spPr>
          <a:xfrm>
            <a:off x="777240" y="3466338"/>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66338"/>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Staff</a:t>
            </a:r>
          </a:p>
        </p:txBody>
      </p:sp>
      <p:sp>
        <p:nvSpPr>
          <p:cNvPr id="33" name="Rectangle 32"/>
          <p:cNvSpPr/>
          <p:nvPr/>
        </p:nvSpPr>
        <p:spPr>
          <a:xfrm>
            <a:off x="3542202" y="3466338"/>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66338"/>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44% of tellers have under 6 months tenure</a:t>
            </a:r>
          </a:p>
        </p:txBody>
      </p:sp>
      <p:sp>
        <p:nvSpPr>
          <p:cNvPr id="35" name="Rectangle 34"/>
          <p:cNvSpPr/>
          <p:nvPr/>
        </p:nvSpPr>
        <p:spPr>
          <a:xfrm>
            <a:off x="777240" y="3707892"/>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3707892"/>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Staff</a:t>
            </a:r>
          </a:p>
        </p:txBody>
      </p:sp>
      <p:sp>
        <p:nvSpPr>
          <p:cNvPr id="37" name="Rectangle 36"/>
          <p:cNvSpPr/>
          <p:nvPr/>
        </p:nvSpPr>
        <p:spPr>
          <a:xfrm>
            <a:off x="3542202" y="3707892"/>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70218" y="3707892"/>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Teller KPI is transactions-per-hour; no customer-experience measure</a:t>
            </a:r>
          </a:p>
        </p:txBody>
      </p:sp>
      <p:sp>
        <p:nvSpPr>
          <p:cNvPr id="39" name="Rectangle 38"/>
          <p:cNvSpPr/>
          <p:nvPr/>
        </p:nvSpPr>
        <p:spPr>
          <a:xfrm>
            <a:off x="777240" y="3949446"/>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49446"/>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Customer</a:t>
            </a:r>
          </a:p>
        </p:txBody>
      </p:sp>
      <p:sp>
        <p:nvSpPr>
          <p:cNvPr id="41" name="Rectangle 40"/>
          <p:cNvSpPr/>
          <p:nvPr/>
        </p:nvSpPr>
        <p:spPr>
          <a:xfrm>
            <a:off x="3542202" y="3949446"/>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49446"/>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34% of customers arrive without required documents</a:t>
            </a:r>
          </a:p>
        </p:txBody>
      </p:sp>
      <p:sp>
        <p:nvSpPr>
          <p:cNvPr id="43" name="Rectangle 42"/>
          <p:cNvSpPr/>
          <p:nvPr/>
        </p:nvSpPr>
        <p:spPr>
          <a:xfrm>
            <a:off x="777240" y="4191000"/>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191000"/>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Customer</a:t>
            </a:r>
          </a:p>
        </p:txBody>
      </p:sp>
      <p:sp>
        <p:nvSpPr>
          <p:cNvPr id="45" name="Rectangle 44"/>
          <p:cNvSpPr/>
          <p:nvPr/>
        </p:nvSpPr>
        <p:spPr>
          <a:xfrm>
            <a:off x="3542202" y="4191000"/>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191000"/>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Branch signage and the app's document checklist do not match</a:t>
            </a:r>
          </a:p>
        </p:txBody>
      </p:sp>
      <p:sp>
        <p:nvSpPr>
          <p:cNvPr id="47" name="Rectangle 46"/>
          <p:cNvSpPr/>
          <p:nvPr/>
        </p:nvSpPr>
        <p:spPr>
          <a:xfrm>
            <a:off x="777240" y="4432554"/>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432554"/>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Process</a:t>
            </a:r>
          </a:p>
        </p:txBody>
      </p:sp>
      <p:sp>
        <p:nvSpPr>
          <p:cNvPr id="49" name="Rectangle 48"/>
          <p:cNvSpPr/>
          <p:nvPr/>
        </p:nvSpPr>
        <p:spPr>
          <a:xfrm>
            <a:off x="3542202" y="4432554"/>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432554"/>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Complex cases (loans, disputes) occupy a counter for a mean of 27 minutes</a:t>
            </a:r>
          </a:p>
        </p:txBody>
      </p:sp>
      <p:sp>
        <p:nvSpPr>
          <p:cNvPr id="51" name="Rectangle 50"/>
          <p:cNvSpPr/>
          <p:nvPr/>
        </p:nvSpPr>
        <p:spPr>
          <a:xfrm>
            <a:off x="777240" y="4674108"/>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5256" y="4674108"/>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Management</a:t>
            </a:r>
          </a:p>
        </p:txBody>
      </p:sp>
      <p:sp>
        <p:nvSpPr>
          <p:cNvPr id="53" name="Rectangle 52"/>
          <p:cNvSpPr/>
          <p:nvPr/>
        </p:nvSpPr>
        <p:spPr>
          <a:xfrm>
            <a:off x="3542202" y="4674108"/>
            <a:ext cx="7869510"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70218" y="4674108"/>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No structured feedback route from branch to Head Office product owners</a:t>
            </a:r>
          </a:p>
        </p:txBody>
      </p:sp>
      <p:sp>
        <p:nvSpPr>
          <p:cNvPr id="55" name="Rectangle 54"/>
          <p:cNvSpPr/>
          <p:nvPr/>
        </p:nvSpPr>
        <p:spPr>
          <a:xfrm>
            <a:off x="777240" y="4915662"/>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915662"/>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Environment</a:t>
            </a:r>
          </a:p>
        </p:txBody>
      </p:sp>
      <p:sp>
        <p:nvSpPr>
          <p:cNvPr id="57" name="Rectangle 56"/>
          <p:cNvSpPr/>
          <p:nvPr/>
        </p:nvSpPr>
        <p:spPr>
          <a:xfrm>
            <a:off x="3542202" y="4915662"/>
            <a:ext cx="7869510"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915662"/>
            <a:ext cx="7613478" cy="241554"/>
          </a:xfrm>
          <a:prstGeom prst="rect">
            <a:avLst/>
          </a:prstGeom>
          <a:noFill/>
        </p:spPr>
        <p:txBody>
          <a:bodyPr wrap="square" anchor="ctr">
            <a:spAutoFit/>
          </a:bodyPr>
          <a:lstStyle/>
          <a:p>
            <a:pPr algn="l">
              <a:spcAft>
                <a:spcPts val="400"/>
              </a:spcAft>
            </a:pPr>
            <a:r>
              <a:rPr sz="1150" b="0">
                <a:solidFill>
                  <a:srgbClr val="5B6372"/>
                </a:solidFill>
                <a:latin typeface="Arial"/>
              </a:rPr>
              <a:t>Only 18 seats in the waiting area; standing customers visibly agitated</a:t>
            </a:r>
          </a:p>
        </p:txBody>
      </p:sp>
      <p:sp>
        <p:nvSpPr>
          <p:cNvPr id="59" name="Rectangle 5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Horizon Bank Jurong East — observation log and system data</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BREAKOUT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3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F6FEB"/>
                </a:solidFill>
                <a:latin typeface="Arial"/>
              </a:rPr>
              <a:t>DISCUSSION QUESTIONS</a:t>
            </a:r>
          </a:p>
        </p:txBody>
      </p:sp>
      <p:sp>
        <p:nvSpPr>
          <p:cNvPr id="10" name="Rectangle 9"/>
          <p:cNvSpPr/>
          <p:nvPr/>
        </p:nvSpPr>
        <p:spPr>
          <a:xfrm>
            <a:off x="777240" y="2231136"/>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237561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75611"/>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Q1</a:t>
            </a:r>
          </a:p>
        </p:txBody>
      </p:sp>
      <p:sp>
        <p:nvSpPr>
          <p:cNvPr id="14" name="TextBox 13"/>
          <p:cNvSpPr txBox="1"/>
          <p:nvPr/>
        </p:nvSpPr>
        <p:spPr>
          <a:xfrm>
            <a:off x="1609344" y="2231136"/>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Populate all six bones. Which bone filled up fastest, and which was hardest? What does an empty bone usually mean — no causes, or no visibility?</a:t>
            </a:r>
          </a:p>
        </p:txBody>
      </p:sp>
      <p:sp>
        <p:nvSpPr>
          <p:cNvPr id="15" name="Rectangle 14"/>
          <p:cNvSpPr/>
          <p:nvPr/>
        </p:nvSpPr>
        <p:spPr>
          <a:xfrm>
            <a:off x="777240" y="3059582"/>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59582"/>
            <a:ext cx="82296" cy="7095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32040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204057"/>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Q2</a:t>
            </a:r>
          </a:p>
        </p:txBody>
      </p:sp>
      <p:sp>
        <p:nvSpPr>
          <p:cNvPr id="19" name="TextBox 18"/>
          <p:cNvSpPr txBox="1"/>
          <p:nvPr/>
        </p:nvSpPr>
        <p:spPr>
          <a:xfrm>
            <a:off x="1609344" y="3059582"/>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Head Office's answer was a Service Excellence training refresher. Which bone does that intervention target, and what share of your evidenced causes sit on that bone?</a:t>
            </a:r>
          </a:p>
        </p:txBody>
      </p:sp>
      <p:sp>
        <p:nvSpPr>
          <p:cNvPr id="20" name="Rectangle 19"/>
          <p:cNvSpPr/>
          <p:nvPr/>
        </p:nvSpPr>
        <p:spPr>
          <a:xfrm>
            <a:off x="777240" y="3888028"/>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88028"/>
            <a:ext cx="82296" cy="7095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 y="4032503"/>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032503"/>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Q3</a:t>
            </a:r>
          </a:p>
        </p:txBody>
      </p:sp>
      <p:sp>
        <p:nvSpPr>
          <p:cNvPr id="24" name="TextBox 23"/>
          <p:cNvSpPr txBox="1"/>
          <p:nvPr/>
        </p:nvSpPr>
        <p:spPr>
          <a:xfrm>
            <a:off x="1609344" y="3888028"/>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Find a cause on your diagram that CREATES another cause on a different bone. (Hint: look at the KPI and the queue.) What does that tell you about treating bones as independent?</a:t>
            </a:r>
          </a:p>
        </p:txBody>
      </p:sp>
      <p:sp>
        <p:nvSpPr>
          <p:cNvPr id="25" name="Rectangle 24"/>
          <p:cNvSpPr/>
          <p:nvPr/>
        </p:nvSpPr>
        <p:spPr>
          <a:xfrm>
            <a:off x="777240" y="4716474"/>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716474"/>
            <a:ext cx="82296" cy="70957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860949"/>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860949"/>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Q4</a:t>
            </a:r>
          </a:p>
        </p:txBody>
      </p:sp>
      <p:sp>
        <p:nvSpPr>
          <p:cNvPr id="29" name="TextBox 28"/>
          <p:cNvSpPr txBox="1"/>
          <p:nvPr/>
        </p:nvSpPr>
        <p:spPr>
          <a:xfrm>
            <a:off x="1609344" y="4716474"/>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Which three causes would you investigate first? Defend the ranking on evidence strength and likely contribution — not on ease of fixing.</a:t>
            </a:r>
          </a:p>
        </p:txBody>
      </p:sp>
      <p:sp>
        <p:nvSpPr>
          <p:cNvPr id="30" name="Rectangle 29"/>
          <p:cNvSpPr/>
          <p:nvPr/>
        </p:nvSpPr>
        <p:spPr>
          <a:xfrm>
            <a:off x="777240" y="5544920"/>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544920"/>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5840" y="5689395"/>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689395"/>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Q5</a:t>
            </a:r>
          </a:p>
        </p:txBody>
      </p:sp>
      <p:sp>
        <p:nvSpPr>
          <p:cNvPr id="34" name="TextBox 33"/>
          <p:cNvSpPr txBox="1"/>
          <p:nvPr/>
        </p:nvSpPr>
        <p:spPr>
          <a:xfrm>
            <a:off x="1609344" y="5544920"/>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The teller KPI is transactions-per-hour. Predict the behaviour that KPI produces at a counter when a confused elderly customer needs 20 minutes. Which bone does that belong on?</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WHAT WE LEARNED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3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0B981"/>
                </a:solidFill>
                <a:latin typeface="Arial"/>
              </a:rPr>
              <a:t>TRAINER DEBRIEF</a:t>
            </a:r>
          </a:p>
        </p:txBody>
      </p:sp>
      <p:sp>
        <p:nvSpPr>
          <p:cNvPr id="10" name="Rectangle 9"/>
          <p:cNvSpPr/>
          <p:nvPr/>
        </p:nvSpPr>
        <p:spPr>
          <a:xfrm>
            <a:off x="777240" y="2231136"/>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31720"/>
            <a:ext cx="10058400" cy="292608"/>
          </a:xfrm>
          <a:prstGeom prst="rect">
            <a:avLst/>
          </a:prstGeom>
          <a:noFill/>
        </p:spPr>
        <p:txBody>
          <a:bodyPr wrap="square" anchor="t">
            <a:spAutoFit/>
          </a:bodyPr>
          <a:lstStyle/>
          <a:p>
            <a:pPr algn="l">
              <a:spcAft>
                <a:spcPts val="400"/>
              </a:spcAft>
            </a:pPr>
            <a:r>
              <a:rPr sz="1050" b="1">
                <a:solidFill>
                  <a:srgbClr val="1F6FEB"/>
                </a:solidFill>
                <a:latin typeface="Arial"/>
              </a:rPr>
              <a:t>WHERE THE EVIDENCE SITS</a:t>
            </a:r>
          </a:p>
        </p:txBody>
      </p:sp>
      <p:sp>
        <p:nvSpPr>
          <p:cNvPr id="13" name="TextBox 12"/>
          <p:cNvSpPr txBox="1"/>
          <p:nvPr/>
        </p:nvSpPr>
        <p:spPr>
          <a:xfrm>
            <a:off x="1097280" y="2642616"/>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Process, Technology and Measurement carry the weight. People carries the least — and People is exactly what Head Office trained.</a:t>
            </a:r>
          </a:p>
        </p:txBody>
      </p:sp>
      <p:sp>
        <p:nvSpPr>
          <p:cNvPr id="14" name="Rectangle 13"/>
          <p:cNvSpPr/>
          <p:nvPr/>
        </p:nvSpPr>
        <p:spPr>
          <a:xfrm>
            <a:off x="777240" y="3268980"/>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8980"/>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69564"/>
            <a:ext cx="10058400" cy="292608"/>
          </a:xfrm>
          <a:prstGeom prst="rect">
            <a:avLst/>
          </a:prstGeom>
          <a:noFill/>
        </p:spPr>
        <p:txBody>
          <a:bodyPr wrap="square" anchor="t">
            <a:spAutoFit/>
          </a:bodyPr>
          <a:lstStyle/>
          <a:p>
            <a:pPr algn="l">
              <a:spcAft>
                <a:spcPts val="400"/>
              </a:spcAft>
            </a:pPr>
            <a:r>
              <a:rPr sz="1050" b="1">
                <a:solidFill>
                  <a:srgbClr val="10B981"/>
                </a:solidFill>
                <a:latin typeface="Arial"/>
              </a:rPr>
              <a:t>CROSS-BONE CAUSATION</a:t>
            </a:r>
          </a:p>
        </p:txBody>
      </p:sp>
      <p:sp>
        <p:nvSpPr>
          <p:cNvPr id="17" name="TextBox 16"/>
          <p:cNvSpPr txBox="1"/>
          <p:nvPr/>
        </p:nvSpPr>
        <p:spPr>
          <a:xfrm>
            <a:off x="1097280" y="3680460"/>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The transactions/hour KPI drives tellers to rush complex cases back into the queue, lengthening waits. Bones are not independent.</a:t>
            </a:r>
          </a:p>
        </p:txBody>
      </p:sp>
      <p:sp>
        <p:nvSpPr>
          <p:cNvPr id="18" name="Rectangle 17"/>
          <p:cNvSpPr/>
          <p:nvPr/>
        </p:nvSpPr>
        <p:spPr>
          <a:xfrm>
            <a:off x="777240" y="4306824"/>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06824"/>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10058400" cy="292608"/>
          </a:xfrm>
          <a:prstGeom prst="rect">
            <a:avLst/>
          </a:prstGeom>
          <a:noFill/>
        </p:spPr>
        <p:txBody>
          <a:bodyPr wrap="square" anchor="t">
            <a:spAutoFit/>
          </a:bodyPr>
          <a:lstStyle/>
          <a:p>
            <a:pPr algn="l">
              <a:spcAft>
                <a:spcPts val="400"/>
              </a:spcAft>
            </a:pPr>
            <a:r>
              <a:rPr sz="1050" b="1">
                <a:solidFill>
                  <a:srgbClr val="7C3AED"/>
                </a:solidFill>
                <a:latin typeface="Arial"/>
              </a:rPr>
              <a:t>FISHBONE VS 5 WHYS</a:t>
            </a:r>
          </a:p>
        </p:txBody>
      </p:sp>
      <p:sp>
        <p:nvSpPr>
          <p:cNvPr id="21" name="TextBox 20"/>
          <p:cNvSpPr txBox="1"/>
          <p:nvPr/>
        </p:nvSpPr>
        <p:spPr>
          <a:xfrm>
            <a:off x="1097280" y="4718304"/>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One deep chain vs six shallow ones. Depth without breadth fixes one cause and the problem persists; breadth without depth fixes symptoms everywhere.</a:t>
            </a:r>
          </a:p>
        </p:txBody>
      </p:sp>
      <p:sp>
        <p:nvSpPr>
          <p:cNvPr id="22" name="Rectangle 21"/>
          <p:cNvSpPr/>
          <p:nvPr/>
        </p:nvSpPr>
        <p:spPr>
          <a:xfrm>
            <a:off x="777240" y="5344668"/>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44668"/>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445252"/>
            <a:ext cx="10058400" cy="292608"/>
          </a:xfrm>
          <a:prstGeom prst="rect">
            <a:avLst/>
          </a:prstGeom>
          <a:noFill/>
        </p:spPr>
        <p:txBody>
          <a:bodyPr wrap="square" anchor="t">
            <a:spAutoFit/>
          </a:bodyPr>
          <a:lstStyle/>
          <a:p>
            <a:pPr algn="l">
              <a:spcAft>
                <a:spcPts val="400"/>
              </a:spcAft>
            </a:pPr>
            <a:r>
              <a:rPr sz="1050" b="1">
                <a:solidFill>
                  <a:srgbClr val="F59E0B"/>
                </a:solidFill>
                <a:latin typeface="Arial"/>
              </a:rPr>
              <a:t>GENAI'S ROLE</a:t>
            </a:r>
          </a:p>
        </p:txBody>
      </p:sp>
      <p:sp>
        <p:nvSpPr>
          <p:cNvPr id="25" name="TextBox 24"/>
          <p:cNvSpPr txBox="1"/>
          <p:nvPr/>
        </p:nvSpPr>
        <p:spPr>
          <a:xfrm>
            <a:off x="1097280" y="5756148"/>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Excellent at populating bones fast; poor at knowing which are real. Count how many came back [HYPOTHESIS] — those are your verification list.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PRIORITY  ·  WHERE TO LOOK FIRST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Pareto Analysis — the 80/20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principle</a:t>
            </a:r>
          </a:p>
          <a:p>
            <a:pPr algn="l">
              <a:spcAft>
                <a:spcPts val="300"/>
              </a:spcAft>
            </a:pPr>
            <a:r>
              <a:rPr sz="1100" b="0">
                <a:solidFill>
                  <a:srgbClr val="5B6372"/>
                </a:solidFill>
                <a:latin typeface="Arial"/>
              </a:rPr>
              <a:t>Roughly 80% of the effect comes from roughly 20% of the causes.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it does</a:t>
            </a:r>
          </a:p>
          <a:p>
            <a:pPr algn="l">
              <a:spcAft>
                <a:spcPts val="300"/>
              </a:spcAft>
            </a:pPr>
            <a:r>
              <a:rPr sz="1100" b="0">
                <a:solidFill>
                  <a:srgbClr val="5B6372"/>
                </a:solidFill>
                <a:latin typeface="Arial"/>
              </a:rPr>
              <a:t>Breaks a big problem into ranked pieces so effort lands where it counts.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vital few</a:t>
            </a:r>
          </a:p>
          <a:p>
            <a:pPr algn="l">
              <a:spcAft>
                <a:spcPts val="300"/>
              </a:spcAft>
            </a:pPr>
            <a:r>
              <a:rPr sz="1100" b="0">
                <a:solidFill>
                  <a:srgbClr val="5B6372"/>
                </a:solidFill>
                <a:latin typeface="Arial"/>
              </a:rPr>
              <a:t>The small set of categories carrying most of the volume.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trivial many</a:t>
            </a:r>
          </a:p>
          <a:p>
            <a:pPr algn="l">
              <a:spcAft>
                <a:spcPts val="300"/>
              </a:spcAft>
            </a:pPr>
            <a:r>
              <a:rPr sz="1100" b="0">
                <a:solidFill>
                  <a:srgbClr val="5B6372"/>
                </a:solidFill>
                <a:latin typeface="Arial"/>
              </a:rPr>
              <a:t>The long tail — real, but not where your first dollar goes.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Ranking dimension</a:t>
            </a:r>
          </a:p>
          <a:p>
            <a:pPr algn="l">
              <a:spcAft>
                <a:spcPts val="300"/>
              </a:spcAft>
            </a:pPr>
            <a:r>
              <a:rPr sz="1100" b="0">
                <a:solidFill>
                  <a:srgbClr val="5B6372"/>
                </a:solidFill>
                <a:latin typeface="Arial"/>
              </a:rPr>
              <a:t>Count, cost, risk or customer harm. Choosing this IS the analysis.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limitation</a:t>
            </a:r>
          </a:p>
          <a:p>
            <a:pPr algn="l">
              <a:spcAft>
                <a:spcPts val="300"/>
              </a:spcAft>
            </a:pPr>
            <a:r>
              <a:rPr sz="1100" b="0">
                <a:solidFill>
                  <a:srgbClr val="5B6372"/>
                </a:solidFill>
                <a:latin typeface="Arial"/>
              </a:rPr>
              <a:t>It ranks frequency. Frequency is not severity.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80/20 IN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Pareto — Nexa Logistics Delivery Failures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Four of eleven reasons carry 82% of failures; the top two alone carry 61%. 'Address incorrect' — the one generating the angriest emails — is only 11.6%. Loud is not the same as large.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SHOW YOUR WORKING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60% cut on the top two still misses the SLA.</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1,228 × 0.6 = 737 removed, leaving 1,263 of 40,000 = 3.2%. The 2% SLA needs the top four. Always do the arithmetic.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TOOL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Ed-Tool: Pareto Chart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20240"/>
            <a:ext cx="10058400" cy="402336"/>
          </a:xfrm>
          <a:prstGeom prst="rect">
            <a:avLst/>
          </a:prstGeom>
          <a:noFill/>
        </p:spPr>
        <p:txBody>
          <a:bodyPr wrap="square" anchor="t">
            <a:spAutoFit/>
          </a:bodyPr>
          <a:lstStyle/>
          <a:p>
            <a:pPr algn="l">
              <a:spcAft>
                <a:spcPts val="400"/>
              </a:spcAft>
            </a:pPr>
            <a:r>
              <a:rPr sz="2200" b="1">
                <a:solidFill>
                  <a:srgbClr val="161B26"/>
                </a:solidFill>
                <a:latin typeface="Arial"/>
              </a:rPr>
              <a:t>Pareto Chart Tool</a:t>
            </a:r>
          </a:p>
        </p:txBody>
      </p:sp>
      <p:sp>
        <p:nvSpPr>
          <p:cNvPr id="10" name="Rectangle 9"/>
          <p:cNvSpPr/>
          <p:nvPr/>
        </p:nvSpPr>
        <p:spPr>
          <a:xfrm>
            <a:off x="1097280" y="2432304"/>
            <a:ext cx="996696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61872" y="2624328"/>
            <a:ext cx="128016" cy="128016"/>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63040" y="2624328"/>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64208" y="2624328"/>
            <a:ext cx="128016" cy="128016"/>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0" y="2432304"/>
            <a:ext cx="8778240" cy="566928"/>
          </a:xfrm>
          <a:prstGeom prst="rect">
            <a:avLst/>
          </a:prstGeom>
          <a:noFill/>
        </p:spPr>
        <p:txBody>
          <a:bodyPr wrap="square" anchor="ctr">
            <a:spAutoFit/>
          </a:bodyPr>
          <a:lstStyle/>
          <a:p>
            <a:pPr algn="l">
              <a:spcAft>
                <a:spcPts val="400"/>
              </a:spcAft>
            </a:pPr>
            <a:r>
              <a:rPr sz="1350" b="1">
                <a:solidFill>
                  <a:srgbClr val="1F6FEB"/>
                </a:solidFill>
                <a:latin typeface="Arial"/>
              </a:rPr>
              <a:t>https://alfredang.github.io/paretochart/</a:t>
            </a:r>
          </a:p>
        </p:txBody>
      </p:sp>
      <p:sp>
        <p:nvSpPr>
          <p:cNvPr id="15" name="Rectangle 14"/>
          <p:cNvSpPr/>
          <p:nvPr/>
        </p:nvSpPr>
        <p:spPr>
          <a:xfrm>
            <a:off x="777240" y="3364992"/>
            <a:ext cx="5184648"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64992"/>
            <a:ext cx="518464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4" y="3547872"/>
            <a:ext cx="4727448" cy="310896"/>
          </a:xfrm>
          <a:prstGeom prst="rect">
            <a:avLst/>
          </a:prstGeom>
          <a:noFill/>
        </p:spPr>
        <p:txBody>
          <a:bodyPr wrap="square" anchor="t">
            <a:spAutoFit/>
          </a:bodyPr>
          <a:lstStyle/>
          <a:p>
            <a:pPr algn="l">
              <a:spcAft>
                <a:spcPts val="400"/>
              </a:spcAft>
            </a:pPr>
            <a:r>
              <a:rPr sz="1100" b="1">
                <a:solidFill>
                  <a:srgbClr val="1F6FEB"/>
                </a:solidFill>
                <a:latin typeface="Arial"/>
              </a:rPr>
              <a:t>WHAT IT DOES</a:t>
            </a:r>
          </a:p>
        </p:txBody>
      </p:sp>
      <p:sp>
        <p:nvSpPr>
          <p:cNvPr id="18" name="TextBox 17"/>
          <p:cNvSpPr txBox="1"/>
          <p:nvPr/>
        </p:nvSpPr>
        <p:spPr>
          <a:xfrm>
            <a:off x="1014984" y="3895344"/>
            <a:ext cx="4727448" cy="1737360"/>
          </a:xfrm>
          <a:prstGeom prst="rect">
            <a:avLst/>
          </a:prstGeom>
          <a:noFill/>
        </p:spPr>
        <p:txBody>
          <a:bodyPr wrap="square" anchor="t">
            <a:spAutoFit/>
          </a:bodyPr>
          <a:lstStyle/>
          <a:p>
            <a:pPr algn="l">
              <a:spcAft>
                <a:spcPts val="400"/>
              </a:spcAft>
            </a:pPr>
            <a:r>
              <a:rPr sz="1300" b="0">
                <a:solidFill>
                  <a:srgbClr val="161B26"/>
                </a:solidFill>
                <a:latin typeface="Arial"/>
              </a:rPr>
              <a:t>Sorts categories by count, computes the cumulative percentage line, and shows exactly where the 80% cut-off falls.</a:t>
            </a:r>
          </a:p>
        </p:txBody>
      </p:sp>
      <p:sp>
        <p:nvSpPr>
          <p:cNvPr id="19" name="Rectangle 18"/>
          <p:cNvSpPr/>
          <p:nvPr/>
        </p:nvSpPr>
        <p:spPr>
          <a:xfrm>
            <a:off x="6227064" y="3364992"/>
            <a:ext cx="5184648"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7064" y="3364992"/>
            <a:ext cx="518464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8" y="3547872"/>
            <a:ext cx="4727448" cy="310896"/>
          </a:xfrm>
          <a:prstGeom prst="rect">
            <a:avLst/>
          </a:prstGeom>
          <a:noFill/>
        </p:spPr>
        <p:txBody>
          <a:bodyPr wrap="square" anchor="t">
            <a:spAutoFit/>
          </a:bodyPr>
          <a:lstStyle/>
          <a:p>
            <a:pPr algn="l">
              <a:spcAft>
                <a:spcPts val="400"/>
              </a:spcAft>
            </a:pPr>
            <a:r>
              <a:rPr sz="1100" b="1">
                <a:solidFill>
                  <a:srgbClr val="7C3AED"/>
                </a:solidFill>
                <a:latin typeface="Arial"/>
              </a:rPr>
              <a:t>HOW YOU'LL USE IT</a:t>
            </a:r>
          </a:p>
        </p:txBody>
      </p:sp>
      <p:sp>
        <p:nvSpPr>
          <p:cNvPr id="22" name="TextBox 21"/>
          <p:cNvSpPr txBox="1"/>
          <p:nvPr/>
        </p:nvSpPr>
        <p:spPr>
          <a:xfrm>
            <a:off x="6464808" y="3895344"/>
            <a:ext cx="4727448" cy="1737360"/>
          </a:xfrm>
          <a:prstGeom prst="rect">
            <a:avLst/>
          </a:prstGeom>
          <a:noFill/>
        </p:spPr>
        <p:txBody>
          <a:bodyPr wrap="square" anchor="t">
            <a:spAutoFit/>
          </a:bodyPr>
          <a:lstStyle/>
          <a:p>
            <a:pPr algn="l">
              <a:spcAft>
                <a:spcPts val="400"/>
              </a:spcAft>
            </a:pPr>
            <a:r>
              <a:rPr sz="1300" b="0">
                <a:solidFill>
                  <a:srgbClr val="161B26"/>
                </a:solidFill>
                <a:latin typeface="Arial"/>
              </a:rPr>
              <a:t>Enter each failure reason and its count. Read the cumulative line to find your vital few.</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PROMPT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Pareto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1638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2889504"/>
          </a:xfrm>
          <a:prstGeom prst="rect">
            <a:avLst/>
          </a:prstGeom>
          <a:noFill/>
        </p:spPr>
        <p:txBody>
          <a:bodyPr wrap="square">
            <a:spAutoFit/>
          </a:bodyPr>
          <a:lstStyle/>
          <a:p>
            <a:pPr>
              <a:spcAft>
                <a:spcPts val="150"/>
              </a:spcAft>
            </a:pPr>
            <a:r>
              <a:rPr sz="1000" b="0">
                <a:solidFill>
                  <a:srgbClr val="D4D4D4"/>
                </a:solidFill>
                <a:latin typeface="Consolas"/>
              </a:rPr>
              <a:t>Act as an operations analyst. Perform a Pareto (80/20) analysis on the delivery failure data below for a Singapore last-mile logistics company.</a:t>
            </a:r>
          </a:p>
          <a:p>
            <a:pPr>
              <a:spcAft>
                <a:spcPts val="150"/>
              </a:spcAft>
            </a:pPr>
            <a:r>
              <a:rPr sz="1000" b="0">
                <a:solidFill>
                  <a:srgbClr val="D4D4D4"/>
                </a:solidFill>
                <a:latin typeface="Consolas"/>
              </a:rPr>
              <a:t> </a:t>
            </a:r>
          </a:p>
          <a:p>
            <a:pPr>
              <a:spcAft>
                <a:spcPts val="150"/>
              </a:spcAft>
            </a:pPr>
            <a:r>
              <a:rPr sz="1000" b="0">
                <a:solidFill>
                  <a:srgbClr val="D4D4D4"/>
                </a:solidFill>
                <a:latin typeface="Consolas"/>
              </a:rPr>
              <a:t>Total deliveries: 40,000/month. Failures: 2,000 (5%). SLA target: 2%. Re-attempt cost: S$8.50 each.</a:t>
            </a:r>
          </a:p>
          <a:p>
            <a:pPr>
              <a:spcAft>
                <a:spcPts val="150"/>
              </a:spcAft>
            </a:pPr>
            <a:r>
              <a:rPr sz="1000" b="0">
                <a:solidFill>
                  <a:srgbClr val="D4D4D4"/>
                </a:solidFill>
                <a:latin typeface="Consolas"/>
              </a:rPr>
              <a:t> </a:t>
            </a:r>
          </a:p>
          <a:p>
            <a:pPr>
              <a:spcAft>
                <a:spcPts val="150"/>
              </a:spcAft>
            </a:pPr>
            <a:r>
              <a:rPr sz="1000" b="1">
                <a:solidFill>
                  <a:srgbClr val="4EC9B0"/>
                </a:solidFill>
                <a:latin typeface="Consolas"/>
              </a:rPr>
              <a:t>Data (reason, count):</a:t>
            </a:r>
          </a:p>
          <a:p>
            <a:pPr>
              <a:spcAft>
                <a:spcPts val="150"/>
              </a:spcAft>
            </a:pPr>
            <a:r>
              <a:rPr sz="1000" b="0">
                <a:solidFill>
                  <a:srgbClr val="D4D4D4"/>
                </a:solidFill>
                <a:latin typeface="Consolas"/>
              </a:rPr>
              <a:t>Recipient not at home 742; Lobby access denied 486; Address incorrect 231; Parcel not loaded 188; Recipient refused 121; Vehicle breakdown 94; Weather 61; Invalid contact 38; Damaged 24; Restricted hours 20; Other 15.</a:t>
            </a:r>
          </a:p>
          <a:p>
            <a:pPr>
              <a:spcAft>
                <a:spcPts val="150"/>
              </a:spcAft>
            </a:pPr>
            <a:r>
              <a:rPr sz="1000" b="0">
                <a:solidFill>
                  <a:srgbClr val="D4D4D4"/>
                </a:solidFill>
                <a:latin typeface="Consolas"/>
              </a:rPr>
              <a:t> </a:t>
            </a:r>
          </a:p>
          <a:p>
            <a:pPr>
              <a:spcAft>
                <a:spcPts val="150"/>
              </a:spcAft>
            </a:pPr>
            <a:r>
              <a:rPr sz="1000" b="1">
                <a:solidFill>
                  <a:srgbClr val="4EC9B0"/>
                </a:solidFill>
                <a:latin typeface="Consolas"/>
              </a:rPr>
              <a:t>Produce:</a:t>
            </a:r>
          </a:p>
          <a:p>
            <a:pPr>
              <a:spcAft>
                <a:spcPts val="150"/>
              </a:spcAft>
            </a:pPr>
            <a:r>
              <a:rPr sz="1000" b="1">
                <a:solidFill>
                  <a:srgbClr val="4EC9B0"/>
                </a:solidFill>
                <a:latin typeface="Consolas"/>
              </a:rPr>
              <a:t>1. A table with count, percentage, and CUMULATIVE percentage, sorted descending</a:t>
            </a:r>
          </a:p>
          <a:p>
            <a:pPr>
              <a:spcAft>
                <a:spcPts val="150"/>
              </a:spcAft>
            </a:pPr>
            <a:r>
              <a:rPr sz="1000" b="1">
                <a:solidFill>
                  <a:srgbClr val="4EC9B0"/>
                </a:solidFill>
                <a:latin typeface="Consolas"/>
              </a:rPr>
              <a:t>2. The cut-off line — which reasons make up the vital few (roughly 80%)</a:t>
            </a:r>
          </a:p>
          <a:p>
            <a:pPr>
              <a:spcAft>
                <a:spcPts val="150"/>
              </a:spcAft>
            </a:pPr>
            <a:r>
              <a:rPr sz="1000" b="1">
                <a:solidFill>
                  <a:srgbClr val="4EC9B0"/>
                </a:solidFill>
                <a:latin typeface="Consolas"/>
              </a:rPr>
              <a:t>3. The monthly S$ recovery if the top 2 reasons were reduced by 60%</a:t>
            </a:r>
          </a:p>
          <a:p>
            <a:pPr>
              <a:spcAft>
                <a:spcPts val="150"/>
              </a:spcAft>
            </a:pPr>
            <a:r>
              <a:rPr sz="1000" b="1">
                <a:solidFill>
                  <a:srgbClr val="4EC9B0"/>
                </a:solidFill>
                <a:latin typeface="Consolas"/>
              </a:rPr>
              <a:t>4. Whether hitting the 2% SLA is achievable by fixing the vital few alone — show the arithmetic</a:t>
            </a:r>
          </a:p>
          <a:p>
            <a:pPr>
              <a:spcAft>
                <a:spcPts val="150"/>
              </a:spcAft>
            </a:pPr>
            <a:r>
              <a:rPr sz="1000" b="1">
                <a:solidFill>
                  <a:srgbClr val="4EC9B0"/>
                </a:solidFill>
                <a:latin typeface="Consolas"/>
              </a:rPr>
              <a:t>5. One caution about what this Pareto analysis does NOT tell me</a:t>
            </a:r>
          </a:p>
        </p:txBody>
      </p:sp>
      <p:sp>
        <p:nvSpPr>
          <p:cNvPr id="12" name="Rectangle 11"/>
          <p:cNvSpPr/>
          <p:nvPr/>
        </p:nvSpPr>
        <p:spPr>
          <a:xfrm>
            <a:off x="777240" y="5541264"/>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541264"/>
            <a:ext cx="8229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541264"/>
            <a:ext cx="10149840" cy="713232"/>
          </a:xfrm>
          <a:prstGeom prst="rect">
            <a:avLst/>
          </a:prstGeom>
          <a:noFill/>
        </p:spPr>
        <p:txBody>
          <a:bodyPr wrap="square" anchor="ctr">
            <a:spAutoFit/>
          </a:bodyPr>
          <a:lstStyle/>
          <a:p>
            <a:pPr algn="l">
              <a:spcAft>
                <a:spcPts val="400"/>
              </a:spcAft>
            </a:pPr>
            <a:r>
              <a:rPr sz="1050" b="1">
                <a:solidFill>
                  <a:srgbClr val="F59E0B"/>
                </a:solidFill>
                <a:latin typeface="Arial"/>
              </a:rPr>
              <a:t>WATCH FOR  </a:t>
            </a:r>
            <a:r>
              <a:rPr sz="1150" b="0">
                <a:solidFill>
                  <a:srgbClr val="161B26"/>
                </a:solidFill>
                <a:latin typeface="Arial"/>
              </a:rPr>
              <a:t>Always verify the AI's percentages against the tool. Arithmetic is where it still slips.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4 — Pareto Analysis to Target the Vital Few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46304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463040" cy="402336"/>
          </a:xfrm>
          <a:prstGeom prst="rect">
            <a:avLst/>
          </a:prstGeom>
          <a:noFill/>
        </p:spPr>
        <p:txBody>
          <a:bodyPr wrap="square" anchor="ctr">
            <a:spAutoFit/>
          </a:bodyPr>
          <a:lstStyle/>
          <a:p>
            <a:pPr algn="ctr">
              <a:spcAft>
                <a:spcPts val="400"/>
              </a:spcAft>
            </a:pPr>
            <a:r>
              <a:rPr sz="1400" b="1">
                <a:solidFill>
                  <a:srgbClr val="FFFFFF"/>
                </a:solidFill>
                <a:latin typeface="Arial"/>
              </a:rPr>
              <a:t>ACTIVITY 4</a:t>
            </a:r>
          </a:p>
        </p:txBody>
      </p:sp>
      <p:sp>
        <p:nvSpPr>
          <p:cNvPr id="9" name="TextBox 8"/>
          <p:cNvSpPr txBox="1"/>
          <p:nvPr/>
        </p:nvSpPr>
        <p:spPr>
          <a:xfrm>
            <a:off x="2395728" y="1719072"/>
            <a:ext cx="8961120" cy="402336"/>
          </a:xfrm>
          <a:prstGeom prst="rect">
            <a:avLst/>
          </a:prstGeom>
          <a:noFill/>
        </p:spPr>
        <p:txBody>
          <a:bodyPr wrap="square" anchor="ctr">
            <a:spAutoFit/>
          </a:bodyPr>
          <a:lstStyle/>
          <a:p>
            <a:pPr algn="l">
              <a:spcAft>
                <a:spcPts val="400"/>
              </a:spcAft>
            </a:pPr>
            <a:r>
              <a:rPr sz="1100" b="0">
                <a:solidFill>
                  <a:srgbClr val="5B6372"/>
                </a:solidFill>
                <a:latin typeface="Arial"/>
              </a:rPr>
              <a:t>A1, A3 · K2 — Prioritise causes by contribution and identify key implications.</a:t>
            </a:r>
          </a:p>
        </p:txBody>
      </p:sp>
      <p:sp>
        <p:nvSpPr>
          <p:cNvPr id="10" name="Rectangle 9"/>
          <p:cNvSpPr/>
          <p:nvPr/>
        </p:nvSpPr>
        <p:spPr>
          <a:xfrm>
            <a:off x="777240" y="228600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14016"/>
            <a:ext cx="10149840" cy="329184"/>
          </a:xfrm>
          <a:prstGeom prst="rect">
            <a:avLst/>
          </a:prstGeom>
          <a:noFill/>
        </p:spPr>
        <p:txBody>
          <a:bodyPr wrap="square" anchor="t">
            <a:spAutoFit/>
          </a:bodyPr>
          <a:lstStyle/>
          <a:p>
            <a:pPr algn="l">
              <a:spcAft>
                <a:spcPts val="400"/>
              </a:spcAft>
            </a:pPr>
            <a:r>
              <a:rPr sz="1550" b="1">
                <a:solidFill>
                  <a:srgbClr val="161B26"/>
                </a:solidFill>
                <a:latin typeface="Arial"/>
              </a:rPr>
              <a:t>Nexa Logistics — 2,000 failed deliveries a month</a:t>
            </a:r>
          </a:p>
        </p:txBody>
      </p:sp>
      <p:sp>
        <p:nvSpPr>
          <p:cNvPr id="13" name="TextBox 12"/>
          <p:cNvSpPr txBox="1"/>
          <p:nvPr/>
        </p:nvSpPr>
        <p:spPr>
          <a:xfrm>
            <a:off x="1078992" y="2779776"/>
            <a:ext cx="10149840" cy="731520"/>
          </a:xfrm>
          <a:prstGeom prst="rect">
            <a:avLst/>
          </a:prstGeom>
          <a:noFill/>
        </p:spPr>
        <p:txBody>
          <a:bodyPr wrap="square" anchor="t">
            <a:spAutoFit/>
          </a:bodyPr>
          <a:lstStyle/>
          <a:p>
            <a:pPr algn="l">
              <a:spcAft>
                <a:spcPts val="400"/>
              </a:spcAft>
            </a:pPr>
            <a:r>
              <a:rPr sz="1250" b="0">
                <a:solidFill>
                  <a:srgbClr val="5B6372"/>
                </a:solidFill>
                <a:latin typeface="Arial"/>
              </a:rPr>
              <a:t>Rank eleven failure reasons, find the vital few, and decide where two funded initiatives go.</a:t>
            </a:r>
          </a:p>
        </p:txBody>
      </p:sp>
      <p:sp>
        <p:nvSpPr>
          <p:cNvPr id="14" name="Rectangle 13"/>
          <p:cNvSpPr/>
          <p:nvPr/>
        </p:nvSpPr>
        <p:spPr>
          <a:xfrm>
            <a:off x="777240"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85615"/>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31920"/>
            <a:ext cx="2980944" cy="292608"/>
          </a:xfrm>
          <a:prstGeom prst="rect">
            <a:avLst/>
          </a:prstGeom>
          <a:noFill/>
        </p:spPr>
        <p:txBody>
          <a:bodyPr wrap="square" anchor="t">
            <a:spAutoFit/>
          </a:bodyPr>
          <a:lstStyle/>
          <a:p>
            <a:pPr algn="l">
              <a:spcAft>
                <a:spcPts val="400"/>
              </a:spcAft>
            </a:pPr>
            <a:r>
              <a:rPr sz="1100" b="1">
                <a:solidFill>
                  <a:srgbClr val="1F6FEB"/>
                </a:solidFill>
                <a:latin typeface="Arial"/>
              </a:rPr>
              <a:t>TEAM</a:t>
            </a:r>
          </a:p>
        </p:txBody>
      </p:sp>
      <p:sp>
        <p:nvSpPr>
          <p:cNvPr id="17" name="TextBox 16"/>
          <p:cNvSpPr txBox="1"/>
          <p:nvPr/>
        </p:nvSpPr>
        <p:spPr>
          <a:xfrm>
            <a:off x="996696"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Teams of 3-5</a:t>
            </a:r>
          </a:p>
        </p:txBody>
      </p:sp>
      <p:sp>
        <p:nvSpPr>
          <p:cNvPr id="18" name="Rectangle 17"/>
          <p:cNvSpPr/>
          <p:nvPr/>
        </p:nvSpPr>
        <p:spPr>
          <a:xfrm>
            <a:off x="4398264"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85615"/>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31920"/>
            <a:ext cx="2980944" cy="292608"/>
          </a:xfrm>
          <a:prstGeom prst="rect">
            <a:avLst/>
          </a:prstGeom>
          <a:noFill/>
        </p:spPr>
        <p:txBody>
          <a:bodyPr wrap="square" anchor="t">
            <a:spAutoFit/>
          </a:bodyPr>
          <a:lstStyle/>
          <a:p>
            <a:pPr algn="l">
              <a:spcAft>
                <a:spcPts val="400"/>
              </a:spcAft>
            </a:pPr>
            <a:r>
              <a:rPr sz="1100" b="1">
                <a:solidFill>
                  <a:srgbClr val="10B981"/>
                </a:solidFill>
                <a:latin typeface="Arial"/>
              </a:rPr>
              <a:t>TIME</a:t>
            </a:r>
          </a:p>
        </p:txBody>
      </p:sp>
      <p:sp>
        <p:nvSpPr>
          <p:cNvPr id="21" name="TextBox 20"/>
          <p:cNvSpPr txBox="1"/>
          <p:nvPr/>
        </p:nvSpPr>
        <p:spPr>
          <a:xfrm>
            <a:off x="4617720"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40 minutes</a:t>
            </a:r>
          </a:p>
        </p:txBody>
      </p:sp>
      <p:sp>
        <p:nvSpPr>
          <p:cNvPr id="22" name="Rectangle 21"/>
          <p:cNvSpPr/>
          <p:nvPr/>
        </p:nvSpPr>
        <p:spPr>
          <a:xfrm>
            <a:off x="8019288"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85615"/>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31920"/>
            <a:ext cx="2980944" cy="292608"/>
          </a:xfrm>
          <a:prstGeom prst="rect">
            <a:avLst/>
          </a:prstGeom>
          <a:noFill/>
        </p:spPr>
        <p:txBody>
          <a:bodyPr wrap="square" anchor="t">
            <a:spAutoFit/>
          </a:bodyPr>
          <a:lstStyle/>
          <a:p>
            <a:pPr algn="l">
              <a:spcAft>
                <a:spcPts val="400"/>
              </a:spcAft>
            </a:pPr>
            <a:r>
              <a:rPr sz="1100" b="1">
                <a:solidFill>
                  <a:srgbClr val="7C3AED"/>
                </a:solidFill>
                <a:latin typeface="Arial"/>
              </a:rPr>
              <a:t>TOOL</a:t>
            </a:r>
          </a:p>
        </p:txBody>
      </p:sp>
      <p:sp>
        <p:nvSpPr>
          <p:cNvPr id="25" name="TextBox 24"/>
          <p:cNvSpPr txBox="1"/>
          <p:nvPr/>
        </p:nvSpPr>
        <p:spPr>
          <a:xfrm>
            <a:off x="8238744" y="4261104"/>
            <a:ext cx="2980944" cy="914400"/>
          </a:xfrm>
          <a:prstGeom prst="rect">
            <a:avLst/>
          </a:prstGeom>
          <a:noFill/>
        </p:spPr>
        <p:txBody>
          <a:bodyPr wrap="square" anchor="t">
            <a:spAutoFit/>
          </a:bodyPr>
          <a:lstStyle/>
          <a:p>
            <a:pPr algn="l">
              <a:spcAft>
                <a:spcPts val="400"/>
              </a:spcAft>
            </a:pPr>
            <a:r>
              <a:rPr sz="1050" b="0">
                <a:solidFill>
                  <a:srgbClr val="161B26"/>
                </a:solidFill>
                <a:latin typeface="Arial"/>
              </a:rPr>
              <a:t>Pareto Chart Tool · https://alfredang.github.io/paretochart/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4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Situation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02336"/>
          </a:xfrm>
          <a:prstGeom prst="rect">
            <a:avLst/>
          </a:prstGeom>
          <a:noFill/>
        </p:spPr>
        <p:txBody>
          <a:bodyPr wrap="square" anchor="ctr">
            <a:spAutoFit/>
          </a:bodyPr>
          <a:lstStyle/>
          <a:p>
            <a:pPr algn="ctr">
              <a:spcAft>
                <a:spcPts val="400"/>
              </a:spcAft>
            </a:pPr>
            <a:r>
              <a:rPr sz="1200" b="1">
                <a:solidFill>
                  <a:srgbClr val="FFFFFF"/>
                </a:solidFill>
                <a:latin typeface="Arial"/>
              </a:rPr>
              <a:t>CASE STUDY</a:t>
            </a:r>
          </a:p>
        </p:txBody>
      </p:sp>
      <p:sp>
        <p:nvSpPr>
          <p:cNvPr id="9" name="TextBox 8"/>
          <p:cNvSpPr txBox="1"/>
          <p:nvPr/>
        </p:nvSpPr>
        <p:spPr>
          <a:xfrm>
            <a:off x="2633472" y="1719072"/>
            <a:ext cx="8778240" cy="402336"/>
          </a:xfrm>
          <a:prstGeom prst="rect">
            <a:avLst/>
          </a:prstGeom>
          <a:noFill/>
        </p:spPr>
        <p:txBody>
          <a:bodyPr wrap="square" anchor="ctr">
            <a:spAutoFit/>
          </a:bodyPr>
          <a:lstStyle/>
          <a:p>
            <a:pPr algn="l">
              <a:spcAft>
                <a:spcPts val="400"/>
              </a:spcAft>
            </a:pPr>
            <a:r>
              <a:rPr sz="1500" b="1">
                <a:solidFill>
                  <a:srgbClr val="161B26"/>
                </a:solidFill>
                <a:latin typeface="Arial"/>
              </a:rPr>
              <a:t>Nexa Logistics — 2,000 failed deliveries a month</a:t>
            </a:r>
          </a:p>
        </p:txBody>
      </p:sp>
      <p:sp>
        <p:nvSpPr>
          <p:cNvPr id="10" name="Rectangle 9"/>
          <p:cNvSpPr/>
          <p:nvPr/>
        </p:nvSpPr>
        <p:spPr>
          <a:xfrm>
            <a:off x="777240" y="2286000"/>
            <a:ext cx="10634472" cy="3931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3931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432304"/>
            <a:ext cx="10058400" cy="3657600"/>
          </a:xfrm>
          <a:prstGeom prst="rect">
            <a:avLst/>
          </a:prstGeom>
          <a:noFill/>
        </p:spPr>
        <p:txBody>
          <a:bodyPr wrap="square">
            <a:spAutoFit/>
          </a:bodyPr>
          <a:lstStyle/>
          <a:p>
            <a:pPr>
              <a:spcAft>
                <a:spcPts val="700"/>
              </a:spcAft>
            </a:pPr>
            <a:r>
              <a:rPr sz="1300">
                <a:solidFill>
                  <a:srgbClr val="161B26"/>
                </a:solidFill>
                <a:latin typeface="Arial"/>
              </a:rPr>
              <a:t>Nexa Logistics runs last-mile delivery for e-commerce clients across Singapore. Of 40,000 monthly deliveries, 2,000 fail on first attempt — a 5% failure rate against a contractual SLA of 2%. Every failed delivery costs S$8.50 to re-attempt: S$17,000 a month, and two clients have invoked SLA penalty clauses.</a:t>
            </a:r>
          </a:p>
          <a:p>
            <a:pPr>
              <a:spcAft>
                <a:spcPts val="700"/>
              </a:spcAft>
            </a:pPr>
            <a:r>
              <a:rPr sz="1300">
                <a:solidFill>
                  <a:srgbClr val="161B26"/>
                </a:solidFill>
                <a:latin typeface="Arial"/>
              </a:rPr>
              <a:t>The Operations Director has a list of eleven failure reasons and a budget that will fund roughly two initiatives this quarter. His instinct is to start with 'Address incorrect' because it generates the angriest client emails.</a:t>
            </a:r>
          </a:p>
          <a:p>
            <a:pPr>
              <a:spcAft>
                <a:spcPts val="700"/>
              </a:spcAft>
            </a:pPr>
            <a:r>
              <a:rPr sz="1300">
                <a:solidFill>
                  <a:srgbClr val="161B26"/>
                </a:solidFill>
                <a:latin typeface="Arial"/>
              </a:rPr>
              <a:t>Your team must decide where the two initiatives should go — using the data, not the noise.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Failure reason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Count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Cost impact (S$)</a:t>
            </a:r>
          </a:p>
        </p:txBody>
      </p:sp>
      <p:sp>
        <p:nvSpPr>
          <p:cNvPr id="13" name="Rectangle 12"/>
          <p:cNvSpPr/>
          <p:nvPr/>
        </p:nvSpPr>
        <p:spPr>
          <a:xfrm>
            <a:off x="777240" y="2258568"/>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Recipient not at home (no delivery window given)</a:t>
            </a:r>
          </a:p>
        </p:txBody>
      </p:sp>
      <p:sp>
        <p:nvSpPr>
          <p:cNvPr id="15" name="Rectangle 14"/>
          <p:cNvSpPr/>
          <p:nvPr/>
        </p:nvSpPr>
        <p:spPr>
          <a:xfrm>
            <a:off x="3542202" y="2258568"/>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742</a:t>
            </a:r>
          </a:p>
        </p:txBody>
      </p:sp>
      <p:sp>
        <p:nvSpPr>
          <p:cNvPr id="17" name="Rectangle 16"/>
          <p:cNvSpPr/>
          <p:nvPr/>
        </p:nvSpPr>
        <p:spPr>
          <a:xfrm>
            <a:off x="7476957" y="2258568"/>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6307</a:t>
            </a:r>
          </a:p>
        </p:txBody>
      </p:sp>
      <p:sp>
        <p:nvSpPr>
          <p:cNvPr id="19" name="Rectangle 18"/>
          <p:cNvSpPr/>
          <p:nvPr/>
        </p:nvSpPr>
        <p:spPr>
          <a:xfrm>
            <a:off x="777240" y="2522081"/>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522081"/>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Driver could not access condo / office lobby</a:t>
            </a:r>
          </a:p>
        </p:txBody>
      </p:sp>
      <p:sp>
        <p:nvSpPr>
          <p:cNvPr id="21" name="Rectangle 20"/>
          <p:cNvSpPr/>
          <p:nvPr/>
        </p:nvSpPr>
        <p:spPr>
          <a:xfrm>
            <a:off x="3542202" y="2522081"/>
            <a:ext cx="3934755"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522081"/>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486</a:t>
            </a:r>
          </a:p>
        </p:txBody>
      </p:sp>
      <p:sp>
        <p:nvSpPr>
          <p:cNvPr id="23" name="Rectangle 22"/>
          <p:cNvSpPr/>
          <p:nvPr/>
        </p:nvSpPr>
        <p:spPr>
          <a:xfrm>
            <a:off x="7476957" y="2522081"/>
            <a:ext cx="3934755"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522081"/>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4131</a:t>
            </a:r>
          </a:p>
        </p:txBody>
      </p:sp>
      <p:sp>
        <p:nvSpPr>
          <p:cNvPr id="25" name="Rectangle 24"/>
          <p:cNvSpPr/>
          <p:nvPr/>
        </p:nvSpPr>
        <p:spPr>
          <a:xfrm>
            <a:off x="777240" y="2785594"/>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2785594"/>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Address incomplete or incorrect</a:t>
            </a:r>
          </a:p>
        </p:txBody>
      </p:sp>
      <p:sp>
        <p:nvSpPr>
          <p:cNvPr id="27" name="Rectangle 26"/>
          <p:cNvSpPr/>
          <p:nvPr/>
        </p:nvSpPr>
        <p:spPr>
          <a:xfrm>
            <a:off x="3542202" y="2785594"/>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2785594"/>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231</a:t>
            </a:r>
          </a:p>
        </p:txBody>
      </p:sp>
      <p:sp>
        <p:nvSpPr>
          <p:cNvPr id="29" name="Rectangle 28"/>
          <p:cNvSpPr/>
          <p:nvPr/>
        </p:nvSpPr>
        <p:spPr>
          <a:xfrm>
            <a:off x="7476957" y="2785594"/>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2785594"/>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1964</a:t>
            </a:r>
          </a:p>
        </p:txBody>
      </p:sp>
      <p:sp>
        <p:nvSpPr>
          <p:cNvPr id="31" name="Rectangle 30"/>
          <p:cNvSpPr/>
          <p:nvPr/>
        </p:nvSpPr>
        <p:spPr>
          <a:xfrm>
            <a:off x="777240" y="3049107"/>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049107"/>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Parcel not loaded (sorting error)</a:t>
            </a:r>
          </a:p>
        </p:txBody>
      </p:sp>
      <p:sp>
        <p:nvSpPr>
          <p:cNvPr id="33" name="Rectangle 32"/>
          <p:cNvSpPr/>
          <p:nvPr/>
        </p:nvSpPr>
        <p:spPr>
          <a:xfrm>
            <a:off x="3542202" y="3049107"/>
            <a:ext cx="3934755"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049107"/>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188</a:t>
            </a:r>
          </a:p>
        </p:txBody>
      </p:sp>
      <p:sp>
        <p:nvSpPr>
          <p:cNvPr id="35" name="Rectangle 34"/>
          <p:cNvSpPr/>
          <p:nvPr/>
        </p:nvSpPr>
        <p:spPr>
          <a:xfrm>
            <a:off x="7476957" y="3049107"/>
            <a:ext cx="3934755"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049107"/>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1598</a:t>
            </a:r>
          </a:p>
        </p:txBody>
      </p:sp>
      <p:sp>
        <p:nvSpPr>
          <p:cNvPr id="37" name="Rectangle 36"/>
          <p:cNvSpPr/>
          <p:nvPr/>
        </p:nvSpPr>
        <p:spPr>
          <a:xfrm>
            <a:off x="777240" y="3312620"/>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312620"/>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Recipient refused (wrong item expected)</a:t>
            </a:r>
          </a:p>
        </p:txBody>
      </p:sp>
      <p:sp>
        <p:nvSpPr>
          <p:cNvPr id="39" name="Rectangle 38"/>
          <p:cNvSpPr/>
          <p:nvPr/>
        </p:nvSpPr>
        <p:spPr>
          <a:xfrm>
            <a:off x="3542202" y="3312620"/>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312620"/>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121</a:t>
            </a:r>
          </a:p>
        </p:txBody>
      </p:sp>
      <p:sp>
        <p:nvSpPr>
          <p:cNvPr id="41" name="Rectangle 40"/>
          <p:cNvSpPr/>
          <p:nvPr/>
        </p:nvSpPr>
        <p:spPr>
          <a:xfrm>
            <a:off x="7476957" y="3312620"/>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312620"/>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1029</a:t>
            </a:r>
          </a:p>
        </p:txBody>
      </p:sp>
      <p:sp>
        <p:nvSpPr>
          <p:cNvPr id="43" name="Rectangle 42"/>
          <p:cNvSpPr/>
          <p:nvPr/>
        </p:nvSpPr>
        <p:spPr>
          <a:xfrm>
            <a:off x="777240" y="3576133"/>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3576133"/>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Vehicle breakdown / route disruption</a:t>
            </a:r>
          </a:p>
        </p:txBody>
      </p:sp>
      <p:sp>
        <p:nvSpPr>
          <p:cNvPr id="45" name="Rectangle 44"/>
          <p:cNvSpPr/>
          <p:nvPr/>
        </p:nvSpPr>
        <p:spPr>
          <a:xfrm>
            <a:off x="3542202" y="3576133"/>
            <a:ext cx="3934755"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3576133"/>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94</a:t>
            </a:r>
          </a:p>
        </p:txBody>
      </p:sp>
      <p:sp>
        <p:nvSpPr>
          <p:cNvPr id="47" name="Rectangle 46"/>
          <p:cNvSpPr/>
          <p:nvPr/>
        </p:nvSpPr>
        <p:spPr>
          <a:xfrm>
            <a:off x="7476957" y="3576133"/>
            <a:ext cx="3934755"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3576133"/>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799</a:t>
            </a:r>
          </a:p>
        </p:txBody>
      </p:sp>
      <p:sp>
        <p:nvSpPr>
          <p:cNvPr id="49" name="Rectangle 48"/>
          <p:cNvSpPr/>
          <p:nvPr/>
        </p:nvSpPr>
        <p:spPr>
          <a:xfrm>
            <a:off x="777240" y="3839646"/>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3839646"/>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Weather-related suspension</a:t>
            </a:r>
          </a:p>
        </p:txBody>
      </p:sp>
      <p:sp>
        <p:nvSpPr>
          <p:cNvPr id="51" name="Rectangle 50"/>
          <p:cNvSpPr/>
          <p:nvPr/>
        </p:nvSpPr>
        <p:spPr>
          <a:xfrm>
            <a:off x="3542202" y="3839646"/>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3839646"/>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61</a:t>
            </a:r>
          </a:p>
        </p:txBody>
      </p:sp>
      <p:sp>
        <p:nvSpPr>
          <p:cNvPr id="53" name="Rectangle 52"/>
          <p:cNvSpPr/>
          <p:nvPr/>
        </p:nvSpPr>
        <p:spPr>
          <a:xfrm>
            <a:off x="7476957" y="3839646"/>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3839646"/>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519</a:t>
            </a:r>
          </a:p>
        </p:txBody>
      </p:sp>
      <p:sp>
        <p:nvSpPr>
          <p:cNvPr id="55" name="Rectangle 54"/>
          <p:cNvSpPr/>
          <p:nvPr/>
        </p:nvSpPr>
        <p:spPr>
          <a:xfrm>
            <a:off x="777240" y="4103159"/>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103159"/>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Recipient contact number invalid</a:t>
            </a:r>
          </a:p>
        </p:txBody>
      </p:sp>
      <p:sp>
        <p:nvSpPr>
          <p:cNvPr id="57" name="Rectangle 56"/>
          <p:cNvSpPr/>
          <p:nvPr/>
        </p:nvSpPr>
        <p:spPr>
          <a:xfrm>
            <a:off x="3542202" y="4103159"/>
            <a:ext cx="3934755"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103159"/>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38</a:t>
            </a:r>
          </a:p>
        </p:txBody>
      </p:sp>
      <p:sp>
        <p:nvSpPr>
          <p:cNvPr id="59" name="Rectangle 58"/>
          <p:cNvSpPr/>
          <p:nvPr/>
        </p:nvSpPr>
        <p:spPr>
          <a:xfrm>
            <a:off x="7476957" y="4103159"/>
            <a:ext cx="3934755"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04973" y="4103159"/>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323</a:t>
            </a:r>
          </a:p>
        </p:txBody>
      </p:sp>
      <p:sp>
        <p:nvSpPr>
          <p:cNvPr id="61" name="Rectangle 60"/>
          <p:cNvSpPr/>
          <p:nvPr/>
        </p:nvSpPr>
        <p:spPr>
          <a:xfrm>
            <a:off x="777240" y="4366672"/>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05256" y="4366672"/>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Parcel damaged in transit</a:t>
            </a:r>
          </a:p>
        </p:txBody>
      </p:sp>
      <p:sp>
        <p:nvSpPr>
          <p:cNvPr id="63" name="Rectangle 62"/>
          <p:cNvSpPr/>
          <p:nvPr/>
        </p:nvSpPr>
        <p:spPr>
          <a:xfrm>
            <a:off x="3542202" y="4366672"/>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70218" y="4366672"/>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24</a:t>
            </a:r>
          </a:p>
        </p:txBody>
      </p:sp>
      <p:sp>
        <p:nvSpPr>
          <p:cNvPr id="65" name="Rectangle 64"/>
          <p:cNvSpPr/>
          <p:nvPr/>
        </p:nvSpPr>
        <p:spPr>
          <a:xfrm>
            <a:off x="7476957" y="4366672"/>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604973" y="4366672"/>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204</a:t>
            </a:r>
          </a:p>
        </p:txBody>
      </p:sp>
      <p:sp>
        <p:nvSpPr>
          <p:cNvPr id="67" name="Rectangle 66"/>
          <p:cNvSpPr/>
          <p:nvPr/>
        </p:nvSpPr>
        <p:spPr>
          <a:xfrm>
            <a:off x="777240" y="4630185"/>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5256" y="4630185"/>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Restricted delivery hours at destination</a:t>
            </a:r>
          </a:p>
        </p:txBody>
      </p:sp>
      <p:sp>
        <p:nvSpPr>
          <p:cNvPr id="69" name="Rectangle 68"/>
          <p:cNvSpPr/>
          <p:nvPr/>
        </p:nvSpPr>
        <p:spPr>
          <a:xfrm>
            <a:off x="3542202" y="4630185"/>
            <a:ext cx="3934755"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670218" y="4630185"/>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20</a:t>
            </a:r>
          </a:p>
        </p:txBody>
      </p:sp>
      <p:sp>
        <p:nvSpPr>
          <p:cNvPr id="71" name="Rectangle 70"/>
          <p:cNvSpPr/>
          <p:nvPr/>
        </p:nvSpPr>
        <p:spPr>
          <a:xfrm>
            <a:off x="7476957" y="4630185"/>
            <a:ext cx="3934755"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604973" y="4630185"/>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170</a:t>
            </a:r>
          </a:p>
        </p:txBody>
      </p:sp>
      <p:sp>
        <p:nvSpPr>
          <p:cNvPr id="73" name="Rectangle 72"/>
          <p:cNvSpPr/>
          <p:nvPr/>
        </p:nvSpPr>
        <p:spPr>
          <a:xfrm>
            <a:off x="777240" y="4893698"/>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5256" y="4893698"/>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Other / unclassified</a:t>
            </a:r>
          </a:p>
        </p:txBody>
      </p:sp>
      <p:sp>
        <p:nvSpPr>
          <p:cNvPr id="75" name="Rectangle 74"/>
          <p:cNvSpPr/>
          <p:nvPr/>
        </p:nvSpPr>
        <p:spPr>
          <a:xfrm>
            <a:off x="3542202" y="4893698"/>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670218" y="4893698"/>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15</a:t>
            </a:r>
          </a:p>
        </p:txBody>
      </p:sp>
      <p:sp>
        <p:nvSpPr>
          <p:cNvPr id="77" name="Rectangle 76"/>
          <p:cNvSpPr/>
          <p:nvPr/>
        </p:nvSpPr>
        <p:spPr>
          <a:xfrm>
            <a:off x="7476957" y="4893698"/>
            <a:ext cx="3934755"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604973" y="4893698"/>
            <a:ext cx="3678723" cy="263513"/>
          </a:xfrm>
          <a:prstGeom prst="rect">
            <a:avLst/>
          </a:prstGeom>
          <a:noFill/>
        </p:spPr>
        <p:txBody>
          <a:bodyPr wrap="square" anchor="ctr">
            <a:spAutoFit/>
          </a:bodyPr>
          <a:lstStyle/>
          <a:p>
            <a:pPr algn="l">
              <a:spcAft>
                <a:spcPts val="400"/>
              </a:spcAft>
            </a:pPr>
            <a:r>
              <a:rPr sz="1150" b="0">
                <a:solidFill>
                  <a:srgbClr val="5B6372"/>
                </a:solidFill>
                <a:latin typeface="Arial"/>
              </a:rPr>
              <a:t>128</a:t>
            </a:r>
          </a:p>
        </p:txBody>
      </p:sp>
      <p:sp>
        <p:nvSpPr>
          <p:cNvPr id="79" name="Rectangle 78"/>
          <p:cNvSpPr/>
          <p:nvPr/>
        </p:nvSpPr>
        <p:spPr>
          <a:xfrm>
            <a:off x="777240" y="5358379"/>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77240" y="5358379"/>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51560" y="5468107"/>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Nexa Logistics — first-attempt delivery failures by reason, last month</a:t>
            </a:r>
          </a:p>
        </p:txBody>
      </p:sp>
      <p:sp>
        <p:nvSpPr>
          <p:cNvPr id="82" name="TextBox 8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3" name="TextBox 8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4" name="TextBox 8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BREAKOUT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4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F6FEB"/>
                </a:solidFill>
                <a:latin typeface="Arial"/>
              </a:rPr>
              <a:t>DISCUSSION QUESTIONS</a:t>
            </a:r>
          </a:p>
        </p:txBody>
      </p:sp>
      <p:sp>
        <p:nvSpPr>
          <p:cNvPr id="10" name="Rectangle 9"/>
          <p:cNvSpPr/>
          <p:nvPr/>
        </p:nvSpPr>
        <p:spPr>
          <a:xfrm>
            <a:off x="777240" y="2231136"/>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237561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75611"/>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Q1</a:t>
            </a:r>
          </a:p>
        </p:txBody>
      </p:sp>
      <p:sp>
        <p:nvSpPr>
          <p:cNvPr id="14" name="TextBox 13"/>
          <p:cNvSpPr txBox="1"/>
          <p:nvPr/>
        </p:nvSpPr>
        <p:spPr>
          <a:xfrm>
            <a:off x="1609344" y="2231136"/>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Build the Pareto chart. How many of the eleven reasons account for roughly 80% of failures? What does that ratio mean for how the Operations Director should spend his budget?</a:t>
            </a:r>
          </a:p>
        </p:txBody>
      </p:sp>
      <p:sp>
        <p:nvSpPr>
          <p:cNvPr id="15" name="Rectangle 14"/>
          <p:cNvSpPr/>
          <p:nvPr/>
        </p:nvSpPr>
        <p:spPr>
          <a:xfrm>
            <a:off x="777240" y="3059582"/>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59582"/>
            <a:ext cx="82296" cy="7095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32040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204057"/>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Q2</a:t>
            </a:r>
          </a:p>
        </p:txBody>
      </p:sp>
      <p:sp>
        <p:nvSpPr>
          <p:cNvPr id="19" name="TextBox 18"/>
          <p:cNvSpPr txBox="1"/>
          <p:nvPr/>
        </p:nvSpPr>
        <p:spPr>
          <a:xfrm>
            <a:off x="1609344" y="3059582"/>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The Director wants to start with 'Address incorrect' because it generates the angriest emails. What does the data say, and how would you make that argument to him without dismissing his concern?</a:t>
            </a:r>
          </a:p>
        </p:txBody>
      </p:sp>
      <p:sp>
        <p:nvSpPr>
          <p:cNvPr id="20" name="Rectangle 19"/>
          <p:cNvSpPr/>
          <p:nvPr/>
        </p:nvSpPr>
        <p:spPr>
          <a:xfrm>
            <a:off x="777240" y="3888028"/>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88028"/>
            <a:ext cx="82296" cy="7095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 y="4032503"/>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032503"/>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Q3</a:t>
            </a:r>
          </a:p>
        </p:txBody>
      </p:sp>
      <p:sp>
        <p:nvSpPr>
          <p:cNvPr id="24" name="TextBox 23"/>
          <p:cNvSpPr txBox="1"/>
          <p:nvPr/>
        </p:nvSpPr>
        <p:spPr>
          <a:xfrm>
            <a:off x="1609344" y="3888028"/>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Calculate: if the top two reasons drop by 60%, what is the new failure rate? Does that meet the 2% SLA? Show your arithmetic.</a:t>
            </a:r>
          </a:p>
        </p:txBody>
      </p:sp>
      <p:sp>
        <p:nvSpPr>
          <p:cNvPr id="25" name="Rectangle 24"/>
          <p:cNvSpPr/>
          <p:nvPr/>
        </p:nvSpPr>
        <p:spPr>
          <a:xfrm>
            <a:off x="777240" y="4716474"/>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716474"/>
            <a:ext cx="82296" cy="70957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860949"/>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860949"/>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Q4</a:t>
            </a:r>
          </a:p>
        </p:txBody>
      </p:sp>
      <p:sp>
        <p:nvSpPr>
          <p:cNvPr id="29" name="TextBox 28"/>
          <p:cNvSpPr txBox="1"/>
          <p:nvPr/>
        </p:nvSpPr>
        <p:spPr>
          <a:xfrm>
            <a:off x="1609344" y="4716474"/>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The top two reasons — 'not at home' and 'lobby access' — look like customer problems. Reframe each as something Nexa controls. What changes about who owns the fix?</a:t>
            </a:r>
          </a:p>
        </p:txBody>
      </p:sp>
      <p:sp>
        <p:nvSpPr>
          <p:cNvPr id="30" name="Rectangle 29"/>
          <p:cNvSpPr/>
          <p:nvPr/>
        </p:nvSpPr>
        <p:spPr>
          <a:xfrm>
            <a:off x="777240" y="5544920"/>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544920"/>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5840" y="5689395"/>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689395"/>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Q5</a:t>
            </a:r>
          </a:p>
        </p:txBody>
      </p:sp>
      <p:sp>
        <p:nvSpPr>
          <p:cNvPr id="34" name="TextBox 33"/>
          <p:cNvSpPr txBox="1"/>
          <p:nvPr/>
        </p:nvSpPr>
        <p:spPr>
          <a:xfrm>
            <a:off x="1609344" y="5544920"/>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Pareto ranks by FREQUENCY. Name a situation in your own workplace where the most frequent problem is not the most important one. What would you rank by instead?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WHAT WE LEARNED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4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0B981"/>
                </a:solidFill>
                <a:latin typeface="Arial"/>
              </a:rPr>
              <a:t>TRAINER DEBRIEF</a:t>
            </a:r>
          </a:p>
        </p:txBody>
      </p:sp>
      <p:sp>
        <p:nvSpPr>
          <p:cNvPr id="10" name="Rectangle 9"/>
          <p:cNvSpPr/>
          <p:nvPr/>
        </p:nvSpPr>
        <p:spPr>
          <a:xfrm>
            <a:off x="777240" y="2231136"/>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31720"/>
            <a:ext cx="10058400" cy="292608"/>
          </a:xfrm>
          <a:prstGeom prst="rect">
            <a:avLst/>
          </a:prstGeom>
          <a:noFill/>
        </p:spPr>
        <p:txBody>
          <a:bodyPr wrap="square" anchor="t">
            <a:spAutoFit/>
          </a:bodyPr>
          <a:lstStyle/>
          <a:p>
            <a:pPr algn="l">
              <a:spcAft>
                <a:spcPts val="400"/>
              </a:spcAft>
            </a:pPr>
            <a:r>
              <a:rPr sz="1050" b="1">
                <a:solidFill>
                  <a:srgbClr val="1F6FEB"/>
                </a:solidFill>
                <a:latin typeface="Arial"/>
              </a:rPr>
              <a:t>THE VITAL FEW</a:t>
            </a:r>
          </a:p>
        </p:txBody>
      </p:sp>
      <p:sp>
        <p:nvSpPr>
          <p:cNvPr id="13" name="TextBox 12"/>
          <p:cNvSpPr txBox="1"/>
          <p:nvPr/>
        </p:nvSpPr>
        <p:spPr>
          <a:xfrm>
            <a:off x="1097280" y="2642616"/>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Four of eleven reasons = 82%. Top two = 61%. 'Address incorrect' is third at 11.6%.</a:t>
            </a:r>
          </a:p>
        </p:txBody>
      </p:sp>
      <p:sp>
        <p:nvSpPr>
          <p:cNvPr id="14" name="Rectangle 13"/>
          <p:cNvSpPr/>
          <p:nvPr/>
        </p:nvSpPr>
        <p:spPr>
          <a:xfrm>
            <a:off x="777240" y="3268980"/>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8980"/>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69564"/>
            <a:ext cx="10058400" cy="292608"/>
          </a:xfrm>
          <a:prstGeom prst="rect">
            <a:avLst/>
          </a:prstGeom>
          <a:noFill/>
        </p:spPr>
        <p:txBody>
          <a:bodyPr wrap="square" anchor="t">
            <a:spAutoFit/>
          </a:bodyPr>
          <a:lstStyle/>
          <a:p>
            <a:pPr algn="l">
              <a:spcAft>
                <a:spcPts val="400"/>
              </a:spcAft>
            </a:pPr>
            <a:r>
              <a:rPr sz="1050" b="1">
                <a:solidFill>
                  <a:srgbClr val="10B981"/>
                </a:solidFill>
                <a:latin typeface="Arial"/>
              </a:rPr>
              <a:t>LOUD VS LARGE</a:t>
            </a:r>
          </a:p>
        </p:txBody>
      </p:sp>
      <p:sp>
        <p:nvSpPr>
          <p:cNvPr id="17" name="TextBox 16"/>
          <p:cNvSpPr txBox="1"/>
          <p:nvPr/>
        </p:nvSpPr>
        <p:spPr>
          <a:xfrm>
            <a:off x="1097280" y="3680460"/>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The Director responds to escalation volume, which tracks client temperament, not failure frequency. Pareto is how you have that conversation with evidence.</a:t>
            </a:r>
          </a:p>
        </p:txBody>
      </p:sp>
      <p:sp>
        <p:nvSpPr>
          <p:cNvPr id="18" name="Rectangle 17"/>
          <p:cNvSpPr/>
          <p:nvPr/>
        </p:nvSpPr>
        <p:spPr>
          <a:xfrm>
            <a:off x="777240" y="4306824"/>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06824"/>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10058400" cy="292608"/>
          </a:xfrm>
          <a:prstGeom prst="rect">
            <a:avLst/>
          </a:prstGeom>
          <a:noFill/>
        </p:spPr>
        <p:txBody>
          <a:bodyPr wrap="square" anchor="t">
            <a:spAutoFit/>
          </a:bodyPr>
          <a:lstStyle/>
          <a:p>
            <a:pPr algn="l">
              <a:spcAft>
                <a:spcPts val="400"/>
              </a:spcAft>
            </a:pPr>
            <a:r>
              <a:rPr sz="1050" b="1">
                <a:solidFill>
                  <a:srgbClr val="7C3AED"/>
                </a:solidFill>
                <a:latin typeface="Arial"/>
              </a:rPr>
              <a:t>REFRAME OWNERSHIP</a:t>
            </a:r>
          </a:p>
        </p:txBody>
      </p:sp>
      <p:sp>
        <p:nvSpPr>
          <p:cNvPr id="21" name="TextBox 20"/>
          <p:cNvSpPr txBox="1"/>
          <p:nvPr/>
        </p:nvSpPr>
        <p:spPr>
          <a:xfrm>
            <a:off x="1097280" y="4718304"/>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'Not at home' is a customer problem only if you never offered a delivery window. Restating moves 61% of the problem into Nexa's control.</a:t>
            </a:r>
          </a:p>
        </p:txBody>
      </p:sp>
      <p:sp>
        <p:nvSpPr>
          <p:cNvPr id="22" name="Rectangle 21"/>
          <p:cNvSpPr/>
          <p:nvPr/>
        </p:nvSpPr>
        <p:spPr>
          <a:xfrm>
            <a:off x="777240" y="5344668"/>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44668"/>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445252"/>
            <a:ext cx="10058400" cy="292608"/>
          </a:xfrm>
          <a:prstGeom prst="rect">
            <a:avLst/>
          </a:prstGeom>
          <a:noFill/>
        </p:spPr>
        <p:txBody>
          <a:bodyPr wrap="square" anchor="t">
            <a:spAutoFit/>
          </a:bodyPr>
          <a:lstStyle/>
          <a:p>
            <a:pPr algn="l">
              <a:spcAft>
                <a:spcPts val="400"/>
              </a:spcAft>
            </a:pPr>
            <a:r>
              <a:rPr sz="1050" b="1">
                <a:solidFill>
                  <a:srgbClr val="F59E0B"/>
                </a:solidFill>
                <a:latin typeface="Arial"/>
              </a:rPr>
              <a:t>WHAT PARETO CANNOT DO</a:t>
            </a:r>
          </a:p>
        </p:txBody>
      </p:sp>
      <p:sp>
        <p:nvSpPr>
          <p:cNvPr id="25" name="TextBox 24"/>
          <p:cNvSpPr txBox="1"/>
          <p:nvPr/>
        </p:nvSpPr>
        <p:spPr>
          <a:xfrm>
            <a:off x="1097280" y="5756148"/>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It ranks frequency, never severity — and it tells you WHERE, never WHY. The 742 failures still need a 5 Whys.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DYNAMICS  ·  WHY THE PROBLEM CAME BACK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Systems Thinking — Why Fixes Rebound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system, not a queue</a:t>
            </a:r>
          </a:p>
          <a:p>
            <a:pPr algn="l">
              <a:spcAft>
                <a:spcPts val="300"/>
              </a:spcAft>
            </a:pPr>
            <a:r>
              <a:rPr sz="1100" b="0">
                <a:solidFill>
                  <a:srgbClr val="5B6372"/>
                </a:solidFill>
                <a:latin typeface="Arial"/>
              </a:rPr>
              <a:t>Organisations are webs of feedback loops, not linear cause-and-effect chains.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Reinforcing loop (R)</a:t>
            </a:r>
          </a:p>
          <a:p>
            <a:pPr algn="l">
              <a:spcAft>
                <a:spcPts val="300"/>
              </a:spcAft>
            </a:pPr>
            <a:r>
              <a:rPr sz="1100" b="0">
                <a:solidFill>
                  <a:srgbClr val="5B6372"/>
                </a:solidFill>
                <a:latin typeface="Arial"/>
              </a:rPr>
              <a:t>Compounds over time — makes things better and better, or worse and worse.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Balancing loop (B)</a:t>
            </a:r>
          </a:p>
          <a:p>
            <a:pPr algn="l">
              <a:spcAft>
                <a:spcPts val="300"/>
              </a:spcAft>
            </a:pPr>
            <a:r>
              <a:rPr sz="1100" b="0">
                <a:solidFill>
                  <a:srgbClr val="5B6372"/>
                </a:solidFill>
                <a:latin typeface="Arial"/>
              </a:rPr>
              <a:t>Pushes toward a target and stabilises — this is what most 'fixes' pull.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Delay</a:t>
            </a:r>
          </a:p>
          <a:p>
            <a:pPr algn="l">
              <a:spcAft>
                <a:spcPts val="300"/>
              </a:spcAft>
            </a:pPr>
            <a:r>
              <a:rPr sz="1100" b="0">
                <a:solidFill>
                  <a:srgbClr val="5B6372"/>
                </a:solidFill>
                <a:latin typeface="Arial"/>
              </a:rPr>
              <a:t>R-loops act slowly. That delay is why a bad decision can look right in month 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Dormant loops</a:t>
            </a:r>
          </a:p>
          <a:p>
            <a:pPr algn="l">
              <a:spcAft>
                <a:spcPts val="300"/>
              </a:spcAft>
            </a:pPr>
            <a:r>
              <a:rPr sz="1100" b="0">
                <a:solidFill>
                  <a:srgbClr val="5B6372"/>
                </a:solidFill>
                <a:latin typeface="Arial"/>
              </a:rPr>
              <a:t>A balancing loop that exists but is not running is as dangerous as an active R-loop.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Leverage</a:t>
            </a:r>
          </a:p>
          <a:p>
            <a:pPr algn="l">
              <a:spcAft>
                <a:spcPts val="300"/>
              </a:spcAft>
            </a:pPr>
            <a:r>
              <a:rPr sz="1100" b="0">
                <a:solidFill>
                  <a:srgbClr val="5B6372"/>
                </a:solidFill>
                <a:latin typeface="Arial"/>
              </a:rPr>
              <a:t>Breaking one link in an R-loop beats adding effort to a B-loop forever.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TWO REINFORCING · TWO BALANCING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Horizon Bank — The Four Loops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80076" cy="91440"/>
          </a:xfrm>
          <a:prstGeom prst="rect">
            <a:avLst/>
          </a:prstGeom>
          <a:solidFill>
            <a:srgbClr val="0E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020824"/>
            <a:ext cx="512064" cy="512064"/>
          </a:xfrm>
          <a:prstGeom prst="ellipse">
            <a:avLst/>
          </a:prstGeom>
          <a:solidFill>
            <a:srgbClr val="0E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020824"/>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1" name="TextBox 10"/>
          <p:cNvSpPr txBox="1"/>
          <p:nvPr/>
        </p:nvSpPr>
        <p:spPr>
          <a:xfrm>
            <a:off x="1673352" y="2020824"/>
            <a:ext cx="4082796" cy="274320"/>
          </a:xfrm>
          <a:prstGeom prst="rect">
            <a:avLst/>
          </a:prstGeom>
          <a:noFill/>
        </p:spPr>
        <p:txBody>
          <a:bodyPr wrap="square" anchor="t">
            <a:spAutoFit/>
          </a:bodyPr>
          <a:lstStyle/>
          <a:p>
            <a:pPr algn="l">
              <a:spcAft>
                <a:spcPts val="400"/>
              </a:spcAft>
            </a:pPr>
            <a:r>
              <a:rPr sz="950" b="1">
                <a:solidFill>
                  <a:srgbClr val="0E7A5E"/>
                </a:solidFill>
                <a:latin typeface="Arial"/>
              </a:rPr>
              <a:t>B1  ·  BALANCING</a:t>
            </a:r>
          </a:p>
        </p:txBody>
      </p:sp>
      <p:sp>
        <p:nvSpPr>
          <p:cNvPr id="12" name="TextBox 11"/>
          <p:cNvSpPr txBox="1"/>
          <p:nvPr/>
        </p:nvSpPr>
        <p:spPr>
          <a:xfrm>
            <a:off x="1673352" y="2286000"/>
            <a:ext cx="4082796" cy="310896"/>
          </a:xfrm>
          <a:prstGeom prst="rect">
            <a:avLst/>
          </a:prstGeom>
          <a:noFill/>
        </p:spPr>
        <p:txBody>
          <a:bodyPr wrap="square" anchor="t">
            <a:spAutoFit/>
          </a:bodyPr>
          <a:lstStyle/>
          <a:p>
            <a:pPr algn="l">
              <a:spcAft>
                <a:spcPts val="400"/>
              </a:spcAft>
            </a:pPr>
            <a:r>
              <a:rPr sz="1250" b="1">
                <a:solidFill>
                  <a:srgbClr val="161B26"/>
                </a:solidFill>
                <a:latin typeface="Arial"/>
              </a:rPr>
              <a:t>Capacity control — what he intended</a:t>
            </a:r>
          </a:p>
        </p:txBody>
      </p:sp>
      <p:sp>
        <p:nvSpPr>
          <p:cNvPr id="13" name="TextBox 12"/>
          <p:cNvSpPr txBox="1"/>
          <p:nvPr/>
        </p:nvSpPr>
        <p:spPr>
          <a:xfrm>
            <a:off x="1051560" y="2715768"/>
            <a:ext cx="4631436" cy="708660"/>
          </a:xfrm>
          <a:prstGeom prst="rect">
            <a:avLst/>
          </a:prstGeom>
          <a:noFill/>
        </p:spPr>
        <p:txBody>
          <a:bodyPr wrap="square">
            <a:spAutoFit/>
          </a:bodyPr>
          <a:lstStyle/>
          <a:p>
            <a:pPr>
              <a:spcAft>
                <a:spcPts val="50"/>
              </a:spcAft>
            </a:pPr>
            <a:r>
              <a:rPr sz="850">
                <a:solidFill>
                  <a:srgbClr val="161B26"/>
                </a:solidFill>
                <a:latin typeface="Arial"/>
              </a:rPr>
              <a:t>Wait time ↑</a:t>
            </a:r>
          </a:p>
          <a:p>
            <a:pPr>
              <a:spcAft>
                <a:spcPts val="50"/>
              </a:spcAft>
            </a:pPr>
            <a:r>
              <a:rPr sz="850">
                <a:solidFill>
                  <a:srgbClr val="161B26"/>
                </a:solidFill>
                <a:latin typeface="Arial"/>
              </a:rPr>
              <a:t>↳ Management pressure ↑</a:t>
            </a:r>
          </a:p>
          <a:p>
            <a:pPr>
              <a:spcAft>
                <a:spcPts val="50"/>
              </a:spcAft>
            </a:pPr>
            <a:r>
              <a:rPr sz="850">
                <a:solidFill>
                  <a:srgbClr val="161B26"/>
                </a:solidFill>
                <a:latin typeface="Arial"/>
              </a:rPr>
              <a:t>↳ Counters staffed ↑</a:t>
            </a:r>
          </a:p>
          <a:p>
            <a:pPr>
              <a:spcAft>
                <a:spcPts val="50"/>
              </a:spcAft>
            </a:pPr>
            <a:r>
              <a:rPr sz="850">
                <a:solidFill>
                  <a:srgbClr val="161B26"/>
                </a:solidFill>
                <a:latin typeface="Arial"/>
              </a:rPr>
              <a:t>↳ Service capacity ↑</a:t>
            </a:r>
          </a:p>
          <a:p>
            <a:pPr>
              <a:spcAft>
                <a:spcPts val="50"/>
              </a:spcAft>
            </a:pPr>
            <a:r>
              <a:rPr sz="850">
                <a:solidFill>
                  <a:srgbClr val="161B26"/>
                </a:solidFill>
                <a:latin typeface="Arial"/>
              </a:rPr>
              <a:t>↳ Wait time ↓</a:t>
            </a:r>
          </a:p>
        </p:txBody>
      </p:sp>
      <p:sp>
        <p:nvSpPr>
          <p:cNvPr id="14" name="Rectangle 13"/>
          <p:cNvSpPr/>
          <p:nvPr/>
        </p:nvSpPr>
        <p:spPr>
          <a:xfrm>
            <a:off x="960120" y="3497580"/>
            <a:ext cx="4814316" cy="292608"/>
          </a:xfrm>
          <a:prstGeom prst="rect">
            <a:avLst/>
          </a:prstGeom>
          <a:solidFill>
            <a:srgbClr val="0E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497580"/>
            <a:ext cx="4814316" cy="292608"/>
          </a:xfrm>
          <a:prstGeom prst="rect">
            <a:avLst/>
          </a:prstGeom>
          <a:noFill/>
        </p:spPr>
        <p:txBody>
          <a:bodyPr wrap="square" anchor="ctr">
            <a:spAutoFit/>
          </a:bodyPr>
          <a:lstStyle/>
          <a:p>
            <a:pPr algn="ctr">
              <a:spcAft>
                <a:spcPts val="400"/>
              </a:spcAft>
            </a:pPr>
            <a:r>
              <a:rPr sz="900" b="1">
                <a:solidFill>
                  <a:srgbClr val="FFFFFF"/>
                </a:solidFill>
                <a:latin typeface="Arial"/>
              </a:rPr>
              <a:t>Real — and it produced the month-1 win</a:t>
            </a:r>
          </a:p>
        </p:txBody>
      </p:sp>
      <p:sp>
        <p:nvSpPr>
          <p:cNvPr id="16" name="Rectangle 15"/>
          <p:cNvSpPr/>
          <p:nvPr/>
        </p:nvSpPr>
        <p:spPr>
          <a:xfrm>
            <a:off x="6231636"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1636" y="1783080"/>
            <a:ext cx="5180076" cy="9144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69380" y="2020824"/>
            <a:ext cx="512064" cy="512064"/>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9380" y="2020824"/>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R</a:t>
            </a:r>
          </a:p>
        </p:txBody>
      </p:sp>
      <p:sp>
        <p:nvSpPr>
          <p:cNvPr id="20" name="TextBox 19"/>
          <p:cNvSpPr txBox="1"/>
          <p:nvPr/>
        </p:nvSpPr>
        <p:spPr>
          <a:xfrm>
            <a:off x="7127748" y="2020824"/>
            <a:ext cx="4082796" cy="274320"/>
          </a:xfrm>
          <a:prstGeom prst="rect">
            <a:avLst/>
          </a:prstGeom>
          <a:noFill/>
        </p:spPr>
        <p:txBody>
          <a:bodyPr wrap="square" anchor="t">
            <a:spAutoFit/>
          </a:bodyPr>
          <a:lstStyle/>
          <a:p>
            <a:pPr algn="l">
              <a:spcAft>
                <a:spcPts val="400"/>
              </a:spcAft>
            </a:pPr>
            <a:r>
              <a:rPr sz="950" b="1">
                <a:solidFill>
                  <a:srgbClr val="B91C1C"/>
                </a:solidFill>
                <a:latin typeface="Arial"/>
              </a:rPr>
              <a:t>R1  ·  REINFORCING</a:t>
            </a:r>
          </a:p>
        </p:txBody>
      </p:sp>
      <p:sp>
        <p:nvSpPr>
          <p:cNvPr id="21" name="TextBox 20"/>
          <p:cNvSpPr txBox="1"/>
          <p:nvPr/>
        </p:nvSpPr>
        <p:spPr>
          <a:xfrm>
            <a:off x="7127748" y="2286000"/>
            <a:ext cx="4082796" cy="310896"/>
          </a:xfrm>
          <a:prstGeom prst="rect">
            <a:avLst/>
          </a:prstGeom>
          <a:noFill/>
        </p:spPr>
        <p:txBody>
          <a:bodyPr wrap="square" anchor="t">
            <a:spAutoFit/>
          </a:bodyPr>
          <a:lstStyle/>
          <a:p>
            <a:pPr algn="l">
              <a:spcAft>
                <a:spcPts val="400"/>
              </a:spcAft>
            </a:pPr>
            <a:r>
              <a:rPr sz="1250" b="1">
                <a:solidFill>
                  <a:srgbClr val="161B26"/>
                </a:solidFill>
                <a:latin typeface="Arial"/>
              </a:rPr>
              <a:t>Redeployment backfire</a:t>
            </a:r>
          </a:p>
        </p:txBody>
      </p:sp>
      <p:sp>
        <p:nvSpPr>
          <p:cNvPr id="22" name="TextBox 21"/>
          <p:cNvSpPr txBox="1"/>
          <p:nvPr/>
        </p:nvSpPr>
        <p:spPr>
          <a:xfrm>
            <a:off x="6505956" y="2715768"/>
            <a:ext cx="4631436" cy="708660"/>
          </a:xfrm>
          <a:prstGeom prst="rect">
            <a:avLst/>
          </a:prstGeom>
          <a:noFill/>
        </p:spPr>
        <p:txBody>
          <a:bodyPr wrap="square">
            <a:spAutoFit/>
          </a:bodyPr>
          <a:lstStyle/>
          <a:p>
            <a:pPr>
              <a:spcAft>
                <a:spcPts val="50"/>
              </a:spcAft>
            </a:pPr>
            <a:r>
              <a:rPr sz="780">
                <a:solidFill>
                  <a:srgbClr val="161B26"/>
                </a:solidFill>
                <a:latin typeface="Arial"/>
              </a:rPr>
              <a:t>Counters staffed ↑</a:t>
            </a:r>
          </a:p>
          <a:p>
            <a:pPr>
              <a:spcAft>
                <a:spcPts val="50"/>
              </a:spcAft>
            </a:pPr>
            <a:r>
              <a:rPr sz="780">
                <a:solidFill>
                  <a:srgbClr val="161B26"/>
                </a:solidFill>
                <a:latin typeface="Arial"/>
              </a:rPr>
              <a:t>↳ Back-office staff ↓</a:t>
            </a:r>
          </a:p>
          <a:p>
            <a:pPr>
              <a:spcAft>
                <a:spcPts val="50"/>
              </a:spcAft>
            </a:pPr>
            <a:r>
              <a:rPr sz="780">
                <a:solidFill>
                  <a:srgbClr val="161B26"/>
                </a:solidFill>
                <a:latin typeface="Arial"/>
              </a:rPr>
              <a:t>↳ Backlog ↑</a:t>
            </a:r>
          </a:p>
          <a:p>
            <a:pPr>
              <a:spcAft>
                <a:spcPts val="50"/>
              </a:spcAft>
            </a:pPr>
            <a:r>
              <a:rPr sz="780">
                <a:solidFill>
                  <a:srgbClr val="161B26"/>
                </a:solidFill>
                <a:latin typeface="Arial"/>
              </a:rPr>
              <a:t>↳ Rework returns to counter ↑</a:t>
            </a:r>
          </a:p>
          <a:p>
            <a:pPr>
              <a:spcAft>
                <a:spcPts val="50"/>
              </a:spcAft>
            </a:pPr>
            <a:r>
              <a:rPr sz="780">
                <a:solidFill>
                  <a:srgbClr val="161B26"/>
                </a:solidFill>
                <a:latin typeface="Arial"/>
              </a:rPr>
              <a:t>↳ Handling time ↑ (9→13 min)</a:t>
            </a:r>
          </a:p>
          <a:p>
            <a:pPr>
              <a:spcAft>
                <a:spcPts val="50"/>
              </a:spcAft>
            </a:pPr>
            <a:r>
              <a:rPr sz="780">
                <a:solidFill>
                  <a:srgbClr val="161B26"/>
                </a:solidFill>
                <a:latin typeface="Arial"/>
              </a:rPr>
              <a:t>↳ Wait time ↑</a:t>
            </a:r>
          </a:p>
        </p:txBody>
      </p:sp>
      <p:sp>
        <p:nvSpPr>
          <p:cNvPr id="23" name="Rectangle 22"/>
          <p:cNvSpPr/>
          <p:nvPr/>
        </p:nvSpPr>
        <p:spPr>
          <a:xfrm>
            <a:off x="6414516" y="3497580"/>
            <a:ext cx="4814316" cy="29260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4516" y="3497580"/>
            <a:ext cx="4814316" cy="292608"/>
          </a:xfrm>
          <a:prstGeom prst="rect">
            <a:avLst/>
          </a:prstGeom>
          <a:noFill/>
        </p:spPr>
        <p:txBody>
          <a:bodyPr wrap="square" anchor="ctr">
            <a:spAutoFit/>
          </a:bodyPr>
          <a:lstStyle/>
          <a:p>
            <a:pPr algn="ctr">
              <a:spcAft>
                <a:spcPts val="400"/>
              </a:spcAft>
            </a:pPr>
            <a:r>
              <a:rPr sz="900" b="1">
                <a:solidFill>
                  <a:srgbClr val="FFFFFF"/>
                </a:solidFill>
                <a:latin typeface="Arial"/>
              </a:rPr>
              <a:t>Compounds — overwhelms B1 by month 4</a:t>
            </a:r>
          </a:p>
        </p:txBody>
      </p:sp>
      <p:sp>
        <p:nvSpPr>
          <p:cNvPr id="25" name="Rectangle 24"/>
          <p:cNvSpPr/>
          <p:nvPr/>
        </p:nvSpPr>
        <p:spPr>
          <a:xfrm>
            <a:off x="777240"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119372"/>
            <a:ext cx="5180076" cy="9144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14984" y="4357116"/>
            <a:ext cx="512064" cy="512064"/>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43571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R</a:t>
            </a:r>
          </a:p>
        </p:txBody>
      </p:sp>
      <p:sp>
        <p:nvSpPr>
          <p:cNvPr id="29" name="TextBox 28"/>
          <p:cNvSpPr txBox="1"/>
          <p:nvPr/>
        </p:nvSpPr>
        <p:spPr>
          <a:xfrm>
            <a:off x="1673352" y="4357116"/>
            <a:ext cx="4082796" cy="274320"/>
          </a:xfrm>
          <a:prstGeom prst="rect">
            <a:avLst/>
          </a:prstGeom>
          <a:noFill/>
        </p:spPr>
        <p:txBody>
          <a:bodyPr wrap="square" anchor="t">
            <a:spAutoFit/>
          </a:bodyPr>
          <a:lstStyle/>
          <a:p>
            <a:pPr algn="l">
              <a:spcAft>
                <a:spcPts val="400"/>
              </a:spcAft>
            </a:pPr>
            <a:r>
              <a:rPr sz="950" b="1">
                <a:solidFill>
                  <a:srgbClr val="B91C1C"/>
                </a:solidFill>
                <a:latin typeface="Arial"/>
              </a:rPr>
              <a:t>R2  ·  REINFORCING</a:t>
            </a:r>
          </a:p>
        </p:txBody>
      </p:sp>
      <p:sp>
        <p:nvSpPr>
          <p:cNvPr id="30" name="TextBox 29"/>
          <p:cNvSpPr txBox="1"/>
          <p:nvPr/>
        </p:nvSpPr>
        <p:spPr>
          <a:xfrm>
            <a:off x="1673352" y="4622292"/>
            <a:ext cx="4082796" cy="310896"/>
          </a:xfrm>
          <a:prstGeom prst="rect">
            <a:avLst/>
          </a:prstGeom>
          <a:noFill/>
        </p:spPr>
        <p:txBody>
          <a:bodyPr wrap="square" anchor="t">
            <a:spAutoFit/>
          </a:bodyPr>
          <a:lstStyle/>
          <a:p>
            <a:pPr algn="l">
              <a:spcAft>
                <a:spcPts val="400"/>
              </a:spcAft>
            </a:pPr>
            <a:r>
              <a:rPr sz="1250" b="1">
                <a:solidFill>
                  <a:srgbClr val="161B26"/>
                </a:solidFill>
                <a:latin typeface="Arial"/>
              </a:rPr>
              <a:t>Burnout spiral</a:t>
            </a:r>
          </a:p>
        </p:txBody>
      </p:sp>
      <p:sp>
        <p:nvSpPr>
          <p:cNvPr id="31" name="TextBox 30"/>
          <p:cNvSpPr txBox="1"/>
          <p:nvPr/>
        </p:nvSpPr>
        <p:spPr>
          <a:xfrm>
            <a:off x="1051560" y="5052060"/>
            <a:ext cx="4631436" cy="708660"/>
          </a:xfrm>
          <a:prstGeom prst="rect">
            <a:avLst/>
          </a:prstGeom>
          <a:noFill/>
        </p:spPr>
        <p:txBody>
          <a:bodyPr wrap="square">
            <a:spAutoFit/>
          </a:bodyPr>
          <a:lstStyle/>
          <a:p>
            <a:pPr>
              <a:spcAft>
                <a:spcPts val="50"/>
              </a:spcAft>
            </a:pPr>
            <a:r>
              <a:rPr sz="780">
                <a:solidFill>
                  <a:srgbClr val="161B26"/>
                </a:solidFill>
                <a:latin typeface="Arial"/>
              </a:rPr>
              <a:t>Workload ↑</a:t>
            </a:r>
          </a:p>
          <a:p>
            <a:pPr>
              <a:spcAft>
                <a:spcPts val="50"/>
              </a:spcAft>
            </a:pPr>
            <a:r>
              <a:rPr sz="780">
                <a:solidFill>
                  <a:srgbClr val="161B26"/>
                </a:solidFill>
                <a:latin typeface="Arial"/>
              </a:rPr>
              <a:t>↳ Overtime ↑ (88→196h)</a:t>
            </a:r>
          </a:p>
          <a:p>
            <a:pPr>
              <a:spcAft>
                <a:spcPts val="50"/>
              </a:spcAft>
            </a:pPr>
            <a:r>
              <a:rPr sz="780">
                <a:solidFill>
                  <a:srgbClr val="161B26"/>
                </a:solidFill>
                <a:latin typeface="Arial"/>
              </a:rPr>
              <a:t>↳ Resignations ↑</a:t>
            </a:r>
          </a:p>
          <a:p>
            <a:pPr>
              <a:spcAft>
                <a:spcPts val="50"/>
              </a:spcAft>
            </a:pPr>
            <a:r>
              <a:rPr sz="780">
                <a:solidFill>
                  <a:srgbClr val="161B26"/>
                </a:solidFill>
                <a:latin typeface="Arial"/>
              </a:rPr>
              <a:t>↳ Inexperience ↑ (44%→58%)</a:t>
            </a:r>
          </a:p>
          <a:p>
            <a:pPr>
              <a:spcAft>
                <a:spcPts val="50"/>
              </a:spcAft>
            </a:pPr>
            <a:r>
              <a:rPr sz="780">
                <a:solidFill>
                  <a:srgbClr val="161B26"/>
                </a:solidFill>
                <a:latin typeface="Arial"/>
              </a:rPr>
              <a:t>↳ Errors ↑ (6%→14%)</a:t>
            </a:r>
          </a:p>
          <a:p>
            <a:pPr>
              <a:spcAft>
                <a:spcPts val="50"/>
              </a:spcAft>
            </a:pPr>
            <a:r>
              <a:rPr sz="780">
                <a:solidFill>
                  <a:srgbClr val="161B26"/>
                </a:solidFill>
                <a:latin typeface="Arial"/>
              </a:rPr>
              <a:t>↳ Rework ↑</a:t>
            </a:r>
          </a:p>
          <a:p>
            <a:pPr>
              <a:spcAft>
                <a:spcPts val="50"/>
              </a:spcAft>
            </a:pPr>
            <a:r>
              <a:rPr sz="780">
                <a:solidFill>
                  <a:srgbClr val="161B26"/>
                </a:solidFill>
                <a:latin typeface="Arial"/>
              </a:rPr>
              <a:t>↳ Workload ↑</a:t>
            </a:r>
          </a:p>
        </p:txBody>
      </p:sp>
      <p:sp>
        <p:nvSpPr>
          <p:cNvPr id="32" name="Rectangle 31"/>
          <p:cNvSpPr/>
          <p:nvPr/>
        </p:nvSpPr>
        <p:spPr>
          <a:xfrm>
            <a:off x="960120" y="5833872"/>
            <a:ext cx="4814316" cy="29260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 y="5833872"/>
            <a:ext cx="4814316" cy="292608"/>
          </a:xfrm>
          <a:prstGeom prst="rect">
            <a:avLst/>
          </a:prstGeom>
          <a:noFill/>
        </p:spPr>
        <p:txBody>
          <a:bodyPr wrap="square" anchor="ctr">
            <a:spAutoFit/>
          </a:bodyPr>
          <a:lstStyle/>
          <a:p>
            <a:pPr algn="ctr">
              <a:spcAft>
                <a:spcPts val="400"/>
              </a:spcAft>
            </a:pPr>
            <a:r>
              <a:rPr sz="900" b="1">
                <a:solidFill>
                  <a:srgbClr val="FFFFFF"/>
                </a:solidFill>
                <a:latin typeface="Arial"/>
              </a:rPr>
              <a:t>Compounds — feeds R1</a:t>
            </a:r>
          </a:p>
        </p:txBody>
      </p:sp>
      <p:sp>
        <p:nvSpPr>
          <p:cNvPr id="34" name="Rectangle 33"/>
          <p:cNvSpPr/>
          <p:nvPr/>
        </p:nvSpPr>
        <p:spPr>
          <a:xfrm>
            <a:off x="6231636"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636" y="4119372"/>
            <a:ext cx="5180076" cy="91440"/>
          </a:xfrm>
          <a:prstGeom prst="rect">
            <a:avLst/>
          </a:prstGeom>
          <a:solidFill>
            <a:srgbClr val="0E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69380" y="4357116"/>
            <a:ext cx="512064" cy="512064"/>
          </a:xfrm>
          <a:prstGeom prst="ellipse">
            <a:avLst/>
          </a:prstGeom>
          <a:solidFill>
            <a:srgbClr val="0E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9380" y="43571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38" name="TextBox 37"/>
          <p:cNvSpPr txBox="1"/>
          <p:nvPr/>
        </p:nvSpPr>
        <p:spPr>
          <a:xfrm>
            <a:off x="7127748" y="4357116"/>
            <a:ext cx="4082796" cy="274320"/>
          </a:xfrm>
          <a:prstGeom prst="rect">
            <a:avLst/>
          </a:prstGeom>
          <a:noFill/>
        </p:spPr>
        <p:txBody>
          <a:bodyPr wrap="square" anchor="t">
            <a:spAutoFit/>
          </a:bodyPr>
          <a:lstStyle/>
          <a:p>
            <a:pPr algn="l">
              <a:spcAft>
                <a:spcPts val="400"/>
              </a:spcAft>
            </a:pPr>
            <a:r>
              <a:rPr sz="950" b="1">
                <a:solidFill>
                  <a:srgbClr val="0E7A5E"/>
                </a:solidFill>
                <a:latin typeface="Arial"/>
              </a:rPr>
              <a:t>B2  ·  BALANCING</a:t>
            </a:r>
          </a:p>
        </p:txBody>
      </p:sp>
      <p:sp>
        <p:nvSpPr>
          <p:cNvPr id="39" name="TextBox 38"/>
          <p:cNvSpPr txBox="1"/>
          <p:nvPr/>
        </p:nvSpPr>
        <p:spPr>
          <a:xfrm>
            <a:off x="7127748" y="4622292"/>
            <a:ext cx="4082796" cy="310896"/>
          </a:xfrm>
          <a:prstGeom prst="rect">
            <a:avLst/>
          </a:prstGeom>
          <a:noFill/>
        </p:spPr>
        <p:txBody>
          <a:bodyPr wrap="square" anchor="t">
            <a:spAutoFit/>
          </a:bodyPr>
          <a:lstStyle/>
          <a:p>
            <a:pPr algn="l">
              <a:spcAft>
                <a:spcPts val="400"/>
              </a:spcAft>
            </a:pPr>
            <a:r>
              <a:rPr sz="1250" b="1">
                <a:solidFill>
                  <a:srgbClr val="161B26"/>
                </a:solidFill>
                <a:latin typeface="Arial"/>
              </a:rPr>
              <a:t>Digital migration — DORMANT</a:t>
            </a:r>
          </a:p>
        </p:txBody>
      </p:sp>
      <p:sp>
        <p:nvSpPr>
          <p:cNvPr id="40" name="TextBox 39"/>
          <p:cNvSpPr txBox="1"/>
          <p:nvPr/>
        </p:nvSpPr>
        <p:spPr>
          <a:xfrm>
            <a:off x="6505956" y="5052060"/>
            <a:ext cx="4631436" cy="708660"/>
          </a:xfrm>
          <a:prstGeom prst="rect">
            <a:avLst/>
          </a:prstGeom>
          <a:noFill/>
        </p:spPr>
        <p:txBody>
          <a:bodyPr wrap="square">
            <a:spAutoFit/>
          </a:bodyPr>
          <a:lstStyle/>
          <a:p>
            <a:pPr>
              <a:spcAft>
                <a:spcPts val="50"/>
              </a:spcAft>
            </a:pPr>
            <a:r>
              <a:rPr sz="850">
                <a:solidFill>
                  <a:srgbClr val="161B26"/>
                </a:solidFill>
                <a:latin typeface="Arial"/>
              </a:rPr>
              <a:t>Wait time ↑</a:t>
            </a:r>
          </a:p>
          <a:p>
            <a:pPr>
              <a:spcAft>
                <a:spcPts val="50"/>
              </a:spcAft>
            </a:pPr>
            <a:r>
              <a:rPr sz="850">
                <a:solidFill>
                  <a:srgbClr val="161B26"/>
                </a:solidFill>
                <a:latin typeface="Arial"/>
              </a:rPr>
              <a:t>↳ Willingness to try digital ↑</a:t>
            </a:r>
          </a:p>
          <a:p>
            <a:pPr>
              <a:spcAft>
                <a:spcPts val="50"/>
              </a:spcAft>
            </a:pPr>
            <a:r>
              <a:rPr sz="850">
                <a:solidFill>
                  <a:srgbClr val="161B26"/>
                </a:solidFill>
                <a:latin typeface="Arial"/>
              </a:rPr>
              <a:t>↳ Digital adoption ↑</a:t>
            </a:r>
          </a:p>
          <a:p>
            <a:pPr>
              <a:spcAft>
                <a:spcPts val="50"/>
              </a:spcAft>
            </a:pPr>
            <a:r>
              <a:rPr sz="850">
                <a:solidFill>
                  <a:srgbClr val="161B26"/>
                </a:solidFill>
                <a:latin typeface="Arial"/>
              </a:rPr>
              <a:t>↳ Branch volume ↓</a:t>
            </a:r>
          </a:p>
          <a:p>
            <a:pPr>
              <a:spcAft>
                <a:spcPts val="50"/>
              </a:spcAft>
            </a:pPr>
            <a:r>
              <a:rPr sz="850">
                <a:solidFill>
                  <a:srgbClr val="161B26"/>
                </a:solidFill>
                <a:latin typeface="Arial"/>
              </a:rPr>
              <a:t>↳ Wait time ↓</a:t>
            </a:r>
          </a:p>
        </p:txBody>
      </p:sp>
      <p:sp>
        <p:nvSpPr>
          <p:cNvPr id="41" name="Rectangle 40"/>
          <p:cNvSpPr/>
          <p:nvPr/>
        </p:nvSpPr>
        <p:spPr>
          <a:xfrm>
            <a:off x="6414516" y="5833872"/>
            <a:ext cx="4814316" cy="292608"/>
          </a:xfrm>
          <a:prstGeom prst="rect">
            <a:avLst/>
          </a:prstGeom>
          <a:solidFill>
            <a:srgbClr val="0E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14516" y="5833872"/>
            <a:ext cx="4814316" cy="292608"/>
          </a:xfrm>
          <a:prstGeom prst="rect">
            <a:avLst/>
          </a:prstGeom>
          <a:noFill/>
        </p:spPr>
        <p:txBody>
          <a:bodyPr wrap="square" anchor="ctr">
            <a:spAutoFit/>
          </a:bodyPr>
          <a:lstStyle/>
          <a:p>
            <a:pPr algn="ctr">
              <a:spcAft>
                <a:spcPts val="400"/>
              </a:spcAft>
            </a:pPr>
            <a:r>
              <a:rPr sz="900" b="1">
                <a:solidFill>
                  <a:srgbClr val="FFFFFF"/>
                </a:solidFill>
                <a:latin typeface="Arial"/>
              </a:rPr>
              <a:t>Never engaged — adoption flat at ~20%</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THE DELAY TRAP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quick win measured too early is indistinguishable from a mistake.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B1 acts in days. R1 and R2 act over months. The month-1 result validated a decision that was making things worse.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WHERE TO INTERVENE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Leverage vs Effort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Effort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Leverage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Add more counters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Triage complex cases away from the counter</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Cost</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Must be sustained forever</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Changes the structure once</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Effect on R1</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Feeds it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Breaks a link in it</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Sustainability</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Decays the moment you stop</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Holds without continuous push</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Test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'Are we pushing harder?'</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'Have we changed what produces the behaviour?'</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If your answer is 'hire more people', you have described effort, not leverage.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TOOL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Ed-Tool: System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20240"/>
            <a:ext cx="10058400" cy="402336"/>
          </a:xfrm>
          <a:prstGeom prst="rect">
            <a:avLst/>
          </a:prstGeom>
          <a:noFill/>
        </p:spPr>
        <p:txBody>
          <a:bodyPr wrap="square" anchor="t">
            <a:spAutoFit/>
          </a:bodyPr>
          <a:lstStyle/>
          <a:p>
            <a:pPr algn="l">
              <a:spcAft>
                <a:spcPts val="400"/>
              </a:spcAft>
            </a:pPr>
            <a:r>
              <a:rPr sz="2200" b="1">
                <a:solidFill>
                  <a:srgbClr val="161B26"/>
                </a:solidFill>
                <a:latin typeface="Arial"/>
              </a:rPr>
              <a:t>System Loop Tool</a:t>
            </a:r>
          </a:p>
        </p:txBody>
      </p:sp>
      <p:sp>
        <p:nvSpPr>
          <p:cNvPr id="10" name="Rectangle 9"/>
          <p:cNvSpPr/>
          <p:nvPr/>
        </p:nvSpPr>
        <p:spPr>
          <a:xfrm>
            <a:off x="1097280" y="2432304"/>
            <a:ext cx="9966960"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61872" y="2624328"/>
            <a:ext cx="128016" cy="128016"/>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63040" y="2624328"/>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64208" y="2624328"/>
            <a:ext cx="128016" cy="128016"/>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0" y="2432304"/>
            <a:ext cx="8778240" cy="566928"/>
          </a:xfrm>
          <a:prstGeom prst="rect">
            <a:avLst/>
          </a:prstGeom>
          <a:noFill/>
        </p:spPr>
        <p:txBody>
          <a:bodyPr wrap="square" anchor="ctr">
            <a:spAutoFit/>
          </a:bodyPr>
          <a:lstStyle/>
          <a:p>
            <a:pPr algn="l">
              <a:spcAft>
                <a:spcPts val="400"/>
              </a:spcAft>
            </a:pPr>
            <a:r>
              <a:rPr sz="1350" b="1">
                <a:solidFill>
                  <a:srgbClr val="1F6FEB"/>
                </a:solidFill>
                <a:latin typeface="Arial"/>
              </a:rPr>
              <a:t>https://alfredang.github.io/systemloop/</a:t>
            </a:r>
          </a:p>
        </p:txBody>
      </p:sp>
      <p:sp>
        <p:nvSpPr>
          <p:cNvPr id="15" name="Rectangle 14"/>
          <p:cNvSpPr/>
          <p:nvPr/>
        </p:nvSpPr>
        <p:spPr>
          <a:xfrm>
            <a:off x="777240" y="3364992"/>
            <a:ext cx="5184648"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64992"/>
            <a:ext cx="518464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4" y="3547872"/>
            <a:ext cx="4727448" cy="310896"/>
          </a:xfrm>
          <a:prstGeom prst="rect">
            <a:avLst/>
          </a:prstGeom>
          <a:noFill/>
        </p:spPr>
        <p:txBody>
          <a:bodyPr wrap="square" anchor="t">
            <a:spAutoFit/>
          </a:bodyPr>
          <a:lstStyle/>
          <a:p>
            <a:pPr algn="l">
              <a:spcAft>
                <a:spcPts val="400"/>
              </a:spcAft>
            </a:pPr>
            <a:r>
              <a:rPr sz="1100" b="1">
                <a:solidFill>
                  <a:srgbClr val="1F6FEB"/>
                </a:solidFill>
                <a:latin typeface="Arial"/>
              </a:rPr>
              <a:t>WHAT IT DOES</a:t>
            </a:r>
          </a:p>
        </p:txBody>
      </p:sp>
      <p:sp>
        <p:nvSpPr>
          <p:cNvPr id="18" name="TextBox 17"/>
          <p:cNvSpPr txBox="1"/>
          <p:nvPr/>
        </p:nvSpPr>
        <p:spPr>
          <a:xfrm>
            <a:off x="1014984" y="3895344"/>
            <a:ext cx="4727448" cy="1737360"/>
          </a:xfrm>
          <a:prstGeom prst="rect">
            <a:avLst/>
          </a:prstGeom>
          <a:noFill/>
        </p:spPr>
        <p:txBody>
          <a:bodyPr wrap="square" anchor="t">
            <a:spAutoFit/>
          </a:bodyPr>
          <a:lstStyle/>
          <a:p>
            <a:pPr algn="l">
              <a:spcAft>
                <a:spcPts val="400"/>
              </a:spcAft>
            </a:pPr>
            <a:r>
              <a:rPr sz="1300" b="0">
                <a:solidFill>
                  <a:srgbClr val="161B26"/>
                </a:solidFill>
                <a:latin typeface="Arial"/>
              </a:rPr>
              <a:t>Maps variables and causal links into closed feedback loops, marking each reinforcing (R) or balancing (B) so loop dynamics become visible.</a:t>
            </a:r>
          </a:p>
        </p:txBody>
      </p:sp>
      <p:sp>
        <p:nvSpPr>
          <p:cNvPr id="19" name="Rectangle 18"/>
          <p:cNvSpPr/>
          <p:nvPr/>
        </p:nvSpPr>
        <p:spPr>
          <a:xfrm>
            <a:off x="6227064" y="3364992"/>
            <a:ext cx="5184648"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7064" y="3364992"/>
            <a:ext cx="518464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8" y="3547872"/>
            <a:ext cx="4727448" cy="310896"/>
          </a:xfrm>
          <a:prstGeom prst="rect">
            <a:avLst/>
          </a:prstGeom>
          <a:noFill/>
        </p:spPr>
        <p:txBody>
          <a:bodyPr wrap="square" anchor="t">
            <a:spAutoFit/>
          </a:bodyPr>
          <a:lstStyle/>
          <a:p>
            <a:pPr algn="l">
              <a:spcAft>
                <a:spcPts val="400"/>
              </a:spcAft>
            </a:pPr>
            <a:r>
              <a:rPr sz="1100" b="1">
                <a:solidFill>
                  <a:srgbClr val="7C3AED"/>
                </a:solidFill>
                <a:latin typeface="Arial"/>
              </a:rPr>
              <a:t>HOW YOU'LL USE IT</a:t>
            </a:r>
          </a:p>
        </p:txBody>
      </p:sp>
      <p:sp>
        <p:nvSpPr>
          <p:cNvPr id="22" name="TextBox 21"/>
          <p:cNvSpPr txBox="1"/>
          <p:nvPr/>
        </p:nvSpPr>
        <p:spPr>
          <a:xfrm>
            <a:off x="6464808" y="3895344"/>
            <a:ext cx="4727448" cy="1737360"/>
          </a:xfrm>
          <a:prstGeom prst="rect">
            <a:avLst/>
          </a:prstGeom>
          <a:noFill/>
        </p:spPr>
        <p:txBody>
          <a:bodyPr wrap="square" anchor="t">
            <a:spAutoFit/>
          </a:bodyPr>
          <a:lstStyle/>
          <a:p>
            <a:pPr algn="l">
              <a:spcAft>
                <a:spcPts val="400"/>
              </a:spcAft>
            </a:pPr>
            <a:r>
              <a:rPr sz="1300" b="0">
                <a:solidFill>
                  <a:srgbClr val="161B26"/>
                </a:solidFill>
                <a:latin typeface="Arial"/>
              </a:rPr>
              <a:t>Add variables as nodes, link them with (+)/(−), and close the loop. Count negative links: even = reinforcing, odd = balancing.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PROMPT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Systems Thinking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1638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2889504"/>
          </a:xfrm>
          <a:prstGeom prst="rect">
            <a:avLst/>
          </a:prstGeom>
          <a:noFill/>
        </p:spPr>
        <p:txBody>
          <a:bodyPr wrap="square">
            <a:spAutoFit/>
          </a:bodyPr>
          <a:lstStyle/>
          <a:p>
            <a:pPr>
              <a:spcAft>
                <a:spcPts val="150"/>
              </a:spcAft>
            </a:pPr>
            <a:r>
              <a:rPr sz="1000" b="0">
                <a:solidFill>
                  <a:srgbClr val="D4D4D4"/>
                </a:solidFill>
                <a:latin typeface="Consolas"/>
              </a:rPr>
              <a:t>Act as a systems thinking facilitator. Help me map the causal feedback loops in this case.</a:t>
            </a:r>
          </a:p>
          <a:p>
            <a:pPr>
              <a:spcAft>
                <a:spcPts val="150"/>
              </a:spcAft>
            </a:pPr>
            <a:r>
              <a:rPr sz="1000" b="0">
                <a:solidFill>
                  <a:srgbClr val="D4D4D4"/>
                </a:solidFill>
                <a:latin typeface="Consolas"/>
              </a:rPr>
              <a:t> </a:t>
            </a:r>
          </a:p>
          <a:p>
            <a:pPr>
              <a:spcAft>
                <a:spcPts val="150"/>
              </a:spcAft>
            </a:pPr>
            <a:r>
              <a:rPr sz="1000" b="0">
                <a:solidFill>
                  <a:srgbClr val="D4D4D4"/>
                </a:solidFill>
                <a:latin typeface="Consolas"/>
              </a:rPr>
              <a:t>Situation: A bank branch added 2 counters at peak by redeploying back-office staff. Wait time fell from 58 to 34 minutes in month 1, then rose to 61 minutes by month 4 — worse than the starting point.</a:t>
            </a:r>
          </a:p>
          <a:p>
            <a:pPr>
              <a:spcAft>
                <a:spcPts val="150"/>
              </a:spcAft>
            </a:pPr>
            <a:r>
              <a:rPr sz="1000" b="0">
                <a:solidFill>
                  <a:srgbClr val="D4D4D4"/>
                </a:solidFill>
                <a:latin typeface="Consolas"/>
              </a:rPr>
              <a:t> </a:t>
            </a:r>
          </a:p>
          <a:p>
            <a:pPr>
              <a:spcAft>
                <a:spcPts val="150"/>
              </a:spcAft>
            </a:pPr>
            <a:r>
              <a:rPr sz="1000" b="0">
                <a:solidFill>
                  <a:srgbClr val="D4D4D4"/>
                </a:solidFill>
                <a:latin typeface="Consolas"/>
              </a:rPr>
              <a:t>Observed changes over 4 months: back-office backlog 0.5 -&gt; 2.0 days; teller errors 6% -&gt; 14%; rework returning to the counter rose; overtime 88 -&gt; 196 hrs/month; resignations rose; share of tellers under 6 months 44% -&gt; 58%; mean handling time 9 -&gt; 13 min; digital adoption flat at ~20%.</a:t>
            </a:r>
          </a:p>
          <a:p>
            <a:pPr>
              <a:spcAft>
                <a:spcPts val="150"/>
              </a:spcAft>
            </a:pPr>
            <a:r>
              <a:rPr sz="1000" b="0">
                <a:solidFill>
                  <a:srgbClr val="D4D4D4"/>
                </a:solidFill>
                <a:latin typeface="Consolas"/>
              </a:rPr>
              <a:t> </a:t>
            </a:r>
          </a:p>
          <a:p>
            <a:pPr>
              <a:spcAft>
                <a:spcPts val="150"/>
              </a:spcAft>
            </a:pPr>
            <a:r>
              <a:rPr sz="1000" b="1">
                <a:solidFill>
                  <a:srgbClr val="4EC9B0"/>
                </a:solidFill>
                <a:latin typeface="Consolas"/>
              </a:rPr>
              <a:t>Produce:</a:t>
            </a:r>
          </a:p>
          <a:p>
            <a:pPr>
              <a:spcAft>
                <a:spcPts val="150"/>
              </a:spcAft>
            </a:pPr>
            <a:r>
              <a:rPr sz="1000" b="1">
                <a:solidFill>
                  <a:srgbClr val="4EC9B0"/>
                </a:solidFill>
                <a:latin typeface="Consolas"/>
              </a:rPr>
              <a:t>1. At least 2 REINFORCING (R) loops and 2 BALANCING (B) loops. For each, list the variables in causal order with (+) or (-) on each link, and name the loop</a:t>
            </a:r>
          </a:p>
          <a:p>
            <a:pPr>
              <a:spcAft>
                <a:spcPts val="150"/>
              </a:spcAft>
            </a:pPr>
            <a:r>
              <a:rPr sz="1000" b="1">
                <a:solidFill>
                  <a:srgbClr val="4EC9B0"/>
                </a:solidFill>
                <a:latin typeface="Consolas"/>
              </a:rPr>
              <a:t>2. Explain specifically WHY the month-1 improvement reversed — which loop overwhelmed which</a:t>
            </a:r>
          </a:p>
          <a:p>
            <a:pPr>
              <a:spcAft>
                <a:spcPts val="150"/>
              </a:spcAft>
            </a:pPr>
            <a:r>
              <a:rPr sz="1000" b="1">
                <a:solidFill>
                  <a:srgbClr val="4EC9B0"/>
                </a:solidFill>
                <a:latin typeface="Consolas"/>
              </a:rPr>
              <a:t>3. Identify the delay in the system and explain why the delay made the wrong decision look right</a:t>
            </a:r>
          </a:p>
          <a:p>
            <a:pPr>
              <a:spcAft>
                <a:spcPts val="150"/>
              </a:spcAft>
            </a:pPr>
            <a:r>
              <a:rPr sz="1000" b="1">
                <a:solidFill>
                  <a:srgbClr val="4EC9B0"/>
                </a:solidFill>
                <a:latin typeface="Consolas"/>
              </a:rPr>
              <a:t>4. Name 2 leverage points that would break the reinforcing loops, and say what makes them leverage rather than just more effort</a:t>
            </a:r>
          </a:p>
        </p:txBody>
      </p:sp>
      <p:sp>
        <p:nvSpPr>
          <p:cNvPr id="12" name="Rectangle 11"/>
          <p:cNvSpPr/>
          <p:nvPr/>
        </p:nvSpPr>
        <p:spPr>
          <a:xfrm>
            <a:off x="777240" y="5541264"/>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541264"/>
            <a:ext cx="8229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541264"/>
            <a:ext cx="10149840" cy="713232"/>
          </a:xfrm>
          <a:prstGeom prst="rect">
            <a:avLst/>
          </a:prstGeom>
          <a:noFill/>
        </p:spPr>
        <p:txBody>
          <a:bodyPr wrap="square" anchor="ctr">
            <a:spAutoFit/>
          </a:bodyPr>
          <a:lstStyle/>
          <a:p>
            <a:pPr algn="l">
              <a:spcAft>
                <a:spcPts val="400"/>
              </a:spcAft>
            </a:pPr>
            <a:r>
              <a:rPr sz="1050" b="1">
                <a:solidFill>
                  <a:srgbClr val="F59E0B"/>
                </a:solidFill>
                <a:latin typeface="Arial"/>
              </a:rPr>
              <a:t>WATCH FOR  </a:t>
            </a:r>
            <a:r>
              <a:rPr sz="1150" b="0">
                <a:solidFill>
                  <a:srgbClr val="161B26"/>
                </a:solidFill>
                <a:latin typeface="Arial"/>
              </a:rPr>
              <a:t>Ask explicitly for the DELAY and the dormant loop — the AI rarely volunteers either.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Activity 5 — System Loops: Why the Problem Keeps Coming 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46304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463040" cy="402336"/>
          </a:xfrm>
          <a:prstGeom prst="rect">
            <a:avLst/>
          </a:prstGeom>
          <a:noFill/>
        </p:spPr>
        <p:txBody>
          <a:bodyPr wrap="square" anchor="ctr">
            <a:spAutoFit/>
          </a:bodyPr>
          <a:lstStyle/>
          <a:p>
            <a:pPr algn="ctr">
              <a:spcAft>
                <a:spcPts val="400"/>
              </a:spcAft>
            </a:pPr>
            <a:r>
              <a:rPr sz="1400" b="1">
                <a:solidFill>
                  <a:srgbClr val="FFFFFF"/>
                </a:solidFill>
                <a:latin typeface="Arial"/>
              </a:rPr>
              <a:t>ACTIVITY 5</a:t>
            </a:r>
          </a:p>
        </p:txBody>
      </p:sp>
      <p:sp>
        <p:nvSpPr>
          <p:cNvPr id="9" name="TextBox 8"/>
          <p:cNvSpPr txBox="1"/>
          <p:nvPr/>
        </p:nvSpPr>
        <p:spPr>
          <a:xfrm>
            <a:off x="2395728" y="1719072"/>
            <a:ext cx="8961120" cy="402336"/>
          </a:xfrm>
          <a:prstGeom prst="rect">
            <a:avLst/>
          </a:prstGeom>
          <a:noFill/>
        </p:spPr>
        <p:txBody>
          <a:bodyPr wrap="square" anchor="ctr">
            <a:spAutoFit/>
          </a:bodyPr>
          <a:lstStyle/>
          <a:p>
            <a:pPr algn="l">
              <a:spcAft>
                <a:spcPts val="400"/>
              </a:spcAft>
            </a:pPr>
            <a:r>
              <a:rPr sz="1100" b="0">
                <a:solidFill>
                  <a:srgbClr val="5B6372"/>
                </a:solidFill>
                <a:latin typeface="Arial"/>
              </a:rPr>
              <a:t>A3 · K2 — Deduce linkages and patterns to identify key implications on organisational systems.</a:t>
            </a:r>
          </a:p>
        </p:txBody>
      </p:sp>
      <p:sp>
        <p:nvSpPr>
          <p:cNvPr id="10" name="Rectangle 9"/>
          <p:cNvSpPr/>
          <p:nvPr/>
        </p:nvSpPr>
        <p:spPr>
          <a:xfrm>
            <a:off x="777240" y="228600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14016"/>
            <a:ext cx="10149840" cy="329184"/>
          </a:xfrm>
          <a:prstGeom prst="rect">
            <a:avLst/>
          </a:prstGeom>
          <a:noFill/>
        </p:spPr>
        <p:txBody>
          <a:bodyPr wrap="square" anchor="t">
            <a:spAutoFit/>
          </a:bodyPr>
          <a:lstStyle/>
          <a:p>
            <a:pPr algn="l">
              <a:spcAft>
                <a:spcPts val="400"/>
              </a:spcAft>
            </a:pPr>
            <a:r>
              <a:rPr sz="1550" b="1">
                <a:solidFill>
                  <a:srgbClr val="161B26"/>
                </a:solidFill>
                <a:latin typeface="Arial"/>
              </a:rPr>
              <a:t>Horizon Bank revisited — the fix that made it worse</a:t>
            </a:r>
          </a:p>
        </p:txBody>
      </p:sp>
      <p:sp>
        <p:nvSpPr>
          <p:cNvPr id="13" name="TextBox 12"/>
          <p:cNvSpPr txBox="1"/>
          <p:nvPr/>
        </p:nvSpPr>
        <p:spPr>
          <a:xfrm>
            <a:off x="1078992" y="2779776"/>
            <a:ext cx="10149840" cy="731520"/>
          </a:xfrm>
          <a:prstGeom prst="rect">
            <a:avLst/>
          </a:prstGeom>
          <a:noFill/>
        </p:spPr>
        <p:txBody>
          <a:bodyPr wrap="square" anchor="t">
            <a:spAutoFit/>
          </a:bodyPr>
          <a:lstStyle/>
          <a:p>
            <a:pPr algn="l">
              <a:spcAft>
                <a:spcPts val="400"/>
              </a:spcAft>
            </a:pPr>
            <a:r>
              <a:rPr sz="1250" b="0">
                <a:solidFill>
                  <a:srgbClr val="5B6372"/>
                </a:solidFill>
                <a:latin typeface="Arial"/>
              </a:rPr>
              <a:t>Map the loops that turned a successful fix into a worse outcome, and find the real leverage points.</a:t>
            </a:r>
          </a:p>
        </p:txBody>
      </p:sp>
      <p:sp>
        <p:nvSpPr>
          <p:cNvPr id="14" name="Rectangle 13"/>
          <p:cNvSpPr/>
          <p:nvPr/>
        </p:nvSpPr>
        <p:spPr>
          <a:xfrm>
            <a:off x="777240"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85615"/>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31920"/>
            <a:ext cx="2980944" cy="292608"/>
          </a:xfrm>
          <a:prstGeom prst="rect">
            <a:avLst/>
          </a:prstGeom>
          <a:noFill/>
        </p:spPr>
        <p:txBody>
          <a:bodyPr wrap="square" anchor="t">
            <a:spAutoFit/>
          </a:bodyPr>
          <a:lstStyle/>
          <a:p>
            <a:pPr algn="l">
              <a:spcAft>
                <a:spcPts val="400"/>
              </a:spcAft>
            </a:pPr>
            <a:r>
              <a:rPr sz="1100" b="1">
                <a:solidFill>
                  <a:srgbClr val="1F6FEB"/>
                </a:solidFill>
                <a:latin typeface="Arial"/>
              </a:rPr>
              <a:t>TEAM</a:t>
            </a:r>
          </a:p>
        </p:txBody>
      </p:sp>
      <p:sp>
        <p:nvSpPr>
          <p:cNvPr id="17" name="TextBox 16"/>
          <p:cNvSpPr txBox="1"/>
          <p:nvPr/>
        </p:nvSpPr>
        <p:spPr>
          <a:xfrm>
            <a:off x="996696"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Teams of 3-5</a:t>
            </a:r>
          </a:p>
        </p:txBody>
      </p:sp>
      <p:sp>
        <p:nvSpPr>
          <p:cNvPr id="18" name="Rectangle 17"/>
          <p:cNvSpPr/>
          <p:nvPr/>
        </p:nvSpPr>
        <p:spPr>
          <a:xfrm>
            <a:off x="4398264"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85615"/>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31920"/>
            <a:ext cx="2980944" cy="292608"/>
          </a:xfrm>
          <a:prstGeom prst="rect">
            <a:avLst/>
          </a:prstGeom>
          <a:noFill/>
        </p:spPr>
        <p:txBody>
          <a:bodyPr wrap="square" anchor="t">
            <a:spAutoFit/>
          </a:bodyPr>
          <a:lstStyle/>
          <a:p>
            <a:pPr algn="l">
              <a:spcAft>
                <a:spcPts val="400"/>
              </a:spcAft>
            </a:pPr>
            <a:r>
              <a:rPr sz="1100" b="1">
                <a:solidFill>
                  <a:srgbClr val="10B981"/>
                </a:solidFill>
                <a:latin typeface="Arial"/>
              </a:rPr>
              <a:t>TIME</a:t>
            </a:r>
          </a:p>
        </p:txBody>
      </p:sp>
      <p:sp>
        <p:nvSpPr>
          <p:cNvPr id="21" name="TextBox 20"/>
          <p:cNvSpPr txBox="1"/>
          <p:nvPr/>
        </p:nvSpPr>
        <p:spPr>
          <a:xfrm>
            <a:off x="4617720"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50 minutes</a:t>
            </a:r>
          </a:p>
        </p:txBody>
      </p:sp>
      <p:sp>
        <p:nvSpPr>
          <p:cNvPr id="22" name="Rectangle 21"/>
          <p:cNvSpPr/>
          <p:nvPr/>
        </p:nvSpPr>
        <p:spPr>
          <a:xfrm>
            <a:off x="8019288"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85615"/>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31920"/>
            <a:ext cx="2980944" cy="292608"/>
          </a:xfrm>
          <a:prstGeom prst="rect">
            <a:avLst/>
          </a:prstGeom>
          <a:noFill/>
        </p:spPr>
        <p:txBody>
          <a:bodyPr wrap="square" anchor="t">
            <a:spAutoFit/>
          </a:bodyPr>
          <a:lstStyle/>
          <a:p>
            <a:pPr algn="l">
              <a:spcAft>
                <a:spcPts val="400"/>
              </a:spcAft>
            </a:pPr>
            <a:r>
              <a:rPr sz="1100" b="1">
                <a:solidFill>
                  <a:srgbClr val="7C3AED"/>
                </a:solidFill>
                <a:latin typeface="Arial"/>
              </a:rPr>
              <a:t>TOOL</a:t>
            </a:r>
          </a:p>
        </p:txBody>
      </p:sp>
      <p:sp>
        <p:nvSpPr>
          <p:cNvPr id="25" name="TextBox 24"/>
          <p:cNvSpPr txBox="1"/>
          <p:nvPr/>
        </p:nvSpPr>
        <p:spPr>
          <a:xfrm>
            <a:off x="8238744" y="4261104"/>
            <a:ext cx="2980944" cy="914400"/>
          </a:xfrm>
          <a:prstGeom prst="rect">
            <a:avLst/>
          </a:prstGeom>
          <a:noFill/>
        </p:spPr>
        <p:txBody>
          <a:bodyPr wrap="square" anchor="t">
            <a:spAutoFit/>
          </a:bodyPr>
          <a:lstStyle/>
          <a:p>
            <a:pPr algn="l">
              <a:spcAft>
                <a:spcPts val="400"/>
              </a:spcAft>
            </a:pPr>
            <a:r>
              <a:rPr sz="1050" b="0">
                <a:solidFill>
                  <a:srgbClr val="161B26"/>
                </a:solidFill>
                <a:latin typeface="Arial"/>
              </a:rPr>
              <a:t>System Loop Tool · https://alfredang.github.io/systemloop/</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5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Situation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02336"/>
          </a:xfrm>
          <a:prstGeom prst="rect">
            <a:avLst/>
          </a:prstGeom>
          <a:noFill/>
        </p:spPr>
        <p:txBody>
          <a:bodyPr wrap="square" anchor="ctr">
            <a:spAutoFit/>
          </a:bodyPr>
          <a:lstStyle/>
          <a:p>
            <a:pPr algn="ctr">
              <a:spcAft>
                <a:spcPts val="400"/>
              </a:spcAft>
            </a:pPr>
            <a:r>
              <a:rPr sz="1200" b="1">
                <a:solidFill>
                  <a:srgbClr val="FFFFFF"/>
                </a:solidFill>
                <a:latin typeface="Arial"/>
              </a:rPr>
              <a:t>CASE STUDY</a:t>
            </a:r>
          </a:p>
        </p:txBody>
      </p:sp>
      <p:sp>
        <p:nvSpPr>
          <p:cNvPr id="9" name="TextBox 8"/>
          <p:cNvSpPr txBox="1"/>
          <p:nvPr/>
        </p:nvSpPr>
        <p:spPr>
          <a:xfrm>
            <a:off x="2633472" y="1719072"/>
            <a:ext cx="8778240" cy="402336"/>
          </a:xfrm>
          <a:prstGeom prst="rect">
            <a:avLst/>
          </a:prstGeom>
          <a:noFill/>
        </p:spPr>
        <p:txBody>
          <a:bodyPr wrap="square" anchor="ctr">
            <a:spAutoFit/>
          </a:bodyPr>
          <a:lstStyle/>
          <a:p>
            <a:pPr algn="l">
              <a:spcAft>
                <a:spcPts val="400"/>
              </a:spcAft>
            </a:pPr>
            <a:r>
              <a:rPr sz="1500" b="1">
                <a:solidFill>
                  <a:srgbClr val="161B26"/>
                </a:solidFill>
                <a:latin typeface="Arial"/>
              </a:rPr>
              <a:t>Horizon Bank revisited — the fix that made it worse</a:t>
            </a:r>
          </a:p>
        </p:txBody>
      </p:sp>
      <p:sp>
        <p:nvSpPr>
          <p:cNvPr id="10" name="Rectangle 9"/>
          <p:cNvSpPr/>
          <p:nvPr/>
        </p:nvSpPr>
        <p:spPr>
          <a:xfrm>
            <a:off x="777240" y="2286000"/>
            <a:ext cx="10634472" cy="3931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3931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432304"/>
            <a:ext cx="10058400" cy="3657600"/>
          </a:xfrm>
          <a:prstGeom prst="rect">
            <a:avLst/>
          </a:prstGeom>
          <a:noFill/>
        </p:spPr>
        <p:txBody>
          <a:bodyPr wrap="square">
            <a:spAutoFit/>
          </a:bodyPr>
          <a:lstStyle/>
          <a:p>
            <a:pPr>
              <a:spcAft>
                <a:spcPts val="700"/>
              </a:spcAft>
            </a:pPr>
            <a:r>
              <a:rPr sz="1300">
                <a:solidFill>
                  <a:srgbClr val="161B26"/>
                </a:solidFill>
                <a:latin typeface="Arial"/>
              </a:rPr>
              <a:t>Return to Horizon Bank Jurong East. Acting on the fishbone, the Regional Director did the obvious thing: he ordered two additional counters staffed at peak, redeploying staff from the back office.</a:t>
            </a:r>
          </a:p>
          <a:p>
            <a:pPr>
              <a:spcAft>
                <a:spcPts val="700"/>
              </a:spcAft>
            </a:pPr>
            <a:r>
              <a:rPr sz="1300">
                <a:solidFill>
                  <a:srgbClr val="161B26"/>
                </a:solidFill>
                <a:latin typeface="Arial"/>
              </a:rPr>
              <a:t>Month 1: average wait fell from 58 to 34 minutes. Everyone celebrated. Month 4: average wait is back to 61 minutes — WORSE than before. Complaints are at 68 per month. Three more tellers have resigned. Back-office processing is now two days behind, which has started generating a new complaint category of its own.</a:t>
            </a:r>
          </a:p>
          <a:p>
            <a:pPr>
              <a:spcAft>
                <a:spcPts val="700"/>
              </a:spcAft>
            </a:pPr>
            <a:r>
              <a:rPr sz="1300">
                <a:solidFill>
                  <a:srgbClr val="161B26"/>
                </a:solidFill>
                <a:latin typeface="Arial"/>
              </a:rPr>
              <a:t>The Regional Director is baffled: "We added capacity and the problem came back bigger. What am I missing?"</a:t>
            </a:r>
          </a:p>
          <a:p>
            <a:pPr>
              <a:spcAft>
                <a:spcPts val="700"/>
              </a:spcAft>
            </a:pPr>
            <a:r>
              <a:rPr sz="1300">
                <a:solidFill>
                  <a:srgbClr val="161B26"/>
                </a:solidFill>
                <a:latin typeface="Arial"/>
              </a:rPr>
              <a:t>What he is missing is that a branch is not a queue — it is a system of feedback loops. Your team must map them.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Variable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Month 1</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Month 4</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Direction</a:t>
            </a:r>
          </a:p>
        </p:txBody>
      </p:sp>
      <p:sp>
        <p:nvSpPr>
          <p:cNvPr id="15" name="Rectangle 14"/>
          <p:cNvSpPr/>
          <p:nvPr/>
        </p:nvSpPr>
        <p:spPr>
          <a:xfrm>
            <a:off x="777240" y="2258568"/>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Counters staffed at peak</a:t>
            </a:r>
          </a:p>
        </p:txBody>
      </p:sp>
      <p:sp>
        <p:nvSpPr>
          <p:cNvPr id="17" name="Rectangle 16"/>
          <p:cNvSpPr/>
          <p:nvPr/>
        </p:nvSpPr>
        <p:spPr>
          <a:xfrm>
            <a:off x="3542202" y="2258568"/>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3.2</a:t>
            </a:r>
          </a:p>
        </p:txBody>
      </p:sp>
      <p:sp>
        <p:nvSpPr>
          <p:cNvPr id="19" name="Rectangle 18"/>
          <p:cNvSpPr/>
          <p:nvPr/>
        </p:nvSpPr>
        <p:spPr>
          <a:xfrm>
            <a:off x="6165372" y="2258568"/>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5.1</a:t>
            </a:r>
          </a:p>
        </p:txBody>
      </p:sp>
      <p:sp>
        <p:nvSpPr>
          <p:cNvPr id="21" name="Rectangle 20"/>
          <p:cNvSpPr/>
          <p:nvPr/>
        </p:nvSpPr>
        <p:spPr>
          <a:xfrm>
            <a:off x="8788542" y="2258568"/>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up</a:t>
            </a:r>
          </a:p>
        </p:txBody>
      </p:sp>
      <p:sp>
        <p:nvSpPr>
          <p:cNvPr id="23" name="Rectangle 22"/>
          <p:cNvSpPr/>
          <p:nvPr/>
        </p:nvSpPr>
        <p:spPr>
          <a:xfrm>
            <a:off x="777240" y="2522081"/>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522081"/>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Average wait time (min)</a:t>
            </a:r>
          </a:p>
        </p:txBody>
      </p:sp>
      <p:sp>
        <p:nvSpPr>
          <p:cNvPr id="25" name="Rectangle 24"/>
          <p:cNvSpPr/>
          <p:nvPr/>
        </p:nvSpPr>
        <p:spPr>
          <a:xfrm>
            <a:off x="3542202" y="2522081"/>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522081"/>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58 -&gt; 34</a:t>
            </a:r>
          </a:p>
        </p:txBody>
      </p:sp>
      <p:sp>
        <p:nvSpPr>
          <p:cNvPr id="27" name="Rectangle 26"/>
          <p:cNvSpPr/>
          <p:nvPr/>
        </p:nvSpPr>
        <p:spPr>
          <a:xfrm>
            <a:off x="6165372" y="2522081"/>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522081"/>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61</a:t>
            </a:r>
          </a:p>
        </p:txBody>
      </p:sp>
      <p:sp>
        <p:nvSpPr>
          <p:cNvPr id="29" name="Rectangle 28"/>
          <p:cNvSpPr/>
          <p:nvPr/>
        </p:nvSpPr>
        <p:spPr>
          <a:xfrm>
            <a:off x="8788542" y="2522081"/>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522081"/>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down then up</a:t>
            </a:r>
          </a:p>
        </p:txBody>
      </p:sp>
      <p:sp>
        <p:nvSpPr>
          <p:cNvPr id="31" name="Rectangle 30"/>
          <p:cNvSpPr/>
          <p:nvPr/>
        </p:nvSpPr>
        <p:spPr>
          <a:xfrm>
            <a:off x="777240" y="2785594"/>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2785594"/>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Back-office processing backlog (days)</a:t>
            </a:r>
          </a:p>
        </p:txBody>
      </p:sp>
      <p:sp>
        <p:nvSpPr>
          <p:cNvPr id="33" name="Rectangle 32"/>
          <p:cNvSpPr/>
          <p:nvPr/>
        </p:nvSpPr>
        <p:spPr>
          <a:xfrm>
            <a:off x="3542202" y="2785594"/>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2785594"/>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0.5</a:t>
            </a:r>
          </a:p>
        </p:txBody>
      </p:sp>
      <p:sp>
        <p:nvSpPr>
          <p:cNvPr id="35" name="Rectangle 34"/>
          <p:cNvSpPr/>
          <p:nvPr/>
        </p:nvSpPr>
        <p:spPr>
          <a:xfrm>
            <a:off x="6165372" y="2785594"/>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2785594"/>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2.0</a:t>
            </a:r>
          </a:p>
        </p:txBody>
      </p:sp>
      <p:sp>
        <p:nvSpPr>
          <p:cNvPr id="37" name="Rectangle 36"/>
          <p:cNvSpPr/>
          <p:nvPr/>
        </p:nvSpPr>
        <p:spPr>
          <a:xfrm>
            <a:off x="8788542" y="2785594"/>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2785594"/>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up</a:t>
            </a:r>
          </a:p>
        </p:txBody>
      </p:sp>
      <p:sp>
        <p:nvSpPr>
          <p:cNvPr id="39" name="Rectangle 38"/>
          <p:cNvSpPr/>
          <p:nvPr/>
        </p:nvSpPr>
        <p:spPr>
          <a:xfrm>
            <a:off x="777240" y="3049107"/>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049107"/>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Teller errors requiring rework</a:t>
            </a:r>
          </a:p>
        </p:txBody>
      </p:sp>
      <p:sp>
        <p:nvSpPr>
          <p:cNvPr id="41" name="Rectangle 40"/>
          <p:cNvSpPr/>
          <p:nvPr/>
        </p:nvSpPr>
        <p:spPr>
          <a:xfrm>
            <a:off x="3542202" y="3049107"/>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049107"/>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6%</a:t>
            </a:r>
          </a:p>
        </p:txBody>
      </p:sp>
      <p:sp>
        <p:nvSpPr>
          <p:cNvPr id="43" name="Rectangle 42"/>
          <p:cNvSpPr/>
          <p:nvPr/>
        </p:nvSpPr>
        <p:spPr>
          <a:xfrm>
            <a:off x="6165372" y="3049107"/>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049107"/>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14%</a:t>
            </a:r>
          </a:p>
        </p:txBody>
      </p:sp>
      <p:sp>
        <p:nvSpPr>
          <p:cNvPr id="45" name="Rectangle 44"/>
          <p:cNvSpPr/>
          <p:nvPr/>
        </p:nvSpPr>
        <p:spPr>
          <a:xfrm>
            <a:off x="8788542" y="3049107"/>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049107"/>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up</a:t>
            </a:r>
          </a:p>
        </p:txBody>
      </p:sp>
      <p:sp>
        <p:nvSpPr>
          <p:cNvPr id="47" name="Rectangle 46"/>
          <p:cNvSpPr/>
          <p:nvPr/>
        </p:nvSpPr>
        <p:spPr>
          <a:xfrm>
            <a:off x="777240" y="3312620"/>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3312620"/>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Rework returning to the counter</a:t>
            </a:r>
          </a:p>
        </p:txBody>
      </p:sp>
      <p:sp>
        <p:nvSpPr>
          <p:cNvPr id="49" name="Rectangle 48"/>
          <p:cNvSpPr/>
          <p:nvPr/>
        </p:nvSpPr>
        <p:spPr>
          <a:xfrm>
            <a:off x="3542202" y="3312620"/>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3312620"/>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low</a:t>
            </a:r>
          </a:p>
        </p:txBody>
      </p:sp>
      <p:sp>
        <p:nvSpPr>
          <p:cNvPr id="51" name="Rectangle 50"/>
          <p:cNvSpPr/>
          <p:nvPr/>
        </p:nvSpPr>
        <p:spPr>
          <a:xfrm>
            <a:off x="6165372" y="3312620"/>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3312620"/>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high</a:t>
            </a:r>
          </a:p>
        </p:txBody>
      </p:sp>
      <p:sp>
        <p:nvSpPr>
          <p:cNvPr id="53" name="Rectangle 52"/>
          <p:cNvSpPr/>
          <p:nvPr/>
        </p:nvSpPr>
        <p:spPr>
          <a:xfrm>
            <a:off x="8788542" y="3312620"/>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3312620"/>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up</a:t>
            </a:r>
          </a:p>
        </p:txBody>
      </p:sp>
      <p:sp>
        <p:nvSpPr>
          <p:cNvPr id="55" name="Rectangle 54"/>
          <p:cNvSpPr/>
          <p:nvPr/>
        </p:nvSpPr>
        <p:spPr>
          <a:xfrm>
            <a:off x="777240" y="3576133"/>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3576133"/>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Teller overtime hours / month</a:t>
            </a:r>
          </a:p>
        </p:txBody>
      </p:sp>
      <p:sp>
        <p:nvSpPr>
          <p:cNvPr id="57" name="Rectangle 56"/>
          <p:cNvSpPr/>
          <p:nvPr/>
        </p:nvSpPr>
        <p:spPr>
          <a:xfrm>
            <a:off x="3542202" y="3576133"/>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3576133"/>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88</a:t>
            </a:r>
          </a:p>
        </p:txBody>
      </p:sp>
      <p:sp>
        <p:nvSpPr>
          <p:cNvPr id="59" name="Rectangle 58"/>
          <p:cNvSpPr/>
          <p:nvPr/>
        </p:nvSpPr>
        <p:spPr>
          <a:xfrm>
            <a:off x="6165372" y="3576133"/>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3576133"/>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196</a:t>
            </a:r>
          </a:p>
        </p:txBody>
      </p:sp>
      <p:sp>
        <p:nvSpPr>
          <p:cNvPr id="61" name="Rectangle 60"/>
          <p:cNvSpPr/>
          <p:nvPr/>
        </p:nvSpPr>
        <p:spPr>
          <a:xfrm>
            <a:off x="8788542" y="3576133"/>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3576133"/>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up</a:t>
            </a:r>
          </a:p>
        </p:txBody>
      </p:sp>
      <p:sp>
        <p:nvSpPr>
          <p:cNvPr id="63" name="Rectangle 62"/>
          <p:cNvSpPr/>
          <p:nvPr/>
        </p:nvSpPr>
        <p:spPr>
          <a:xfrm>
            <a:off x="777240" y="3839646"/>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05256" y="3839646"/>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Staff resignations (quarter)</a:t>
            </a:r>
          </a:p>
        </p:txBody>
      </p:sp>
      <p:sp>
        <p:nvSpPr>
          <p:cNvPr id="65" name="Rectangle 64"/>
          <p:cNvSpPr/>
          <p:nvPr/>
        </p:nvSpPr>
        <p:spPr>
          <a:xfrm>
            <a:off x="3542202" y="3839646"/>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70218" y="3839646"/>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2</a:t>
            </a:r>
          </a:p>
        </p:txBody>
      </p:sp>
      <p:sp>
        <p:nvSpPr>
          <p:cNvPr id="67" name="Rectangle 66"/>
          <p:cNvSpPr/>
          <p:nvPr/>
        </p:nvSpPr>
        <p:spPr>
          <a:xfrm>
            <a:off x="6165372" y="3839646"/>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293388" y="3839646"/>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3</a:t>
            </a:r>
          </a:p>
        </p:txBody>
      </p:sp>
      <p:sp>
        <p:nvSpPr>
          <p:cNvPr id="69" name="Rectangle 68"/>
          <p:cNvSpPr/>
          <p:nvPr/>
        </p:nvSpPr>
        <p:spPr>
          <a:xfrm>
            <a:off x="8788542" y="3839646"/>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916558" y="3839646"/>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up</a:t>
            </a:r>
          </a:p>
        </p:txBody>
      </p:sp>
      <p:sp>
        <p:nvSpPr>
          <p:cNvPr id="71" name="Rectangle 70"/>
          <p:cNvSpPr/>
          <p:nvPr/>
        </p:nvSpPr>
        <p:spPr>
          <a:xfrm>
            <a:off x="777240" y="4103159"/>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05256" y="4103159"/>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Share of counter staff under 6 months</a:t>
            </a:r>
          </a:p>
        </p:txBody>
      </p:sp>
      <p:sp>
        <p:nvSpPr>
          <p:cNvPr id="73" name="Rectangle 72"/>
          <p:cNvSpPr/>
          <p:nvPr/>
        </p:nvSpPr>
        <p:spPr>
          <a:xfrm>
            <a:off x="3542202" y="4103159"/>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670218" y="4103159"/>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44%</a:t>
            </a:r>
          </a:p>
        </p:txBody>
      </p:sp>
      <p:sp>
        <p:nvSpPr>
          <p:cNvPr id="75" name="Rectangle 74"/>
          <p:cNvSpPr/>
          <p:nvPr/>
        </p:nvSpPr>
        <p:spPr>
          <a:xfrm>
            <a:off x="6165372" y="4103159"/>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93388" y="4103159"/>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58%</a:t>
            </a:r>
          </a:p>
        </p:txBody>
      </p:sp>
      <p:sp>
        <p:nvSpPr>
          <p:cNvPr id="77" name="Rectangle 76"/>
          <p:cNvSpPr/>
          <p:nvPr/>
        </p:nvSpPr>
        <p:spPr>
          <a:xfrm>
            <a:off x="8788542" y="4103159"/>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916558" y="4103159"/>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up</a:t>
            </a:r>
          </a:p>
        </p:txBody>
      </p:sp>
      <p:sp>
        <p:nvSpPr>
          <p:cNvPr id="79" name="Rectangle 78"/>
          <p:cNvSpPr/>
          <p:nvPr/>
        </p:nvSpPr>
        <p:spPr>
          <a:xfrm>
            <a:off x="777240" y="4366672"/>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05256" y="4366672"/>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Mean transaction handling time (min)</a:t>
            </a:r>
          </a:p>
        </p:txBody>
      </p:sp>
      <p:sp>
        <p:nvSpPr>
          <p:cNvPr id="81" name="Rectangle 80"/>
          <p:cNvSpPr/>
          <p:nvPr/>
        </p:nvSpPr>
        <p:spPr>
          <a:xfrm>
            <a:off x="3542202" y="4366672"/>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670218" y="4366672"/>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9</a:t>
            </a:r>
          </a:p>
        </p:txBody>
      </p:sp>
      <p:sp>
        <p:nvSpPr>
          <p:cNvPr id="83" name="Rectangle 82"/>
          <p:cNvSpPr/>
          <p:nvPr/>
        </p:nvSpPr>
        <p:spPr>
          <a:xfrm>
            <a:off x="6165372" y="4366672"/>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293388" y="4366672"/>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13</a:t>
            </a:r>
          </a:p>
        </p:txBody>
      </p:sp>
      <p:sp>
        <p:nvSpPr>
          <p:cNvPr id="85" name="Rectangle 84"/>
          <p:cNvSpPr/>
          <p:nvPr/>
        </p:nvSpPr>
        <p:spPr>
          <a:xfrm>
            <a:off x="8788542" y="4366672"/>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916558" y="4366672"/>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up</a:t>
            </a:r>
          </a:p>
        </p:txBody>
      </p:sp>
      <p:sp>
        <p:nvSpPr>
          <p:cNvPr id="87" name="Rectangle 86"/>
          <p:cNvSpPr/>
          <p:nvPr/>
        </p:nvSpPr>
        <p:spPr>
          <a:xfrm>
            <a:off x="777240" y="4630185"/>
            <a:ext cx="2764962"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05256" y="4630185"/>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Customer complaints / month</a:t>
            </a:r>
          </a:p>
        </p:txBody>
      </p:sp>
      <p:sp>
        <p:nvSpPr>
          <p:cNvPr id="89" name="Rectangle 88"/>
          <p:cNvSpPr/>
          <p:nvPr/>
        </p:nvSpPr>
        <p:spPr>
          <a:xfrm>
            <a:off x="3542202" y="4630185"/>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670218" y="4630185"/>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60</a:t>
            </a:r>
          </a:p>
        </p:txBody>
      </p:sp>
      <p:sp>
        <p:nvSpPr>
          <p:cNvPr id="91" name="Rectangle 90"/>
          <p:cNvSpPr/>
          <p:nvPr/>
        </p:nvSpPr>
        <p:spPr>
          <a:xfrm>
            <a:off x="6165372" y="4630185"/>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293388" y="4630185"/>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68</a:t>
            </a:r>
          </a:p>
        </p:txBody>
      </p:sp>
      <p:sp>
        <p:nvSpPr>
          <p:cNvPr id="93" name="Rectangle 92"/>
          <p:cNvSpPr/>
          <p:nvPr/>
        </p:nvSpPr>
        <p:spPr>
          <a:xfrm>
            <a:off x="8788542" y="4630185"/>
            <a:ext cx="2623170" cy="2635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916558" y="4630185"/>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up</a:t>
            </a:r>
          </a:p>
        </p:txBody>
      </p:sp>
      <p:sp>
        <p:nvSpPr>
          <p:cNvPr id="95" name="Rectangle 94"/>
          <p:cNvSpPr/>
          <p:nvPr/>
        </p:nvSpPr>
        <p:spPr>
          <a:xfrm>
            <a:off x="777240" y="4893698"/>
            <a:ext cx="2764962"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05256" y="4893698"/>
            <a:ext cx="2508930" cy="263513"/>
          </a:xfrm>
          <a:prstGeom prst="rect">
            <a:avLst/>
          </a:prstGeom>
          <a:noFill/>
        </p:spPr>
        <p:txBody>
          <a:bodyPr wrap="square" anchor="ctr">
            <a:spAutoFit/>
          </a:bodyPr>
          <a:lstStyle/>
          <a:p>
            <a:pPr algn="l">
              <a:spcAft>
                <a:spcPts val="400"/>
              </a:spcAft>
            </a:pPr>
            <a:r>
              <a:rPr sz="1150" b="1">
                <a:solidFill>
                  <a:srgbClr val="161B26"/>
                </a:solidFill>
                <a:latin typeface="Arial"/>
              </a:rPr>
              <a:t>Digital channel adoption</a:t>
            </a:r>
          </a:p>
        </p:txBody>
      </p:sp>
      <p:sp>
        <p:nvSpPr>
          <p:cNvPr id="97" name="Rectangle 96"/>
          <p:cNvSpPr/>
          <p:nvPr/>
        </p:nvSpPr>
        <p:spPr>
          <a:xfrm>
            <a:off x="3542202" y="4893698"/>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670218" y="4893698"/>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21%</a:t>
            </a:r>
          </a:p>
        </p:txBody>
      </p:sp>
      <p:sp>
        <p:nvSpPr>
          <p:cNvPr id="99" name="Rectangle 98"/>
          <p:cNvSpPr/>
          <p:nvPr/>
        </p:nvSpPr>
        <p:spPr>
          <a:xfrm>
            <a:off x="6165372" y="4893698"/>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293388" y="4893698"/>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20%</a:t>
            </a:r>
          </a:p>
        </p:txBody>
      </p:sp>
      <p:sp>
        <p:nvSpPr>
          <p:cNvPr id="101" name="Rectangle 100"/>
          <p:cNvSpPr/>
          <p:nvPr/>
        </p:nvSpPr>
        <p:spPr>
          <a:xfrm>
            <a:off x="8788542" y="4893698"/>
            <a:ext cx="2623170" cy="26351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916558" y="4893698"/>
            <a:ext cx="2367138" cy="263513"/>
          </a:xfrm>
          <a:prstGeom prst="rect">
            <a:avLst/>
          </a:prstGeom>
          <a:noFill/>
        </p:spPr>
        <p:txBody>
          <a:bodyPr wrap="square" anchor="ctr">
            <a:spAutoFit/>
          </a:bodyPr>
          <a:lstStyle/>
          <a:p>
            <a:pPr algn="l">
              <a:spcAft>
                <a:spcPts val="400"/>
              </a:spcAft>
            </a:pPr>
            <a:r>
              <a:rPr sz="1150" b="0">
                <a:solidFill>
                  <a:srgbClr val="5B6372"/>
                </a:solidFill>
                <a:latin typeface="Arial"/>
              </a:rPr>
              <a:t>flat</a:t>
            </a:r>
          </a:p>
        </p:txBody>
      </p:sp>
      <p:sp>
        <p:nvSpPr>
          <p:cNvPr id="103" name="Rectangle 102"/>
          <p:cNvSpPr/>
          <p:nvPr/>
        </p:nvSpPr>
        <p:spPr>
          <a:xfrm>
            <a:off x="777240" y="5358379"/>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777240" y="5358379"/>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51560" y="5468107"/>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Horizon Bank — system variables and observed 4-month movements</a:t>
            </a:r>
          </a:p>
        </p:txBody>
      </p:sp>
      <p:sp>
        <p:nvSpPr>
          <p:cNvPr id="106" name="TextBox 10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07" name="TextBox 10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8" name="TextBox 10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BREAKOUT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5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F6FEB"/>
                </a:solidFill>
                <a:latin typeface="Arial"/>
              </a:rPr>
              <a:t>DISCUSSION QUESTIONS</a:t>
            </a:r>
          </a:p>
        </p:txBody>
      </p:sp>
      <p:sp>
        <p:nvSpPr>
          <p:cNvPr id="10" name="Rectangle 9"/>
          <p:cNvSpPr/>
          <p:nvPr/>
        </p:nvSpPr>
        <p:spPr>
          <a:xfrm>
            <a:off x="777240" y="2231136"/>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237561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75611"/>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Q1</a:t>
            </a:r>
          </a:p>
        </p:txBody>
      </p:sp>
      <p:sp>
        <p:nvSpPr>
          <p:cNvPr id="14" name="TextBox 13"/>
          <p:cNvSpPr txBox="1"/>
          <p:nvPr/>
        </p:nvSpPr>
        <p:spPr>
          <a:xfrm>
            <a:off x="1609344" y="2231136"/>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Map at least two reinforcing (R) and two balancing (B) loops. Which loop did the Regional Director believe he was pulling, and which loop did he actually trigger?</a:t>
            </a:r>
          </a:p>
        </p:txBody>
      </p:sp>
      <p:sp>
        <p:nvSpPr>
          <p:cNvPr id="15" name="Rectangle 14"/>
          <p:cNvSpPr/>
          <p:nvPr/>
        </p:nvSpPr>
        <p:spPr>
          <a:xfrm>
            <a:off x="777240" y="3059582"/>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59582"/>
            <a:ext cx="82296" cy="7095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32040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204057"/>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Q2</a:t>
            </a:r>
          </a:p>
        </p:txBody>
      </p:sp>
      <p:sp>
        <p:nvSpPr>
          <p:cNvPr id="19" name="TextBox 18"/>
          <p:cNvSpPr txBox="1"/>
          <p:nvPr/>
        </p:nvSpPr>
        <p:spPr>
          <a:xfrm>
            <a:off x="1609344" y="3059582"/>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Month 1 showed real improvement. Explain the DELAY: why did the harmful loop take three months to overwhelm the helpful one, and what does that mean for how we evaluate quick wins?</a:t>
            </a:r>
          </a:p>
        </p:txBody>
      </p:sp>
      <p:sp>
        <p:nvSpPr>
          <p:cNvPr id="20" name="Rectangle 19"/>
          <p:cNvSpPr/>
          <p:nvPr/>
        </p:nvSpPr>
        <p:spPr>
          <a:xfrm>
            <a:off x="777240" y="3888028"/>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88028"/>
            <a:ext cx="82296" cy="7095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 y="4032503"/>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032503"/>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Q3</a:t>
            </a:r>
          </a:p>
        </p:txBody>
      </p:sp>
      <p:sp>
        <p:nvSpPr>
          <p:cNvPr id="24" name="TextBox 23"/>
          <p:cNvSpPr txBox="1"/>
          <p:nvPr/>
        </p:nvSpPr>
        <p:spPr>
          <a:xfrm>
            <a:off x="1609344" y="3888028"/>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Follow the back-office redeployment all the way round. Trace how a decision about counters ended up increasing teller resignations.</a:t>
            </a:r>
          </a:p>
        </p:txBody>
      </p:sp>
      <p:sp>
        <p:nvSpPr>
          <p:cNvPr id="25" name="Rectangle 24"/>
          <p:cNvSpPr/>
          <p:nvPr/>
        </p:nvSpPr>
        <p:spPr>
          <a:xfrm>
            <a:off x="777240" y="4716474"/>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716474"/>
            <a:ext cx="82296" cy="70957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860949"/>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860949"/>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Q4</a:t>
            </a:r>
          </a:p>
        </p:txBody>
      </p:sp>
      <p:sp>
        <p:nvSpPr>
          <p:cNvPr id="29" name="TextBox 28"/>
          <p:cNvSpPr txBox="1"/>
          <p:nvPr/>
        </p:nvSpPr>
        <p:spPr>
          <a:xfrm>
            <a:off x="1609344" y="4716474"/>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Digital adoption stayed flat at 20% throughout. Which loop is NOT running that should be, and why is a dormant balancing loop as dangerous as an active reinforcing one?</a:t>
            </a:r>
          </a:p>
        </p:txBody>
      </p:sp>
      <p:sp>
        <p:nvSpPr>
          <p:cNvPr id="30" name="Rectangle 29"/>
          <p:cNvSpPr/>
          <p:nvPr/>
        </p:nvSpPr>
        <p:spPr>
          <a:xfrm>
            <a:off x="777240" y="5544920"/>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544920"/>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5840" y="5689395"/>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689395"/>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Q5</a:t>
            </a:r>
          </a:p>
        </p:txBody>
      </p:sp>
      <p:sp>
        <p:nvSpPr>
          <p:cNvPr id="34" name="TextBox 33"/>
          <p:cNvSpPr txBox="1"/>
          <p:nvPr/>
        </p:nvSpPr>
        <p:spPr>
          <a:xfrm>
            <a:off x="1609344" y="5544920"/>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Name two leverage points. What makes a leverage point different from simply doing more of the same thing harder?</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WHAT WE LEARNED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5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0B981"/>
                </a:solidFill>
                <a:latin typeface="Arial"/>
              </a:rPr>
              <a:t>TRAINER DEBRIEF</a:t>
            </a:r>
          </a:p>
        </p:txBody>
      </p:sp>
      <p:sp>
        <p:nvSpPr>
          <p:cNvPr id="10" name="Rectangle 9"/>
          <p:cNvSpPr/>
          <p:nvPr/>
        </p:nvSpPr>
        <p:spPr>
          <a:xfrm>
            <a:off x="777240" y="2231136"/>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31720"/>
            <a:ext cx="10058400" cy="292608"/>
          </a:xfrm>
          <a:prstGeom prst="rect">
            <a:avLst/>
          </a:prstGeom>
          <a:noFill/>
        </p:spPr>
        <p:txBody>
          <a:bodyPr wrap="square" anchor="t">
            <a:spAutoFit/>
          </a:bodyPr>
          <a:lstStyle/>
          <a:p>
            <a:pPr algn="l">
              <a:spcAft>
                <a:spcPts val="400"/>
              </a:spcAft>
            </a:pPr>
            <a:r>
              <a:rPr sz="1050" b="1">
                <a:solidFill>
                  <a:srgbClr val="1F6FEB"/>
                </a:solidFill>
                <a:latin typeface="Arial"/>
              </a:rPr>
              <a:t>WHAT ACTUALLY HAPPENED</a:t>
            </a:r>
          </a:p>
        </p:txBody>
      </p:sp>
      <p:sp>
        <p:nvSpPr>
          <p:cNvPr id="13" name="TextBox 12"/>
          <p:cNvSpPr txBox="1"/>
          <p:nvPr/>
        </p:nvSpPr>
        <p:spPr>
          <a:xfrm>
            <a:off x="1097280" y="2642616"/>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He pulled B1 and unknowingly powered R1 and R2. R-loops compound, so they eventually overwhelm a one-off capacity increase.</a:t>
            </a:r>
          </a:p>
        </p:txBody>
      </p:sp>
      <p:sp>
        <p:nvSpPr>
          <p:cNvPr id="14" name="Rectangle 13"/>
          <p:cNvSpPr/>
          <p:nvPr/>
        </p:nvSpPr>
        <p:spPr>
          <a:xfrm>
            <a:off x="777240" y="3268980"/>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8980"/>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69564"/>
            <a:ext cx="10058400" cy="292608"/>
          </a:xfrm>
          <a:prstGeom prst="rect">
            <a:avLst/>
          </a:prstGeom>
          <a:noFill/>
        </p:spPr>
        <p:txBody>
          <a:bodyPr wrap="square" anchor="t">
            <a:spAutoFit/>
          </a:bodyPr>
          <a:lstStyle/>
          <a:p>
            <a:pPr algn="l">
              <a:spcAft>
                <a:spcPts val="400"/>
              </a:spcAft>
            </a:pPr>
            <a:r>
              <a:rPr sz="1050" b="1">
                <a:solidFill>
                  <a:srgbClr val="10B981"/>
                </a:solidFill>
                <a:latin typeface="Arial"/>
              </a:rPr>
              <a:t>THE DELAY IS THE TRAP</a:t>
            </a:r>
          </a:p>
        </p:txBody>
      </p:sp>
      <p:sp>
        <p:nvSpPr>
          <p:cNvPr id="17" name="TextBox 16"/>
          <p:cNvSpPr txBox="1"/>
          <p:nvPr/>
        </p:nvSpPr>
        <p:spPr>
          <a:xfrm>
            <a:off x="1097280" y="3680460"/>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B1 acts in days; R1 and R2 act over months. That is why month 1 lied.</a:t>
            </a:r>
          </a:p>
        </p:txBody>
      </p:sp>
      <p:sp>
        <p:nvSpPr>
          <p:cNvPr id="18" name="Rectangle 17"/>
          <p:cNvSpPr/>
          <p:nvPr/>
        </p:nvSpPr>
        <p:spPr>
          <a:xfrm>
            <a:off x="777240" y="4306824"/>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06824"/>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10058400" cy="292608"/>
          </a:xfrm>
          <a:prstGeom prst="rect">
            <a:avLst/>
          </a:prstGeom>
          <a:noFill/>
        </p:spPr>
        <p:txBody>
          <a:bodyPr wrap="square" anchor="t">
            <a:spAutoFit/>
          </a:bodyPr>
          <a:lstStyle/>
          <a:p>
            <a:pPr algn="l">
              <a:spcAft>
                <a:spcPts val="400"/>
              </a:spcAft>
            </a:pPr>
            <a:r>
              <a:rPr sz="1050" b="1">
                <a:solidFill>
                  <a:srgbClr val="7C3AED"/>
                </a:solidFill>
                <a:latin typeface="Arial"/>
              </a:rPr>
              <a:t>THE DORMANT LOOP</a:t>
            </a:r>
          </a:p>
        </p:txBody>
      </p:sp>
      <p:sp>
        <p:nvSpPr>
          <p:cNvPr id="21" name="TextBox 20"/>
          <p:cNvSpPr txBox="1"/>
          <p:nvPr/>
        </p:nvSpPr>
        <p:spPr>
          <a:xfrm>
            <a:off x="1097280" y="4718304"/>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B2 (digital migration) was available all along and nobody activated it. Ask 'which balancing loop is NOT running?'</a:t>
            </a:r>
          </a:p>
        </p:txBody>
      </p:sp>
      <p:sp>
        <p:nvSpPr>
          <p:cNvPr id="22" name="Rectangle 21"/>
          <p:cNvSpPr/>
          <p:nvPr/>
        </p:nvSpPr>
        <p:spPr>
          <a:xfrm>
            <a:off x="777240" y="5344668"/>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44668"/>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445252"/>
            <a:ext cx="10058400" cy="292608"/>
          </a:xfrm>
          <a:prstGeom prst="rect">
            <a:avLst/>
          </a:prstGeom>
          <a:noFill/>
        </p:spPr>
        <p:txBody>
          <a:bodyPr wrap="square" anchor="t">
            <a:spAutoFit/>
          </a:bodyPr>
          <a:lstStyle/>
          <a:p>
            <a:pPr algn="l">
              <a:spcAft>
                <a:spcPts val="400"/>
              </a:spcAft>
            </a:pPr>
            <a:r>
              <a:rPr sz="1050" b="1">
                <a:solidFill>
                  <a:srgbClr val="F59E0B"/>
                </a:solidFill>
                <a:latin typeface="Arial"/>
              </a:rPr>
              <a:t>TOPIC 1 COMPLETE</a:t>
            </a:r>
          </a:p>
        </p:txBody>
      </p:sp>
      <p:sp>
        <p:nvSpPr>
          <p:cNvPr id="25" name="TextBox 24"/>
          <p:cNvSpPr txBox="1"/>
          <p:nvPr/>
        </p:nvSpPr>
        <p:spPr>
          <a:xfrm>
            <a:off x="1097280" y="5756148"/>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5 Whys gave depth, Fishbone breadth, Pareto priority, Loops dynamics. You now have the full diagnostic set before touching solutions.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transition spd="med"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10B981"/>
                </a:solidFill>
                <a:latin typeface="Arial"/>
              </a:rPr>
              <a:t>See you at 9.30am tomorrow</a:t>
            </a:r>
          </a:p>
        </p:txBody>
      </p:sp>
    </p:spTree>
  </p:cSld>
  <p:clrMapOvr>
    <a:masterClrMapping/>
  </p:clrMapOvr>
  <p:transition spd="med"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RECAP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Day 1 in one line.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cannot solve what you have not defined, and you cannot fix what you have not diagnosed.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Developing Corrective Plans and Evaluating Potential Solutions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Divergent ideation · SCAMPER · Impact–Ease matrix · Decision matrix · Corrective action plans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CENTRAL DISCIPLINE OF TOPIC 2</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Generate and judge at the same time, and you will kill your best ideas.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Divergence and convergence are different cognitive modes. Run them in sequence, never in parallel.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SOLUTION FUNNEL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Divergence Then Convergence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Diverge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Generate widely</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Cluster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Group by theme</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Screen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Impact vs Ease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Score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Weighted matrix</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Commit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Portfolio of four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THE ORDER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Teams that evaluate while generating stop at 6-8 conventional ideas. The uncomfortable ideas are where fixedness breaks.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med"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  ·  DIVERGENT TOOLKIT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Techniques for Generating Solutions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Brainstorming</a:t>
            </a:r>
          </a:p>
          <a:p>
            <a:pPr algn="l">
              <a:spcAft>
                <a:spcPts val="300"/>
              </a:spcAft>
            </a:pPr>
            <a:r>
              <a:rPr sz="1050" b="0">
                <a:solidFill>
                  <a:srgbClr val="5B6372"/>
                </a:solidFill>
                <a:latin typeface="Arial"/>
              </a:rPr>
              <a:t>All ideas welcome, judgement suspended. Quantity first, quality later.</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SCAMPER</a:t>
            </a:r>
          </a:p>
          <a:p>
            <a:pPr algn="l">
              <a:spcAft>
                <a:spcPts val="300"/>
              </a:spcAft>
            </a:pPr>
            <a:r>
              <a:rPr sz="1050" b="0">
                <a:solidFill>
                  <a:srgbClr val="5B6372"/>
                </a:solidFill>
                <a:latin typeface="Arial"/>
              </a:rPr>
              <a:t>Substitute · Combine · Adapt · Modify · Put to another use · Eliminate · Reverse.</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Generic Parts Technique</a:t>
            </a:r>
          </a:p>
          <a:p>
            <a:pPr algn="l">
              <a:spcAft>
                <a:spcPts val="300"/>
              </a:spcAft>
            </a:pPr>
            <a:r>
              <a:rPr sz="1050" b="0">
                <a:solidFill>
                  <a:srgbClr val="5B6372"/>
                </a:solidFill>
                <a:latin typeface="Arial"/>
              </a:rPr>
              <a:t>Strip a problem to abstract functions — solutions appear in unexpected places.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Analogy / cross-industry</a:t>
            </a:r>
          </a:p>
          <a:p>
            <a:pPr algn="l">
              <a:spcAft>
                <a:spcPts val="300"/>
              </a:spcAft>
            </a:pPr>
            <a:r>
              <a:rPr sz="1050" b="0">
                <a:solidFill>
                  <a:srgbClr val="5B6372"/>
                </a:solidFill>
                <a:latin typeface="Arial"/>
              </a:rPr>
              <a:t>Borrow a working pattern from a completely different sector.</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Reverse brainstorming</a:t>
            </a:r>
          </a:p>
          <a:p>
            <a:pPr algn="l">
              <a:spcAft>
                <a:spcPts val="300"/>
              </a:spcAft>
            </a:pPr>
            <a:r>
              <a:rPr sz="1050" b="0">
                <a:solidFill>
                  <a:srgbClr val="5B6372"/>
                </a:solidFill>
                <a:latin typeface="Arial"/>
              </a:rPr>
              <a:t>Ask how to make it WORSE, then invert every answer.</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Nominal group technique</a:t>
            </a:r>
          </a:p>
          <a:p>
            <a:pPr algn="l">
              <a:spcAft>
                <a:spcPts val="300"/>
              </a:spcAft>
            </a:pPr>
            <a:r>
              <a:rPr sz="1050" b="0">
                <a:solidFill>
                  <a:srgbClr val="5B6372"/>
                </a:solidFill>
                <a:latin typeface="Arial"/>
              </a:rPr>
              <a:t>Silent individual generation first, then group discussion — beats groupthink.</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Six Thinking Hats</a:t>
            </a:r>
          </a:p>
          <a:p>
            <a:pPr algn="l">
              <a:spcAft>
                <a:spcPts val="300"/>
              </a:spcAft>
            </a:pPr>
            <a:r>
              <a:rPr sz="1050" b="0">
                <a:solidFill>
                  <a:srgbClr val="5B6372"/>
                </a:solidFill>
                <a:latin typeface="Arial"/>
              </a:rPr>
              <a:t>Examine the problem from facts, feelings, risks, benefits, creativity and process.</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Mind mapping</a:t>
            </a:r>
          </a:p>
          <a:p>
            <a:pPr algn="l">
              <a:spcAft>
                <a:spcPts val="300"/>
              </a:spcAft>
            </a:pPr>
            <a:r>
              <a:rPr sz="1050" b="0">
                <a:solidFill>
                  <a:srgbClr val="5B6372"/>
                </a:solidFill>
                <a:latin typeface="Arial"/>
              </a:rPr>
              <a:t>Radiate ideas from the central problem to surface relationships.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BREAKING COGNITIVE FIXEDNESS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SCAMPER — Seven Moves on a Fixed Assumption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Substitute</a:t>
            </a:r>
          </a:p>
          <a:p>
            <a:pPr algn="l">
              <a:spcAft>
                <a:spcPts val="300"/>
              </a:spcAft>
            </a:pPr>
            <a:r>
              <a:rPr sz="1100" b="0">
                <a:solidFill>
                  <a:srgbClr val="5B6372"/>
                </a:solidFill>
                <a:latin typeface="Arial"/>
              </a:rPr>
              <a:t>What can be swapped out? Different person, material, place or rule.</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Combine</a:t>
            </a:r>
          </a:p>
          <a:p>
            <a:pPr algn="l">
              <a:spcAft>
                <a:spcPts val="300"/>
              </a:spcAft>
            </a:pPr>
            <a:r>
              <a:rPr sz="1100" b="0">
                <a:solidFill>
                  <a:srgbClr val="5B6372"/>
                </a:solidFill>
                <a:latin typeface="Arial"/>
              </a:rPr>
              <a:t>What can be merged? Two steps, two roles, two services.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Adapt</a:t>
            </a:r>
          </a:p>
          <a:p>
            <a:pPr algn="l">
              <a:spcAft>
                <a:spcPts val="300"/>
              </a:spcAft>
            </a:pPr>
            <a:r>
              <a:rPr sz="1100" b="0">
                <a:solidFill>
                  <a:srgbClr val="5B6372"/>
                </a:solidFill>
                <a:latin typeface="Arial"/>
              </a:rPr>
              <a:t>What works elsewhere that we can borrow?</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Modify</a:t>
            </a:r>
          </a:p>
          <a:p>
            <a:pPr algn="l">
              <a:spcAft>
                <a:spcPts val="300"/>
              </a:spcAft>
            </a:pPr>
            <a:r>
              <a:rPr sz="1100" b="0">
                <a:solidFill>
                  <a:srgbClr val="5B6372"/>
                </a:solidFill>
                <a:latin typeface="Arial"/>
              </a:rPr>
              <a:t>What if we magnify, shrink, or change the shape of it?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Put to another use</a:t>
            </a:r>
          </a:p>
          <a:p>
            <a:pPr algn="l">
              <a:spcAft>
                <a:spcPts val="300"/>
              </a:spcAft>
            </a:pPr>
            <a:r>
              <a:rPr sz="1100" b="0">
                <a:solidFill>
                  <a:srgbClr val="5B6372"/>
                </a:solidFill>
                <a:latin typeface="Arial"/>
              </a:rPr>
              <a:t>What else could this resource or step do?</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Eliminate</a:t>
            </a:r>
          </a:p>
          <a:p>
            <a:pPr algn="l">
              <a:spcAft>
                <a:spcPts val="300"/>
              </a:spcAft>
            </a:pPr>
            <a:r>
              <a:rPr sz="1100" b="0">
                <a:solidFill>
                  <a:srgbClr val="5B6372"/>
                </a:solidFill>
                <a:latin typeface="Arial"/>
              </a:rPr>
              <a:t>What if we simply removed it? Often the biggest unlock.</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Reverse</a:t>
            </a:r>
          </a:p>
          <a:p>
            <a:pPr algn="l">
              <a:spcAft>
                <a:spcPts val="300"/>
              </a:spcAft>
            </a:pPr>
            <a:r>
              <a:rPr sz="1100" b="0">
                <a:solidFill>
                  <a:srgbClr val="5B6372"/>
                </a:solidFill>
                <a:latin typeface="Arial"/>
              </a:rPr>
              <a:t>What if we ran it backwards, or swapped who does what?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SCAMPER IN ACTION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07:00 window is fixed only because draws happen at the centre.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Reverse and Eliminate dissolve the constraint instead of working inside it. Most 'fixed' constraints are habits.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DISTINCTION THAT UNLOCKS OPTIONS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Regulation vs Habit — Telling Hard Constraints Apart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Hard constraint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Habit</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Meridian example</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MOH phlebotomy competency standard</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07:00-09:30 draws at the centre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Source</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Law, regulation, contract, physics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Precedent, convenience, 'we've always'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Test</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Who enforces it, and what is the penalty?</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Who would actually object, and why?</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If you break it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Legal or clinical consequence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Someone has to change a routine</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What to do</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Design within it</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Challenge it explicitly</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Teams routinely treat habits as regulations. Ask 'who enforces this?' every single time.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2  ·  PROMPT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Divergent Ideation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1638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2889504"/>
          </a:xfrm>
          <a:prstGeom prst="rect">
            <a:avLst/>
          </a:prstGeom>
          <a:noFill/>
        </p:spPr>
        <p:txBody>
          <a:bodyPr wrap="square">
            <a:spAutoFit/>
          </a:bodyPr>
          <a:lstStyle/>
          <a:p>
            <a:pPr>
              <a:spcAft>
                <a:spcPts val="150"/>
              </a:spcAft>
            </a:pPr>
            <a:r>
              <a:rPr sz="650" b="0">
                <a:solidFill>
                  <a:srgbClr val="D4D4D4"/>
                </a:solidFill>
                <a:latin typeface="Consolas"/>
              </a:rPr>
              <a:t>Act as an innovation consultant running a divergent ideation session.</a:t>
            </a:r>
          </a:p>
          <a:p>
            <a:pPr>
              <a:spcAft>
                <a:spcPts val="150"/>
              </a:spcAft>
            </a:pPr>
            <a:r>
              <a:rPr sz="650" b="0">
                <a:solidFill>
                  <a:srgbClr val="D4D4D4"/>
                </a:solidFill>
                <a:latin typeface="Consolas"/>
              </a:rPr>
              <a:t>Do NOT evaluate or filter yet.</a:t>
            </a:r>
          </a:p>
          <a:p>
            <a:pPr>
              <a:spcAft>
                <a:spcPts val="150"/>
              </a:spcAft>
            </a:pPr>
            <a:r>
              <a:rPr sz="650" b="0">
                <a:solidFill>
                  <a:srgbClr val="D4D4D4"/>
                </a:solidFill>
                <a:latin typeface="Consolas"/>
              </a:rPr>
              <a:t> </a:t>
            </a:r>
          </a:p>
          <a:p>
            <a:pPr>
              <a:spcAft>
                <a:spcPts val="150"/>
              </a:spcAft>
            </a:pPr>
            <a:r>
              <a:rPr sz="650" b="1">
                <a:solidFill>
                  <a:srgbClr val="4EC9B0"/>
                </a:solidFill>
                <a:latin typeface="Consolas"/>
              </a:rPr>
              <a:t>Root cause to solve:</a:t>
            </a:r>
          </a:p>
          <a:p>
            <a:pPr>
              <a:spcAft>
                <a:spcPts val="150"/>
              </a:spcAft>
            </a:pPr>
            <a:r>
              <a:rPr sz="650" b="1">
                <a:solidFill>
                  <a:srgbClr val="F59E0B"/>
                </a:solidFill>
                <a:latin typeface="Consolas"/>
              </a:rPr>
              <a:t>&lt;&lt;State your diagnosed root cause&gt;&gt;</a:t>
            </a:r>
          </a:p>
          <a:p>
            <a:pPr>
              <a:spcAft>
                <a:spcPts val="150"/>
              </a:spcAft>
            </a:pPr>
            <a:r>
              <a:rPr sz="650" b="0">
                <a:solidFill>
                  <a:srgbClr val="D4D4D4"/>
                </a:solidFill>
                <a:latin typeface="Consolas"/>
              </a:rPr>
              <a:t> </a:t>
            </a:r>
          </a:p>
          <a:p>
            <a:pPr>
              <a:spcAft>
                <a:spcPts val="150"/>
              </a:spcAft>
            </a:pPr>
            <a:r>
              <a:rPr sz="650" b="1">
                <a:solidFill>
                  <a:srgbClr val="4EC9B0"/>
                </a:solidFill>
                <a:latin typeface="Consolas"/>
              </a:rPr>
              <a:t>Constraints:</a:t>
            </a:r>
          </a:p>
          <a:p>
            <a:pPr>
              <a:spcAft>
                <a:spcPts val="150"/>
              </a:spcAft>
            </a:pPr>
            <a:r>
              <a:rPr sz="650" b="1">
                <a:solidFill>
                  <a:srgbClr val="F59E0B"/>
                </a:solidFill>
                <a:latin typeface="Consolas"/>
              </a:rPr>
              <a:t>&lt;&lt;Budget, regulatory, contractual&gt;&gt;</a:t>
            </a:r>
          </a:p>
          <a:p>
            <a:pPr>
              <a:spcAft>
                <a:spcPts val="150"/>
              </a:spcAft>
            </a:pPr>
            <a:r>
              <a:rPr sz="650" b="0">
                <a:solidFill>
                  <a:srgbClr val="D4D4D4"/>
                </a:solidFill>
                <a:latin typeface="Consolas"/>
              </a:rPr>
              <a:t> </a:t>
            </a:r>
          </a:p>
          <a:p>
            <a:pPr>
              <a:spcAft>
                <a:spcPts val="150"/>
              </a:spcAft>
            </a:pPr>
            <a:r>
              <a:rPr sz="650" b="1">
                <a:solidFill>
                  <a:srgbClr val="4EC9B0"/>
                </a:solidFill>
                <a:latin typeface="Consolas"/>
              </a:rPr>
              <a:t>Generate 20 distinct solutions grouped under:</a:t>
            </a:r>
          </a:p>
          <a:p>
            <a:pPr>
              <a:spcAft>
                <a:spcPts val="150"/>
              </a:spcAft>
            </a:pPr>
            <a:r>
              <a:rPr sz="650" b="0">
                <a:solidFill>
                  <a:srgbClr val="9CDCFE"/>
                </a:solidFill>
                <a:latin typeface="Consolas"/>
              </a:rPr>
              <a:t>- People &amp; Retention      - Training &amp; Onboarding</a:t>
            </a:r>
          </a:p>
          <a:p>
            <a:pPr>
              <a:spcAft>
                <a:spcPts val="150"/>
              </a:spcAft>
            </a:pPr>
            <a:r>
              <a:rPr sz="650" b="0">
                <a:solidFill>
                  <a:srgbClr val="9CDCFE"/>
                </a:solidFill>
                <a:latin typeface="Consolas"/>
              </a:rPr>
              <a:t>- Process &amp; Scheduling    - Technology &amp; Automation</a:t>
            </a:r>
          </a:p>
          <a:p>
            <a:pPr>
              <a:spcAft>
                <a:spcPts val="150"/>
              </a:spcAft>
            </a:pPr>
            <a:r>
              <a:rPr sz="650" b="0">
                <a:solidFill>
                  <a:srgbClr val="9CDCFE"/>
                </a:solidFill>
                <a:latin typeface="Consolas"/>
              </a:rPr>
              <a:t>- Customer/Client Experience</a:t>
            </a:r>
          </a:p>
          <a:p>
            <a:pPr>
              <a:spcAft>
                <a:spcPts val="150"/>
              </a:spcAft>
            </a:pPr>
            <a:r>
              <a:rPr sz="650" b="0">
                <a:solidFill>
                  <a:srgbClr val="D4D4D4"/>
                </a:solidFill>
                <a:latin typeface="Consolas"/>
              </a:rPr>
              <a:t> </a:t>
            </a:r>
          </a:p>
          <a:p>
            <a:pPr>
              <a:spcAft>
                <a:spcPts val="150"/>
              </a:spcAft>
            </a:pPr>
            <a:r>
              <a:rPr sz="650" b="1">
                <a:solidFill>
                  <a:srgbClr val="4EC9B0"/>
                </a:solidFill>
                <a:latin typeface="Consolas"/>
              </a:rPr>
              <a:t>Rules:</a:t>
            </a:r>
          </a:p>
          <a:p>
            <a:pPr>
              <a:spcAft>
                <a:spcPts val="150"/>
              </a:spcAft>
            </a:pPr>
            <a:r>
              <a:rPr sz="650" b="0">
                <a:solidFill>
                  <a:srgbClr val="9CDCFE"/>
                </a:solidFill>
                <a:latin typeface="Consolas"/>
              </a:rPr>
              <a:t>- Include at least 4 ideas normally dismissed as unrealistic</a:t>
            </a:r>
          </a:p>
          <a:p>
            <a:pPr>
              <a:spcAft>
                <a:spcPts val="150"/>
              </a:spcAft>
            </a:pPr>
            <a:r>
              <a:rPr sz="650" b="0">
                <a:solidFill>
                  <a:srgbClr val="9CDCFE"/>
                </a:solidFill>
                <a:latin typeface="Consolas"/>
              </a:rPr>
              <a:t>- Include at least 2 borrowed from a DIFFERENT industry (say which)</a:t>
            </a:r>
          </a:p>
          <a:p>
            <a:pPr>
              <a:spcAft>
                <a:spcPts val="150"/>
              </a:spcAft>
            </a:pPr>
            <a:r>
              <a:rPr sz="650" b="0">
                <a:solidFill>
                  <a:srgbClr val="9CDCFE"/>
                </a:solidFill>
                <a:latin typeface="Consolas"/>
              </a:rPr>
              <a:t>- One line each, phrased as an action</a:t>
            </a:r>
          </a:p>
          <a:p>
            <a:pPr>
              <a:spcAft>
                <a:spcPts val="150"/>
              </a:spcAft>
            </a:pPr>
            <a:r>
              <a:rPr sz="650" b="0">
                <a:solidFill>
                  <a:srgbClr val="9CDCFE"/>
                </a:solidFill>
                <a:latin typeface="Consolas"/>
              </a:rPr>
              <a:t>- Do NOT rank, cost or evaluate</a:t>
            </a:r>
          </a:p>
          <a:p>
            <a:pPr>
              <a:spcAft>
                <a:spcPts val="150"/>
              </a:spcAft>
            </a:pPr>
            <a:r>
              <a:rPr sz="650" b="0">
                <a:solidFill>
                  <a:srgbClr val="D4D4D4"/>
                </a:solidFill>
                <a:latin typeface="Consolas"/>
              </a:rPr>
              <a:t> </a:t>
            </a:r>
          </a:p>
          <a:p>
            <a:pPr>
              <a:spcAft>
                <a:spcPts val="150"/>
              </a:spcAft>
            </a:pPr>
            <a:r>
              <a:rPr sz="650" b="1">
                <a:solidFill>
                  <a:srgbClr val="4EC9B0"/>
                </a:solidFill>
                <a:latin typeface="Consolas"/>
              </a:rPr>
              <a:t>Then apply SCAMPER to this assumption:</a:t>
            </a:r>
          </a:p>
          <a:p>
            <a:pPr>
              <a:spcAft>
                <a:spcPts val="150"/>
              </a:spcAft>
            </a:pPr>
            <a:r>
              <a:rPr sz="650" b="1">
                <a:solidFill>
                  <a:srgbClr val="F59E0B"/>
                </a:solidFill>
                <a:latin typeface="Consolas"/>
              </a:rPr>
              <a:t>&lt;&lt;State the assumption everyone treats as fixed&gt;&gt;</a:t>
            </a:r>
          </a:p>
          <a:p>
            <a:pPr>
              <a:spcAft>
                <a:spcPts val="150"/>
              </a:spcAft>
            </a:pPr>
            <a:r>
              <a:rPr sz="650" b="0">
                <a:solidFill>
                  <a:srgbClr val="D4D4D4"/>
                </a:solidFill>
                <a:latin typeface="Consolas"/>
              </a:rPr>
              <a:t>Give one idea per SCAMPER letter.</a:t>
            </a:r>
          </a:p>
        </p:txBody>
      </p:sp>
      <p:sp>
        <p:nvSpPr>
          <p:cNvPr id="12" name="Rectangle 11"/>
          <p:cNvSpPr/>
          <p:nvPr/>
        </p:nvSpPr>
        <p:spPr>
          <a:xfrm>
            <a:off x="777240" y="5541264"/>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541264"/>
            <a:ext cx="8229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541264"/>
            <a:ext cx="10149840" cy="713232"/>
          </a:xfrm>
          <a:prstGeom prst="rect">
            <a:avLst/>
          </a:prstGeom>
          <a:noFill/>
        </p:spPr>
        <p:txBody>
          <a:bodyPr wrap="square" anchor="ctr">
            <a:spAutoFit/>
          </a:bodyPr>
          <a:lstStyle/>
          <a:p>
            <a:pPr algn="l">
              <a:spcAft>
                <a:spcPts val="400"/>
              </a:spcAft>
            </a:pPr>
            <a:r>
              <a:rPr sz="1050" b="1">
                <a:solidFill>
                  <a:srgbClr val="F59E0B"/>
                </a:solidFill>
                <a:latin typeface="Arial"/>
              </a:rPr>
              <a:t>WATCH FOR  </a:t>
            </a:r>
            <a:r>
              <a:rPr sz="1150" b="0">
                <a:solidFill>
                  <a:srgbClr val="161B26"/>
                </a:solidFill>
                <a:latin typeface="Arial"/>
              </a:rPr>
              <a:t>'Do not evaluate yet' is the most important line. Without it the AI self-censors to safe ideas.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Activity 6 — Divergent Ideation with GenAI (Breadth Before Judgement)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46304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463040" cy="402336"/>
          </a:xfrm>
          <a:prstGeom prst="rect">
            <a:avLst/>
          </a:prstGeom>
          <a:noFill/>
        </p:spPr>
        <p:txBody>
          <a:bodyPr wrap="square" anchor="ctr">
            <a:spAutoFit/>
          </a:bodyPr>
          <a:lstStyle/>
          <a:p>
            <a:pPr algn="ctr">
              <a:spcAft>
                <a:spcPts val="400"/>
              </a:spcAft>
            </a:pPr>
            <a:r>
              <a:rPr sz="1400" b="1">
                <a:solidFill>
                  <a:srgbClr val="FFFFFF"/>
                </a:solidFill>
                <a:latin typeface="Arial"/>
              </a:rPr>
              <a:t>ACTIVITY 6</a:t>
            </a:r>
          </a:p>
        </p:txBody>
      </p:sp>
      <p:sp>
        <p:nvSpPr>
          <p:cNvPr id="9" name="TextBox 8"/>
          <p:cNvSpPr txBox="1"/>
          <p:nvPr/>
        </p:nvSpPr>
        <p:spPr>
          <a:xfrm>
            <a:off x="2395728" y="1719072"/>
            <a:ext cx="8961120" cy="402336"/>
          </a:xfrm>
          <a:prstGeom prst="rect">
            <a:avLst/>
          </a:prstGeom>
          <a:noFill/>
        </p:spPr>
        <p:txBody>
          <a:bodyPr wrap="square" anchor="ctr">
            <a:spAutoFit/>
          </a:bodyPr>
          <a:lstStyle/>
          <a:p>
            <a:pPr algn="l">
              <a:spcAft>
                <a:spcPts val="400"/>
              </a:spcAft>
            </a:pPr>
            <a:r>
              <a:rPr sz="1100" b="0">
                <a:solidFill>
                  <a:srgbClr val="5B6372"/>
                </a:solidFill>
                <a:latin typeface="Arial"/>
              </a:rPr>
              <a:t>A5 · K4 — Generate a wide solution set using appropriate problem-solving techniques.</a:t>
            </a:r>
          </a:p>
        </p:txBody>
      </p:sp>
      <p:sp>
        <p:nvSpPr>
          <p:cNvPr id="10" name="Rectangle 9"/>
          <p:cNvSpPr/>
          <p:nvPr/>
        </p:nvSpPr>
        <p:spPr>
          <a:xfrm>
            <a:off x="777240" y="228600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14016"/>
            <a:ext cx="10149840" cy="329184"/>
          </a:xfrm>
          <a:prstGeom prst="rect">
            <a:avLst/>
          </a:prstGeom>
          <a:noFill/>
        </p:spPr>
        <p:txBody>
          <a:bodyPr wrap="square" anchor="t">
            <a:spAutoFit/>
          </a:bodyPr>
          <a:lstStyle/>
          <a:p>
            <a:pPr algn="l">
              <a:spcAft>
                <a:spcPts val="400"/>
              </a:spcAft>
            </a:pPr>
            <a:r>
              <a:rPr sz="1550" b="1">
                <a:solidFill>
                  <a:srgbClr val="161B26"/>
                </a:solidFill>
                <a:latin typeface="Arial"/>
              </a:rPr>
              <a:t>Meridian Health — solving the retention root cause</a:t>
            </a:r>
          </a:p>
        </p:txBody>
      </p:sp>
      <p:sp>
        <p:nvSpPr>
          <p:cNvPr id="13" name="TextBox 12"/>
          <p:cNvSpPr txBox="1"/>
          <p:nvPr/>
        </p:nvSpPr>
        <p:spPr>
          <a:xfrm>
            <a:off x="1078992" y="2779776"/>
            <a:ext cx="10149840" cy="731520"/>
          </a:xfrm>
          <a:prstGeom prst="rect">
            <a:avLst/>
          </a:prstGeom>
          <a:noFill/>
        </p:spPr>
        <p:txBody>
          <a:bodyPr wrap="square" anchor="t">
            <a:spAutoFit/>
          </a:bodyPr>
          <a:lstStyle/>
          <a:p>
            <a:pPr algn="l">
              <a:spcAft>
                <a:spcPts val="400"/>
              </a:spcAft>
            </a:pPr>
            <a:r>
              <a:rPr sz="1250" b="0">
                <a:solidFill>
                  <a:srgbClr val="5B6372"/>
                </a:solidFill>
                <a:latin typeface="Arial"/>
              </a:rPr>
              <a:t>Generate 20+ solutions to the diagnosed root cause, then break a fixed assumption with SCAMPER.</a:t>
            </a:r>
          </a:p>
        </p:txBody>
      </p:sp>
      <p:sp>
        <p:nvSpPr>
          <p:cNvPr id="14" name="Rectangle 13"/>
          <p:cNvSpPr/>
          <p:nvPr/>
        </p:nvSpPr>
        <p:spPr>
          <a:xfrm>
            <a:off x="777240"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85615"/>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31920"/>
            <a:ext cx="2980944" cy="292608"/>
          </a:xfrm>
          <a:prstGeom prst="rect">
            <a:avLst/>
          </a:prstGeom>
          <a:noFill/>
        </p:spPr>
        <p:txBody>
          <a:bodyPr wrap="square" anchor="t">
            <a:spAutoFit/>
          </a:bodyPr>
          <a:lstStyle/>
          <a:p>
            <a:pPr algn="l">
              <a:spcAft>
                <a:spcPts val="400"/>
              </a:spcAft>
            </a:pPr>
            <a:r>
              <a:rPr sz="1100" b="1">
                <a:solidFill>
                  <a:srgbClr val="1F6FEB"/>
                </a:solidFill>
                <a:latin typeface="Arial"/>
              </a:rPr>
              <a:t>TEAM</a:t>
            </a:r>
          </a:p>
        </p:txBody>
      </p:sp>
      <p:sp>
        <p:nvSpPr>
          <p:cNvPr id="17" name="TextBox 16"/>
          <p:cNvSpPr txBox="1"/>
          <p:nvPr/>
        </p:nvSpPr>
        <p:spPr>
          <a:xfrm>
            <a:off x="996696"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Teams of 3-5</a:t>
            </a:r>
          </a:p>
        </p:txBody>
      </p:sp>
      <p:sp>
        <p:nvSpPr>
          <p:cNvPr id="18" name="Rectangle 17"/>
          <p:cNvSpPr/>
          <p:nvPr/>
        </p:nvSpPr>
        <p:spPr>
          <a:xfrm>
            <a:off x="4398264"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85615"/>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31920"/>
            <a:ext cx="2980944" cy="292608"/>
          </a:xfrm>
          <a:prstGeom prst="rect">
            <a:avLst/>
          </a:prstGeom>
          <a:noFill/>
        </p:spPr>
        <p:txBody>
          <a:bodyPr wrap="square" anchor="t">
            <a:spAutoFit/>
          </a:bodyPr>
          <a:lstStyle/>
          <a:p>
            <a:pPr algn="l">
              <a:spcAft>
                <a:spcPts val="400"/>
              </a:spcAft>
            </a:pPr>
            <a:r>
              <a:rPr sz="1100" b="1">
                <a:solidFill>
                  <a:srgbClr val="10B981"/>
                </a:solidFill>
                <a:latin typeface="Arial"/>
              </a:rPr>
              <a:t>TIME</a:t>
            </a:r>
          </a:p>
        </p:txBody>
      </p:sp>
      <p:sp>
        <p:nvSpPr>
          <p:cNvPr id="21" name="TextBox 20"/>
          <p:cNvSpPr txBox="1"/>
          <p:nvPr/>
        </p:nvSpPr>
        <p:spPr>
          <a:xfrm>
            <a:off x="4617720"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45 minutes</a:t>
            </a:r>
          </a:p>
        </p:txBody>
      </p:sp>
      <p:sp>
        <p:nvSpPr>
          <p:cNvPr id="22" name="Rectangle 21"/>
          <p:cNvSpPr/>
          <p:nvPr/>
        </p:nvSpPr>
        <p:spPr>
          <a:xfrm>
            <a:off x="8019288"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85615"/>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31920"/>
            <a:ext cx="2980944" cy="292608"/>
          </a:xfrm>
          <a:prstGeom prst="rect">
            <a:avLst/>
          </a:prstGeom>
          <a:noFill/>
        </p:spPr>
        <p:txBody>
          <a:bodyPr wrap="square" anchor="t">
            <a:spAutoFit/>
          </a:bodyPr>
          <a:lstStyle/>
          <a:p>
            <a:pPr algn="l">
              <a:spcAft>
                <a:spcPts val="400"/>
              </a:spcAft>
            </a:pPr>
            <a:r>
              <a:rPr sz="1100" b="1">
                <a:solidFill>
                  <a:srgbClr val="7C3AED"/>
                </a:solidFill>
                <a:latin typeface="Arial"/>
              </a:rPr>
              <a:t>TOOL</a:t>
            </a:r>
          </a:p>
        </p:txBody>
      </p:sp>
      <p:sp>
        <p:nvSpPr>
          <p:cNvPr id="25" name="TextBox 24"/>
          <p:cNvSpPr txBox="1"/>
          <p:nvPr/>
        </p:nvSpPr>
        <p:spPr>
          <a:xfrm>
            <a:off x="8238744" y="4261104"/>
            <a:ext cx="2980944" cy="914400"/>
          </a:xfrm>
          <a:prstGeom prst="rect">
            <a:avLst/>
          </a:prstGeom>
          <a:noFill/>
        </p:spPr>
        <p:txBody>
          <a:bodyPr wrap="square" anchor="t">
            <a:spAutoFit/>
          </a:bodyPr>
          <a:lstStyle/>
          <a:p>
            <a:pPr algn="l">
              <a:spcAft>
                <a:spcPts val="400"/>
              </a:spcAft>
            </a:pPr>
            <a:r>
              <a:rPr sz="1050" b="0">
                <a:solidFill>
                  <a:srgbClr val="161B26"/>
                </a:solidFill>
                <a:latin typeface="Arial"/>
              </a:rPr>
              <a:t>Pinboard · https://alfredang.github.io/pinboard/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6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Situation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02336"/>
          </a:xfrm>
          <a:prstGeom prst="rect">
            <a:avLst/>
          </a:prstGeom>
          <a:noFill/>
        </p:spPr>
        <p:txBody>
          <a:bodyPr wrap="square" anchor="ctr">
            <a:spAutoFit/>
          </a:bodyPr>
          <a:lstStyle/>
          <a:p>
            <a:pPr algn="ctr">
              <a:spcAft>
                <a:spcPts val="400"/>
              </a:spcAft>
            </a:pPr>
            <a:r>
              <a:rPr sz="1200" b="1">
                <a:solidFill>
                  <a:srgbClr val="FFFFFF"/>
                </a:solidFill>
                <a:latin typeface="Arial"/>
              </a:rPr>
              <a:t>CASE STUDY</a:t>
            </a:r>
          </a:p>
        </p:txBody>
      </p:sp>
      <p:sp>
        <p:nvSpPr>
          <p:cNvPr id="9" name="TextBox 8"/>
          <p:cNvSpPr txBox="1"/>
          <p:nvPr/>
        </p:nvSpPr>
        <p:spPr>
          <a:xfrm>
            <a:off x="2633472" y="1719072"/>
            <a:ext cx="8778240" cy="402336"/>
          </a:xfrm>
          <a:prstGeom prst="rect">
            <a:avLst/>
          </a:prstGeom>
          <a:noFill/>
        </p:spPr>
        <p:txBody>
          <a:bodyPr wrap="square" anchor="ctr">
            <a:spAutoFit/>
          </a:bodyPr>
          <a:lstStyle/>
          <a:p>
            <a:pPr algn="l">
              <a:spcAft>
                <a:spcPts val="400"/>
              </a:spcAft>
            </a:pPr>
            <a:r>
              <a:rPr sz="1500" b="1">
                <a:solidFill>
                  <a:srgbClr val="161B26"/>
                </a:solidFill>
                <a:latin typeface="Arial"/>
              </a:rPr>
              <a:t>Meridian Health — solving the retention root cause</a:t>
            </a:r>
          </a:p>
        </p:txBody>
      </p:sp>
      <p:sp>
        <p:nvSpPr>
          <p:cNvPr id="10" name="Rectangle 9"/>
          <p:cNvSpPr/>
          <p:nvPr/>
        </p:nvSpPr>
        <p:spPr>
          <a:xfrm>
            <a:off x="777240" y="2286000"/>
            <a:ext cx="10634472" cy="3931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3931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432304"/>
            <a:ext cx="10058400" cy="3657600"/>
          </a:xfrm>
          <a:prstGeom prst="rect">
            <a:avLst/>
          </a:prstGeom>
          <a:noFill/>
        </p:spPr>
        <p:txBody>
          <a:bodyPr wrap="square">
            <a:spAutoFit/>
          </a:bodyPr>
          <a:lstStyle/>
          <a:p>
            <a:pPr>
              <a:spcAft>
                <a:spcPts val="700"/>
              </a:spcAft>
            </a:pPr>
            <a:r>
              <a:rPr sz="1300">
                <a:solidFill>
                  <a:srgbClr val="161B26"/>
                </a:solidFill>
                <a:latin typeface="Arial"/>
              </a:rPr>
              <a:t>Your 5 Whys in Activity 2 established the root cause at Meridian Health: a workforce retention and onboarding failure that leaves 40% of the 07:00 roster staffed by untrained relief phlebotomists at 14 minutes per draw instead of 6.</a:t>
            </a:r>
          </a:p>
          <a:p>
            <a:pPr>
              <a:spcAft>
                <a:spcPts val="700"/>
              </a:spcAft>
            </a:pPr>
            <a:r>
              <a:rPr sz="1300">
                <a:solidFill>
                  <a:srgbClr val="161B26"/>
                </a:solidFill>
                <a:latin typeface="Arial"/>
              </a:rPr>
              <a:t>The Clinical Director has accepted the analysis and killed the S$1.2m seventh-centre proposal. She now wants options — and she has been explicit: "Don't bring me three sensible ideas. Bring me twenty, including the ones that sound ridiculous, and then tell me which four are real."</a:t>
            </a:r>
          </a:p>
          <a:p>
            <a:pPr>
              <a:spcAft>
                <a:spcPts val="700"/>
              </a:spcAft>
            </a:pPr>
            <a:r>
              <a:rPr sz="1300">
                <a:solidFill>
                  <a:srgbClr val="161B26"/>
                </a:solidFill>
                <a:latin typeface="Arial"/>
              </a:rPr>
              <a:t>Budget guidance: up to S$250,000 over 12 months. Constraint: MOH clinical protocols on phlebotomy competency cannot be relaxed under any circumstances.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6  ·  CONTEXT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Constraints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Constraint</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Detail</a:t>
            </a:r>
          </a:p>
        </p:txBody>
      </p:sp>
      <p:sp>
        <p:nvSpPr>
          <p:cNvPr id="11" name="Rectangle 10"/>
          <p:cNvSpPr/>
          <p:nvPr/>
        </p:nvSpPr>
        <p:spPr>
          <a:xfrm>
            <a:off x="777240" y="2258568"/>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Budget</a:t>
            </a:r>
          </a:p>
        </p:txBody>
      </p:sp>
      <p:sp>
        <p:nvSpPr>
          <p:cNvPr id="13" name="Rectangle 12"/>
          <p:cNvSpPr/>
          <p:nvPr/>
        </p:nvSpPr>
        <p:spPr>
          <a:xfrm>
            <a:off x="3542202" y="2258568"/>
            <a:ext cx="786951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362331"/>
          </a:xfrm>
          <a:prstGeom prst="rect">
            <a:avLst/>
          </a:prstGeom>
          <a:noFill/>
        </p:spPr>
        <p:txBody>
          <a:bodyPr wrap="square" anchor="ctr">
            <a:spAutoFit/>
          </a:bodyPr>
          <a:lstStyle/>
          <a:p>
            <a:pPr algn="l">
              <a:spcAft>
                <a:spcPts val="400"/>
              </a:spcAft>
            </a:pPr>
            <a:r>
              <a:rPr sz="1150" b="0">
                <a:solidFill>
                  <a:srgbClr val="5B6372"/>
                </a:solidFill>
                <a:latin typeface="Arial"/>
              </a:rPr>
              <a:t>Up to S$250,000 over 12 months</a:t>
            </a:r>
          </a:p>
        </p:txBody>
      </p:sp>
      <p:sp>
        <p:nvSpPr>
          <p:cNvPr id="15" name="Rectangle 14"/>
          <p:cNvSpPr/>
          <p:nvPr/>
        </p:nvSpPr>
        <p:spPr>
          <a:xfrm>
            <a:off x="777240" y="2620899"/>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620899"/>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Clinical</a:t>
            </a:r>
          </a:p>
        </p:txBody>
      </p:sp>
      <p:sp>
        <p:nvSpPr>
          <p:cNvPr id="17" name="Rectangle 16"/>
          <p:cNvSpPr/>
          <p:nvPr/>
        </p:nvSpPr>
        <p:spPr>
          <a:xfrm>
            <a:off x="3542202" y="2620899"/>
            <a:ext cx="786951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620899"/>
            <a:ext cx="7613478" cy="362331"/>
          </a:xfrm>
          <a:prstGeom prst="rect">
            <a:avLst/>
          </a:prstGeom>
          <a:noFill/>
        </p:spPr>
        <p:txBody>
          <a:bodyPr wrap="square" anchor="ctr">
            <a:spAutoFit/>
          </a:bodyPr>
          <a:lstStyle/>
          <a:p>
            <a:pPr algn="l">
              <a:spcAft>
                <a:spcPts val="400"/>
              </a:spcAft>
            </a:pPr>
            <a:r>
              <a:rPr sz="1150" b="0">
                <a:solidFill>
                  <a:srgbClr val="5B6372"/>
                </a:solidFill>
                <a:latin typeface="Arial"/>
              </a:rPr>
              <a:t>MOH phlebotomy competency standards are non-negotiable</a:t>
            </a:r>
          </a:p>
        </p:txBody>
      </p:sp>
      <p:sp>
        <p:nvSpPr>
          <p:cNvPr id="19" name="Rectangle 18"/>
          <p:cNvSpPr/>
          <p:nvPr/>
        </p:nvSpPr>
        <p:spPr>
          <a:xfrm>
            <a:off x="777240" y="2983230"/>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83230"/>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Contract</a:t>
            </a:r>
          </a:p>
        </p:txBody>
      </p:sp>
      <p:sp>
        <p:nvSpPr>
          <p:cNvPr id="21" name="Rectangle 20"/>
          <p:cNvSpPr/>
          <p:nvPr/>
        </p:nvSpPr>
        <p:spPr>
          <a:xfrm>
            <a:off x="3542202" y="2983230"/>
            <a:ext cx="786951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83230"/>
            <a:ext cx="7613478" cy="362331"/>
          </a:xfrm>
          <a:prstGeom prst="rect">
            <a:avLst/>
          </a:prstGeom>
          <a:noFill/>
        </p:spPr>
        <p:txBody>
          <a:bodyPr wrap="square" anchor="ctr">
            <a:spAutoFit/>
          </a:bodyPr>
          <a:lstStyle/>
          <a:p>
            <a:pPr algn="l">
              <a:spcAft>
                <a:spcPts val="400"/>
              </a:spcAft>
            </a:pPr>
            <a:r>
              <a:rPr sz="1150" b="0">
                <a:solidFill>
                  <a:srgbClr val="5B6372"/>
                </a:solidFill>
                <a:latin typeface="Arial"/>
              </a:rPr>
              <a:t>07:00-09:30 fasting draw window is contractual with corporate clients</a:t>
            </a:r>
          </a:p>
        </p:txBody>
      </p:sp>
      <p:sp>
        <p:nvSpPr>
          <p:cNvPr id="23" name="Rectangle 22"/>
          <p:cNvSpPr/>
          <p:nvPr/>
        </p:nvSpPr>
        <p:spPr>
          <a:xfrm>
            <a:off x="777240" y="3345561"/>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345561"/>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Courier</a:t>
            </a:r>
          </a:p>
        </p:txBody>
      </p:sp>
      <p:sp>
        <p:nvSpPr>
          <p:cNvPr id="25" name="Rectangle 24"/>
          <p:cNvSpPr/>
          <p:nvPr/>
        </p:nvSpPr>
        <p:spPr>
          <a:xfrm>
            <a:off x="3542202" y="3345561"/>
            <a:ext cx="786951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3345561"/>
            <a:ext cx="7613478" cy="362331"/>
          </a:xfrm>
          <a:prstGeom prst="rect">
            <a:avLst/>
          </a:prstGeom>
          <a:noFill/>
        </p:spPr>
        <p:txBody>
          <a:bodyPr wrap="square" anchor="ctr">
            <a:spAutoFit/>
          </a:bodyPr>
          <a:lstStyle/>
          <a:p>
            <a:pPr algn="l">
              <a:spcAft>
                <a:spcPts val="400"/>
              </a:spcAft>
            </a:pPr>
            <a:r>
              <a:rPr sz="1150" b="0">
                <a:solidFill>
                  <a:srgbClr val="5B6372"/>
                </a:solidFill>
                <a:latin typeface="Arial"/>
              </a:rPr>
              <a:t>Lab courier at 09:45 is fixed by the external lab partner</a:t>
            </a:r>
          </a:p>
        </p:txBody>
      </p:sp>
      <p:sp>
        <p:nvSpPr>
          <p:cNvPr id="27" name="Rectangle 26"/>
          <p:cNvSpPr/>
          <p:nvPr/>
        </p:nvSpPr>
        <p:spPr>
          <a:xfrm>
            <a:off x="777240" y="3707892"/>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3707892"/>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Workforce</a:t>
            </a:r>
          </a:p>
        </p:txBody>
      </p:sp>
      <p:sp>
        <p:nvSpPr>
          <p:cNvPr id="29" name="Rectangle 28"/>
          <p:cNvSpPr/>
          <p:nvPr/>
        </p:nvSpPr>
        <p:spPr>
          <a:xfrm>
            <a:off x="3542202" y="3707892"/>
            <a:ext cx="786951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3707892"/>
            <a:ext cx="7613478" cy="362331"/>
          </a:xfrm>
          <a:prstGeom prst="rect">
            <a:avLst/>
          </a:prstGeom>
          <a:noFill/>
        </p:spPr>
        <p:txBody>
          <a:bodyPr wrap="square" anchor="ctr">
            <a:spAutoFit/>
          </a:bodyPr>
          <a:lstStyle/>
          <a:p>
            <a:pPr algn="l">
              <a:spcAft>
                <a:spcPts val="400"/>
              </a:spcAft>
            </a:pPr>
            <a:r>
              <a:rPr sz="1150" b="0">
                <a:solidFill>
                  <a:srgbClr val="5B6372"/>
                </a:solidFill>
                <a:latin typeface="Arial"/>
              </a:rPr>
              <a:t>Permanent phlebotomist turnover 44%/yr; relief pool is agency-supplied</a:t>
            </a:r>
          </a:p>
        </p:txBody>
      </p:sp>
      <p:sp>
        <p:nvSpPr>
          <p:cNvPr id="31" name="Rectangle 30"/>
          <p:cNvSpPr/>
          <p:nvPr/>
        </p:nvSpPr>
        <p:spPr>
          <a:xfrm>
            <a:off x="777240" y="4070223"/>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070223"/>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Training</a:t>
            </a:r>
          </a:p>
        </p:txBody>
      </p:sp>
      <p:sp>
        <p:nvSpPr>
          <p:cNvPr id="33" name="Rectangle 32"/>
          <p:cNvSpPr/>
          <p:nvPr/>
        </p:nvSpPr>
        <p:spPr>
          <a:xfrm>
            <a:off x="3542202" y="4070223"/>
            <a:ext cx="786951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070223"/>
            <a:ext cx="7613478" cy="362331"/>
          </a:xfrm>
          <a:prstGeom prst="rect">
            <a:avLst/>
          </a:prstGeom>
          <a:noFill/>
        </p:spPr>
        <p:txBody>
          <a:bodyPr wrap="square" anchor="ctr">
            <a:spAutoFit/>
          </a:bodyPr>
          <a:lstStyle/>
          <a:p>
            <a:pPr algn="l">
              <a:spcAft>
                <a:spcPts val="400"/>
              </a:spcAft>
            </a:pPr>
            <a:r>
              <a:rPr sz="1150" b="0">
                <a:solidFill>
                  <a:srgbClr val="5B6372"/>
                </a:solidFill>
                <a:latin typeface="Arial"/>
              </a:rPr>
              <a:t>Current onboarding is 2 days shadowing, no structured sign-off</a:t>
            </a:r>
          </a:p>
        </p:txBody>
      </p:sp>
      <p:sp>
        <p:nvSpPr>
          <p:cNvPr id="35" name="Rectangle 34"/>
          <p:cNvSpPr/>
          <p:nvPr/>
        </p:nvSpPr>
        <p:spPr>
          <a:xfrm>
            <a:off x="777240" y="4432554"/>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4432554"/>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Market</a:t>
            </a:r>
          </a:p>
        </p:txBody>
      </p:sp>
      <p:sp>
        <p:nvSpPr>
          <p:cNvPr id="37" name="Rectangle 36"/>
          <p:cNvSpPr/>
          <p:nvPr/>
        </p:nvSpPr>
        <p:spPr>
          <a:xfrm>
            <a:off x="3542202" y="4432554"/>
            <a:ext cx="7869510"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70218" y="4432554"/>
            <a:ext cx="7613478" cy="362331"/>
          </a:xfrm>
          <a:prstGeom prst="rect">
            <a:avLst/>
          </a:prstGeom>
          <a:noFill/>
        </p:spPr>
        <p:txBody>
          <a:bodyPr wrap="square" anchor="ctr">
            <a:spAutoFit/>
          </a:bodyPr>
          <a:lstStyle/>
          <a:p>
            <a:pPr algn="l">
              <a:spcAft>
                <a:spcPts val="400"/>
              </a:spcAft>
            </a:pPr>
            <a:r>
              <a:rPr sz="1150" b="0">
                <a:solidFill>
                  <a:srgbClr val="5B6372"/>
                </a:solidFill>
                <a:latin typeface="Arial"/>
              </a:rPr>
              <a:t>Phlebotomist salaries are within 5% of the market median</a:t>
            </a:r>
          </a:p>
        </p:txBody>
      </p:sp>
      <p:sp>
        <p:nvSpPr>
          <p:cNvPr id="39" name="Rectangle 38"/>
          <p:cNvSpPr/>
          <p:nvPr/>
        </p:nvSpPr>
        <p:spPr>
          <a:xfrm>
            <a:off x="777240" y="4794885"/>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794885"/>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Shift</a:t>
            </a:r>
          </a:p>
        </p:txBody>
      </p:sp>
      <p:sp>
        <p:nvSpPr>
          <p:cNvPr id="41" name="Rectangle 40"/>
          <p:cNvSpPr/>
          <p:nvPr/>
        </p:nvSpPr>
        <p:spPr>
          <a:xfrm>
            <a:off x="3542202" y="4794885"/>
            <a:ext cx="7869510"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794885"/>
            <a:ext cx="7613478" cy="362331"/>
          </a:xfrm>
          <a:prstGeom prst="rect">
            <a:avLst/>
          </a:prstGeom>
          <a:noFill/>
        </p:spPr>
        <p:txBody>
          <a:bodyPr wrap="square" anchor="ctr">
            <a:spAutoFit/>
          </a:bodyPr>
          <a:lstStyle/>
          <a:p>
            <a:pPr algn="l">
              <a:spcAft>
                <a:spcPts val="400"/>
              </a:spcAft>
            </a:pPr>
            <a:r>
              <a:rPr sz="1150" b="0">
                <a:solidFill>
                  <a:srgbClr val="5B6372"/>
                </a:solidFill>
                <a:latin typeface="Arial"/>
              </a:rPr>
              <a:t>Early shift (06:30 start) attracts no differential pay</a:t>
            </a:r>
          </a:p>
        </p:txBody>
      </p:sp>
      <p:sp>
        <p:nvSpPr>
          <p:cNvPr id="43" name="Rectangle 4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Meridian Health — solution constraints and context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ACTIVITY 6  ·  RUN THIS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6 — The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8953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3621024"/>
          </a:xfrm>
          <a:prstGeom prst="rect">
            <a:avLst/>
          </a:prstGeom>
          <a:noFill/>
        </p:spPr>
        <p:txBody>
          <a:bodyPr wrap="square">
            <a:spAutoFit/>
          </a:bodyPr>
          <a:lstStyle/>
          <a:p>
            <a:pPr>
              <a:spcAft>
                <a:spcPts val="150"/>
              </a:spcAft>
            </a:pPr>
            <a:r>
              <a:rPr sz="800" b="0">
                <a:solidFill>
                  <a:srgbClr val="D4D4D4"/>
                </a:solidFill>
                <a:latin typeface="Consolas"/>
              </a:rPr>
              <a:t>Act as an innovation consultant running a divergent ideation session. Do NOT evaluate or filter yet.</a:t>
            </a:r>
          </a:p>
          <a:p>
            <a:pPr>
              <a:spcAft>
                <a:spcPts val="150"/>
              </a:spcAft>
            </a:pPr>
            <a:r>
              <a:rPr sz="800" b="0">
                <a:solidFill>
                  <a:srgbClr val="D4D4D4"/>
                </a:solidFill>
                <a:latin typeface="Consolas"/>
              </a:rPr>
              <a:t> </a:t>
            </a:r>
          </a:p>
          <a:p>
            <a:pPr>
              <a:spcAft>
                <a:spcPts val="150"/>
              </a:spcAft>
            </a:pPr>
            <a:r>
              <a:rPr sz="800" b="0">
                <a:solidFill>
                  <a:srgbClr val="D4D4D4"/>
                </a:solidFill>
                <a:latin typeface="Consolas"/>
              </a:rPr>
              <a:t>Root cause to solve: A Singapore health-screening operator has 44% annual turnover among permanent phlebotomists. Vacancies are backfilled by agency relief staff who take 14 min per blood draw versus 6 min for trained staff. 40% of the 07:00 roster is relief staff, causing 31% of morning appointments to overrun and 23% of samples to miss the fixed 09:45 lab courier.</a:t>
            </a:r>
          </a:p>
          <a:p>
            <a:pPr>
              <a:spcAft>
                <a:spcPts val="150"/>
              </a:spcAft>
            </a:pPr>
            <a:r>
              <a:rPr sz="800" b="0">
                <a:solidFill>
                  <a:srgbClr val="D4D4D4"/>
                </a:solidFill>
                <a:latin typeface="Consolas"/>
              </a:rPr>
              <a:t> </a:t>
            </a:r>
          </a:p>
          <a:p>
            <a:pPr>
              <a:spcAft>
                <a:spcPts val="150"/>
              </a:spcAft>
            </a:pPr>
            <a:r>
              <a:rPr sz="800" b="0">
                <a:solidFill>
                  <a:srgbClr val="D4D4D4"/>
                </a:solidFill>
                <a:latin typeface="Consolas"/>
              </a:rPr>
              <a:t>Constraints: S$250k over 12 months; MOH phlebotomy competency standards cannot be relaxed; the 07:00-09:30 fasting window and the 09:45 courier are both fixed.</a:t>
            </a:r>
          </a:p>
          <a:p>
            <a:pPr>
              <a:spcAft>
                <a:spcPts val="150"/>
              </a:spcAft>
            </a:pPr>
            <a:r>
              <a:rPr sz="800" b="0">
                <a:solidFill>
                  <a:srgbClr val="D4D4D4"/>
                </a:solidFill>
                <a:latin typeface="Consolas"/>
              </a:rPr>
              <a:t> </a:t>
            </a:r>
          </a:p>
          <a:p>
            <a:pPr>
              <a:spcAft>
                <a:spcPts val="150"/>
              </a:spcAft>
            </a:pPr>
            <a:r>
              <a:rPr sz="800" b="1">
                <a:solidFill>
                  <a:srgbClr val="4EC9B0"/>
                </a:solidFill>
                <a:latin typeface="Consolas"/>
              </a:rPr>
              <a:t>Generate 20 distinct solutions grouped under:</a:t>
            </a:r>
          </a:p>
          <a:p>
            <a:pPr>
              <a:spcAft>
                <a:spcPts val="150"/>
              </a:spcAft>
            </a:pPr>
            <a:r>
              <a:rPr sz="800" b="0">
                <a:solidFill>
                  <a:srgbClr val="9CDCFE"/>
                </a:solidFill>
                <a:latin typeface="Consolas"/>
              </a:rPr>
              <a:t>- People &amp; Retention</a:t>
            </a:r>
          </a:p>
          <a:p>
            <a:pPr>
              <a:spcAft>
                <a:spcPts val="150"/>
              </a:spcAft>
            </a:pPr>
            <a:r>
              <a:rPr sz="800" b="0">
                <a:solidFill>
                  <a:srgbClr val="9CDCFE"/>
                </a:solidFill>
                <a:latin typeface="Consolas"/>
              </a:rPr>
              <a:t>- Training &amp; Onboarding</a:t>
            </a:r>
          </a:p>
          <a:p>
            <a:pPr>
              <a:spcAft>
                <a:spcPts val="150"/>
              </a:spcAft>
            </a:pPr>
            <a:r>
              <a:rPr sz="800" b="0">
                <a:solidFill>
                  <a:srgbClr val="9CDCFE"/>
                </a:solidFill>
                <a:latin typeface="Consolas"/>
              </a:rPr>
              <a:t>- Process &amp; Scheduling</a:t>
            </a:r>
          </a:p>
          <a:p>
            <a:pPr>
              <a:spcAft>
                <a:spcPts val="150"/>
              </a:spcAft>
            </a:pPr>
            <a:r>
              <a:rPr sz="800" b="0">
                <a:solidFill>
                  <a:srgbClr val="9CDCFE"/>
                </a:solidFill>
                <a:latin typeface="Consolas"/>
              </a:rPr>
              <a:t>- Technology &amp; Automation</a:t>
            </a:r>
          </a:p>
          <a:p>
            <a:pPr>
              <a:spcAft>
                <a:spcPts val="150"/>
              </a:spcAft>
            </a:pPr>
            <a:r>
              <a:rPr sz="800" b="0">
                <a:solidFill>
                  <a:srgbClr val="9CDCFE"/>
                </a:solidFill>
                <a:latin typeface="Consolas"/>
              </a:rPr>
              <a:t>- Customer/Client Experience</a:t>
            </a:r>
          </a:p>
          <a:p>
            <a:pPr>
              <a:spcAft>
                <a:spcPts val="150"/>
              </a:spcAft>
            </a:pPr>
            <a:r>
              <a:rPr sz="800" b="0">
                <a:solidFill>
                  <a:srgbClr val="D4D4D4"/>
                </a:solidFill>
                <a:latin typeface="Consolas"/>
              </a:rPr>
              <a:t> </a:t>
            </a:r>
          </a:p>
          <a:p>
            <a:pPr>
              <a:spcAft>
                <a:spcPts val="150"/>
              </a:spcAft>
            </a:pPr>
            <a:r>
              <a:rPr sz="800" b="1">
                <a:solidFill>
                  <a:srgbClr val="4EC9B0"/>
                </a:solidFill>
                <a:latin typeface="Consolas"/>
              </a:rPr>
              <a:t>Rules:</a:t>
            </a:r>
          </a:p>
          <a:p>
            <a:pPr>
              <a:spcAft>
                <a:spcPts val="150"/>
              </a:spcAft>
            </a:pPr>
            <a:r>
              <a:rPr sz="800" b="0">
                <a:solidFill>
                  <a:srgbClr val="9CDCFE"/>
                </a:solidFill>
                <a:latin typeface="Consolas"/>
              </a:rPr>
              <a:t>- Include at least 4 ideas that would normally be dismissed as unrealistic</a:t>
            </a:r>
          </a:p>
          <a:p>
            <a:pPr>
              <a:spcAft>
                <a:spcPts val="150"/>
              </a:spcAft>
            </a:pPr>
            <a:r>
              <a:rPr sz="800" b="0">
                <a:solidFill>
                  <a:srgbClr val="9CDCFE"/>
                </a:solidFill>
                <a:latin typeface="Consolas"/>
              </a:rPr>
              <a:t>- Include at least 2 ideas borrowed from a COMPLETELY different industry (say which)</a:t>
            </a:r>
          </a:p>
          <a:p>
            <a:pPr>
              <a:spcAft>
                <a:spcPts val="150"/>
              </a:spcAft>
            </a:pPr>
            <a:r>
              <a:rPr sz="800" b="0">
                <a:solidFill>
                  <a:srgbClr val="9CDCFE"/>
                </a:solidFill>
                <a:latin typeface="Consolas"/>
              </a:rPr>
              <a:t>- One line each, phrased as an action</a:t>
            </a:r>
          </a:p>
          <a:p>
            <a:pPr>
              <a:spcAft>
                <a:spcPts val="150"/>
              </a:spcAft>
            </a:pPr>
            <a:r>
              <a:rPr sz="800" b="0">
                <a:solidFill>
                  <a:srgbClr val="9CDCFE"/>
                </a:solidFill>
                <a:latin typeface="Consolas"/>
              </a:rPr>
              <a:t>- Do NOT rank, cost or evaluate them</a:t>
            </a:r>
          </a:p>
          <a:p>
            <a:pPr>
              <a:spcAft>
                <a:spcPts val="150"/>
              </a:spcAft>
            </a:pPr>
            <a:r>
              <a:rPr sz="800" b="0">
                <a:solidFill>
                  <a:srgbClr val="D4D4D4"/>
                </a:solidFill>
                <a:latin typeface="Consolas"/>
              </a:rPr>
              <a:t> </a:t>
            </a:r>
          </a:p>
          <a:p>
            <a:pPr>
              <a:spcAft>
                <a:spcPts val="150"/>
              </a:spcAft>
            </a:pPr>
            <a:r>
              <a:rPr sz="800" b="0">
                <a:solidFill>
                  <a:srgbClr val="D4D4D4"/>
                </a:solidFill>
                <a:latin typeface="Consolas"/>
              </a:rPr>
              <a:t>Then, separately: apply SCAMPER (Substitute, Combine, Adapt, Modify, Put to another use, Eliminate, Reverse) to the single assumption that 'every draw must be done by a phlebotomist at the centre between 07:00 and 09:30' and give one idea per SCAMPER letter.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6  ·  BREAKOUT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6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F6FEB"/>
                </a:solidFill>
                <a:latin typeface="Arial"/>
              </a:rPr>
              <a:t>DISCUSSION QUESTIONS</a:t>
            </a:r>
          </a:p>
        </p:txBody>
      </p:sp>
      <p:sp>
        <p:nvSpPr>
          <p:cNvPr id="10" name="Rectangle 9"/>
          <p:cNvSpPr/>
          <p:nvPr/>
        </p:nvSpPr>
        <p:spPr>
          <a:xfrm>
            <a:off x="777240" y="2231136"/>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237561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75611"/>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Q1</a:t>
            </a:r>
          </a:p>
        </p:txBody>
      </p:sp>
      <p:sp>
        <p:nvSpPr>
          <p:cNvPr id="14" name="TextBox 13"/>
          <p:cNvSpPr txBox="1"/>
          <p:nvPr/>
        </p:nvSpPr>
        <p:spPr>
          <a:xfrm>
            <a:off x="1609344" y="2231136"/>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Your team generated ideas manually first, then with GenAI. Compare the two lists — how many did the AI produce that your team would never have said out loud, and why not?</a:t>
            </a:r>
          </a:p>
        </p:txBody>
      </p:sp>
      <p:sp>
        <p:nvSpPr>
          <p:cNvPr id="15" name="Rectangle 14"/>
          <p:cNvSpPr/>
          <p:nvPr/>
        </p:nvSpPr>
        <p:spPr>
          <a:xfrm>
            <a:off x="777240" y="3059582"/>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59582"/>
            <a:ext cx="82296" cy="7095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32040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204057"/>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Q2</a:t>
            </a:r>
          </a:p>
        </p:txBody>
      </p:sp>
      <p:sp>
        <p:nvSpPr>
          <p:cNvPr id="19" name="TextBox 18"/>
          <p:cNvSpPr txBox="1"/>
          <p:nvPr/>
        </p:nvSpPr>
        <p:spPr>
          <a:xfrm>
            <a:off x="1609344" y="3059582"/>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The AI was asked for two ideas borrowed from another industry. Which cross-industry idea is most transferable to Meridian, and what would have to be true for it to work?</a:t>
            </a:r>
          </a:p>
        </p:txBody>
      </p:sp>
      <p:sp>
        <p:nvSpPr>
          <p:cNvPr id="20" name="Rectangle 19"/>
          <p:cNvSpPr/>
          <p:nvPr/>
        </p:nvSpPr>
        <p:spPr>
          <a:xfrm>
            <a:off x="777240" y="3888028"/>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88028"/>
            <a:ext cx="82296" cy="7095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 y="4032503"/>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032503"/>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Q3</a:t>
            </a:r>
          </a:p>
        </p:txBody>
      </p:sp>
      <p:sp>
        <p:nvSpPr>
          <p:cNvPr id="24" name="TextBox 23"/>
          <p:cNvSpPr txBox="1"/>
          <p:nvPr/>
        </p:nvSpPr>
        <p:spPr>
          <a:xfrm>
            <a:off x="1609344" y="3888028"/>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Apply SCAMPER's 'Reverse' and 'Eliminate' to the fixed 07:00-09:30 window. Which supposedly fixed constraint turns out to be an assumption rather than a real constraint?</a:t>
            </a:r>
          </a:p>
        </p:txBody>
      </p:sp>
      <p:sp>
        <p:nvSpPr>
          <p:cNvPr id="25" name="Rectangle 24"/>
          <p:cNvSpPr/>
          <p:nvPr/>
        </p:nvSpPr>
        <p:spPr>
          <a:xfrm>
            <a:off x="777240" y="4716474"/>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716474"/>
            <a:ext cx="82296" cy="70957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860949"/>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860949"/>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Q4</a:t>
            </a:r>
          </a:p>
        </p:txBody>
      </p:sp>
      <p:sp>
        <p:nvSpPr>
          <p:cNvPr id="29" name="TextBox 28"/>
          <p:cNvSpPr txBox="1"/>
          <p:nvPr/>
        </p:nvSpPr>
        <p:spPr>
          <a:xfrm>
            <a:off x="1609344" y="4716474"/>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Identify one idea on your list that is genuinely ruled out by the MOH clinical constraint. How do you tell a hard constraint from a habit?</a:t>
            </a:r>
          </a:p>
        </p:txBody>
      </p:sp>
      <p:sp>
        <p:nvSpPr>
          <p:cNvPr id="30" name="Rectangle 29"/>
          <p:cNvSpPr/>
          <p:nvPr/>
        </p:nvSpPr>
        <p:spPr>
          <a:xfrm>
            <a:off x="777240" y="5544920"/>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544920"/>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5840" y="5689395"/>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689395"/>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Q5</a:t>
            </a:r>
          </a:p>
        </p:txBody>
      </p:sp>
      <p:sp>
        <p:nvSpPr>
          <p:cNvPr id="34" name="TextBox 33"/>
          <p:cNvSpPr txBox="1"/>
          <p:nvPr/>
        </p:nvSpPr>
        <p:spPr>
          <a:xfrm>
            <a:off x="1609344" y="5544920"/>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Cognitive fixedness is the tendency to reach for the familiar solution. Find one idea on your list that only appeared because you deliberately broke fixedness — what triggered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WHAT WE LEARNED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6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0B981"/>
                </a:solidFill>
                <a:latin typeface="Arial"/>
              </a:rPr>
              <a:t>TRAINER DEBRIEF</a:t>
            </a:r>
          </a:p>
        </p:txBody>
      </p:sp>
      <p:sp>
        <p:nvSpPr>
          <p:cNvPr id="10" name="Rectangle 9"/>
          <p:cNvSpPr/>
          <p:nvPr/>
        </p:nvSpPr>
        <p:spPr>
          <a:xfrm>
            <a:off x="777240" y="2231136"/>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31720"/>
            <a:ext cx="10058400" cy="292608"/>
          </a:xfrm>
          <a:prstGeom prst="rect">
            <a:avLst/>
          </a:prstGeom>
          <a:noFill/>
        </p:spPr>
        <p:txBody>
          <a:bodyPr wrap="square" anchor="t">
            <a:spAutoFit/>
          </a:bodyPr>
          <a:lstStyle/>
          <a:p>
            <a:pPr algn="l">
              <a:spcAft>
                <a:spcPts val="400"/>
              </a:spcAft>
            </a:pPr>
            <a:r>
              <a:rPr sz="1050" b="1">
                <a:solidFill>
                  <a:srgbClr val="1F6FEB"/>
                </a:solidFill>
                <a:latin typeface="Arial"/>
              </a:rPr>
              <a:t>COUNT THE GAP</a:t>
            </a:r>
          </a:p>
        </p:txBody>
      </p:sp>
      <p:sp>
        <p:nvSpPr>
          <p:cNvPr id="13" name="TextBox 12"/>
          <p:cNvSpPr txBox="1"/>
          <p:nvPr/>
        </p:nvSpPr>
        <p:spPr>
          <a:xfrm>
            <a:off x="1097280" y="2642616"/>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Teams that evaluate while generating stop at 6-8 ideas. The gap between your manual list and the AI list IS the lesson.</a:t>
            </a:r>
          </a:p>
        </p:txBody>
      </p:sp>
      <p:sp>
        <p:nvSpPr>
          <p:cNvPr id="14" name="Rectangle 13"/>
          <p:cNvSpPr/>
          <p:nvPr/>
        </p:nvSpPr>
        <p:spPr>
          <a:xfrm>
            <a:off x="777240" y="3268980"/>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8980"/>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69564"/>
            <a:ext cx="10058400" cy="292608"/>
          </a:xfrm>
          <a:prstGeom prst="rect">
            <a:avLst/>
          </a:prstGeom>
          <a:noFill/>
        </p:spPr>
        <p:txBody>
          <a:bodyPr wrap="square" anchor="t">
            <a:spAutoFit/>
          </a:bodyPr>
          <a:lstStyle/>
          <a:p>
            <a:pPr algn="l">
              <a:spcAft>
                <a:spcPts val="400"/>
              </a:spcAft>
            </a:pPr>
            <a:r>
              <a:rPr sz="1050" b="1">
                <a:solidFill>
                  <a:srgbClr val="10B981"/>
                </a:solidFill>
                <a:latin typeface="Arial"/>
              </a:rPr>
              <a:t>WHY GENAI DIVERGES BETTER</a:t>
            </a:r>
          </a:p>
        </p:txBody>
      </p:sp>
      <p:sp>
        <p:nvSpPr>
          <p:cNvPr id="17" name="TextBox 16"/>
          <p:cNvSpPr txBox="1"/>
          <p:nvPr/>
        </p:nvSpPr>
        <p:spPr>
          <a:xfrm>
            <a:off x="1097280" y="3680460"/>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It has no career risk. It will propose 'pay the early shift more' in front of a Finance Director without hesitation.</a:t>
            </a:r>
          </a:p>
        </p:txBody>
      </p:sp>
      <p:sp>
        <p:nvSpPr>
          <p:cNvPr id="18" name="Rectangle 17"/>
          <p:cNvSpPr/>
          <p:nvPr/>
        </p:nvSpPr>
        <p:spPr>
          <a:xfrm>
            <a:off x="777240" y="4306824"/>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06824"/>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10058400" cy="292608"/>
          </a:xfrm>
          <a:prstGeom prst="rect">
            <a:avLst/>
          </a:prstGeom>
          <a:noFill/>
        </p:spPr>
        <p:txBody>
          <a:bodyPr wrap="square" anchor="t">
            <a:spAutoFit/>
          </a:bodyPr>
          <a:lstStyle/>
          <a:p>
            <a:pPr algn="l">
              <a:spcAft>
                <a:spcPts val="400"/>
              </a:spcAft>
            </a:pPr>
            <a:r>
              <a:rPr sz="1050" b="1">
                <a:solidFill>
                  <a:srgbClr val="7C3AED"/>
                </a:solidFill>
                <a:latin typeface="Arial"/>
              </a:rPr>
              <a:t>THE SCAMPER UNLOCK</a:t>
            </a:r>
          </a:p>
        </p:txBody>
      </p:sp>
      <p:sp>
        <p:nvSpPr>
          <p:cNvPr id="21" name="TextBox 20"/>
          <p:cNvSpPr txBox="1"/>
          <p:nvPr/>
        </p:nvSpPr>
        <p:spPr>
          <a:xfrm>
            <a:off x="1097280" y="4718304"/>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Reverse and Eliminate dissolve the 07:00 window entirely — bring the draw to the client. The MOH standard, by contrast, is a genuine hard constraint.</a:t>
            </a:r>
          </a:p>
        </p:txBody>
      </p:sp>
      <p:sp>
        <p:nvSpPr>
          <p:cNvPr id="22" name="Rectangle 21"/>
          <p:cNvSpPr/>
          <p:nvPr/>
        </p:nvSpPr>
        <p:spPr>
          <a:xfrm>
            <a:off x="777240" y="5344668"/>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44668"/>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445252"/>
            <a:ext cx="10058400" cy="292608"/>
          </a:xfrm>
          <a:prstGeom prst="rect">
            <a:avLst/>
          </a:prstGeom>
          <a:noFill/>
        </p:spPr>
        <p:txBody>
          <a:bodyPr wrap="square" anchor="t">
            <a:spAutoFit/>
          </a:bodyPr>
          <a:lstStyle/>
          <a:p>
            <a:pPr algn="l">
              <a:spcAft>
                <a:spcPts val="400"/>
              </a:spcAft>
            </a:pPr>
            <a:r>
              <a:rPr sz="1050" b="1">
                <a:solidFill>
                  <a:srgbClr val="F59E0B"/>
                </a:solidFill>
                <a:latin typeface="Arial"/>
              </a:rPr>
              <a:t>HOLD THE LINE</a:t>
            </a:r>
          </a:p>
        </p:txBody>
      </p:sp>
      <p:sp>
        <p:nvSpPr>
          <p:cNvPr id="25" name="TextBox 24"/>
          <p:cNvSpPr txBox="1"/>
          <p:nvPr/>
        </p:nvSpPr>
        <p:spPr>
          <a:xfrm>
            <a:off x="1097280" y="5756148"/>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Do not rank yet. Holding divergence separate from convergence is itself the skill.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SCREEN 20 IDEAS IN 10 MINUTES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Impact vs Ease — the Fast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74519" y="1828800"/>
            <a:ext cx="4297680" cy="17922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74519" y="1828800"/>
            <a:ext cx="42976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93975" y="2011680"/>
            <a:ext cx="3886200" cy="310896"/>
          </a:xfrm>
          <a:prstGeom prst="rect">
            <a:avLst/>
          </a:prstGeom>
          <a:noFill/>
        </p:spPr>
        <p:txBody>
          <a:bodyPr wrap="square" anchor="t">
            <a:spAutoFit/>
          </a:bodyPr>
          <a:lstStyle/>
          <a:p>
            <a:pPr algn="l">
              <a:spcAft>
                <a:spcPts val="400"/>
              </a:spcAft>
            </a:pPr>
            <a:r>
              <a:rPr sz="1300" b="1">
                <a:solidFill>
                  <a:srgbClr val="7C3AED"/>
                </a:solidFill>
                <a:latin typeface="Arial"/>
              </a:rPr>
              <a:t>BIG BETS</a:t>
            </a:r>
          </a:p>
        </p:txBody>
      </p:sp>
      <p:sp>
        <p:nvSpPr>
          <p:cNvPr id="10" name="TextBox 9"/>
          <p:cNvSpPr txBox="1"/>
          <p:nvPr/>
        </p:nvSpPr>
        <p:spPr>
          <a:xfrm>
            <a:off x="2093975" y="2395728"/>
            <a:ext cx="3886200" cy="1078992"/>
          </a:xfrm>
          <a:prstGeom prst="rect">
            <a:avLst/>
          </a:prstGeom>
          <a:noFill/>
        </p:spPr>
        <p:txBody>
          <a:bodyPr wrap="square">
            <a:spAutoFit/>
          </a:bodyPr>
          <a:lstStyle/>
          <a:p>
            <a:pPr>
              <a:spcAft>
                <a:spcPts val="300"/>
              </a:spcAft>
            </a:pPr>
            <a:r>
              <a:rPr sz="1000">
                <a:solidFill>
                  <a:srgbClr val="161B26"/>
                </a:solidFill>
                <a:latin typeface="Arial"/>
              </a:rPr>
              <a:t>• High impact, hard to do</a:t>
            </a:r>
          </a:p>
          <a:p>
            <a:pPr>
              <a:spcAft>
                <a:spcPts val="300"/>
              </a:spcAft>
            </a:pPr>
            <a:r>
              <a:rPr sz="1000">
                <a:solidFill>
                  <a:srgbClr val="161B26"/>
                </a:solidFill>
                <a:latin typeface="Arial"/>
              </a:rPr>
              <a:t>• Structured onboarding programme</a:t>
            </a:r>
          </a:p>
          <a:p>
            <a:pPr>
              <a:spcAft>
                <a:spcPts val="300"/>
              </a:spcAft>
            </a:pPr>
            <a:r>
              <a:rPr sz="1000">
                <a:solidFill>
                  <a:srgbClr val="161B26"/>
                </a:solidFill>
                <a:latin typeface="Arial"/>
              </a:rPr>
              <a:t>• Convert relief staff to permanent</a:t>
            </a:r>
          </a:p>
          <a:p>
            <a:pPr>
              <a:spcAft>
                <a:spcPts val="300"/>
              </a:spcAft>
            </a:pPr>
            <a:r>
              <a:rPr sz="1000">
                <a:solidFill>
                  <a:srgbClr val="161B26"/>
                </a:solidFill>
                <a:latin typeface="Arial"/>
              </a:rPr>
              <a:t>• Do these — but plan properly</a:t>
            </a:r>
          </a:p>
        </p:txBody>
      </p:sp>
      <p:sp>
        <p:nvSpPr>
          <p:cNvPr id="11" name="Rectangle 10"/>
          <p:cNvSpPr/>
          <p:nvPr/>
        </p:nvSpPr>
        <p:spPr>
          <a:xfrm>
            <a:off x="6172199" y="1828800"/>
            <a:ext cx="4297680" cy="17922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199" y="1828800"/>
            <a:ext cx="42976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5" y="2011680"/>
            <a:ext cx="3886200" cy="310896"/>
          </a:xfrm>
          <a:prstGeom prst="rect">
            <a:avLst/>
          </a:prstGeom>
          <a:noFill/>
        </p:spPr>
        <p:txBody>
          <a:bodyPr wrap="square" anchor="t">
            <a:spAutoFit/>
          </a:bodyPr>
          <a:lstStyle/>
          <a:p>
            <a:pPr algn="l">
              <a:spcAft>
                <a:spcPts val="400"/>
              </a:spcAft>
            </a:pPr>
            <a:r>
              <a:rPr sz="1300" b="1">
                <a:solidFill>
                  <a:srgbClr val="10B981"/>
                </a:solidFill>
                <a:latin typeface="Arial"/>
              </a:rPr>
              <a:t>QUICK WINS</a:t>
            </a:r>
          </a:p>
        </p:txBody>
      </p:sp>
      <p:sp>
        <p:nvSpPr>
          <p:cNvPr id="14" name="TextBox 13"/>
          <p:cNvSpPr txBox="1"/>
          <p:nvPr/>
        </p:nvSpPr>
        <p:spPr>
          <a:xfrm>
            <a:off x="6391655" y="2395728"/>
            <a:ext cx="3886200" cy="1078992"/>
          </a:xfrm>
          <a:prstGeom prst="rect">
            <a:avLst/>
          </a:prstGeom>
          <a:noFill/>
        </p:spPr>
        <p:txBody>
          <a:bodyPr wrap="square">
            <a:spAutoFit/>
          </a:bodyPr>
          <a:lstStyle/>
          <a:p>
            <a:pPr>
              <a:spcAft>
                <a:spcPts val="300"/>
              </a:spcAft>
            </a:pPr>
            <a:r>
              <a:rPr sz="1000">
                <a:solidFill>
                  <a:srgbClr val="161B26"/>
                </a:solidFill>
                <a:latin typeface="Arial"/>
              </a:rPr>
              <a:t>• High impact, easy to do</a:t>
            </a:r>
          </a:p>
          <a:p>
            <a:pPr>
              <a:spcAft>
                <a:spcPts val="300"/>
              </a:spcAft>
            </a:pPr>
            <a:r>
              <a:rPr sz="1000">
                <a:solidFill>
                  <a:srgbClr val="161B26"/>
                </a:solidFill>
                <a:latin typeface="Arial"/>
              </a:rPr>
              <a:t>• Re-roster all 5 at 07:00</a:t>
            </a:r>
          </a:p>
          <a:p>
            <a:pPr>
              <a:spcAft>
                <a:spcPts val="300"/>
              </a:spcAft>
            </a:pPr>
            <a:r>
              <a:rPr sz="1000">
                <a:solidFill>
                  <a:srgbClr val="161B26"/>
                </a:solidFill>
                <a:latin typeface="Arial"/>
              </a:rPr>
              <a:t>• Early-shift differential pay</a:t>
            </a:r>
          </a:p>
          <a:p>
            <a:pPr>
              <a:spcAft>
                <a:spcPts val="300"/>
              </a:spcAft>
            </a:pPr>
            <a:r>
              <a:rPr sz="1000">
                <a:solidFill>
                  <a:srgbClr val="161B26"/>
                </a:solidFill>
                <a:latin typeface="Arial"/>
              </a:rPr>
              <a:t>• Do these FIRST</a:t>
            </a:r>
          </a:p>
        </p:txBody>
      </p:sp>
      <p:sp>
        <p:nvSpPr>
          <p:cNvPr id="15" name="Rectangle 14"/>
          <p:cNvSpPr/>
          <p:nvPr/>
        </p:nvSpPr>
        <p:spPr>
          <a:xfrm>
            <a:off x="1874519" y="3621024"/>
            <a:ext cx="4297680" cy="17922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74519" y="3621024"/>
            <a:ext cx="4297680" cy="822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93975" y="3803904"/>
            <a:ext cx="3886200" cy="310896"/>
          </a:xfrm>
          <a:prstGeom prst="rect">
            <a:avLst/>
          </a:prstGeom>
          <a:noFill/>
        </p:spPr>
        <p:txBody>
          <a:bodyPr wrap="square" anchor="t">
            <a:spAutoFit/>
          </a:bodyPr>
          <a:lstStyle/>
          <a:p>
            <a:pPr algn="l">
              <a:spcAft>
                <a:spcPts val="400"/>
              </a:spcAft>
            </a:pPr>
            <a:r>
              <a:rPr sz="1300" b="1">
                <a:solidFill>
                  <a:srgbClr val="5B6372"/>
                </a:solidFill>
                <a:latin typeface="Arial"/>
              </a:rPr>
              <a:t>THANKLESS TASKS</a:t>
            </a:r>
          </a:p>
        </p:txBody>
      </p:sp>
      <p:sp>
        <p:nvSpPr>
          <p:cNvPr id="18" name="TextBox 17"/>
          <p:cNvSpPr txBox="1"/>
          <p:nvPr/>
        </p:nvSpPr>
        <p:spPr>
          <a:xfrm>
            <a:off x="2093975" y="4187952"/>
            <a:ext cx="3886200" cy="1078992"/>
          </a:xfrm>
          <a:prstGeom prst="rect">
            <a:avLst/>
          </a:prstGeom>
          <a:noFill/>
        </p:spPr>
        <p:txBody>
          <a:bodyPr wrap="square">
            <a:spAutoFit/>
          </a:bodyPr>
          <a:lstStyle/>
          <a:p>
            <a:pPr>
              <a:spcAft>
                <a:spcPts val="300"/>
              </a:spcAft>
            </a:pPr>
            <a:r>
              <a:rPr sz="1000">
                <a:solidFill>
                  <a:srgbClr val="161B26"/>
                </a:solidFill>
                <a:latin typeface="Arial"/>
              </a:rPr>
              <a:t>• Low impact, hard to do</a:t>
            </a:r>
          </a:p>
          <a:p>
            <a:pPr>
              <a:spcAft>
                <a:spcPts val="300"/>
              </a:spcAft>
            </a:pPr>
            <a:r>
              <a:rPr sz="1000">
                <a:solidFill>
                  <a:srgbClr val="161B26"/>
                </a:solidFill>
                <a:latin typeface="Arial"/>
              </a:rPr>
              <a:t>• New seventh centre</a:t>
            </a:r>
          </a:p>
          <a:p>
            <a:pPr>
              <a:spcAft>
                <a:spcPts val="300"/>
              </a:spcAft>
            </a:pPr>
            <a:r>
              <a:rPr sz="1000">
                <a:solidFill>
                  <a:srgbClr val="161B26"/>
                </a:solidFill>
                <a:latin typeface="Arial"/>
              </a:rPr>
              <a:t>• Full HR system replacement</a:t>
            </a:r>
          </a:p>
          <a:p>
            <a:pPr>
              <a:spcAft>
                <a:spcPts val="300"/>
              </a:spcAft>
            </a:pPr>
            <a:r>
              <a:rPr sz="1000">
                <a:solidFill>
                  <a:srgbClr val="161B26"/>
                </a:solidFill>
                <a:latin typeface="Arial"/>
              </a:rPr>
              <a:t>• Do not start these</a:t>
            </a:r>
          </a:p>
        </p:txBody>
      </p:sp>
      <p:sp>
        <p:nvSpPr>
          <p:cNvPr id="19" name="Rectangle 18"/>
          <p:cNvSpPr/>
          <p:nvPr/>
        </p:nvSpPr>
        <p:spPr>
          <a:xfrm>
            <a:off x="6172199" y="3621024"/>
            <a:ext cx="4297680" cy="179222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199" y="3621024"/>
            <a:ext cx="42976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5" y="3803904"/>
            <a:ext cx="3886200" cy="310896"/>
          </a:xfrm>
          <a:prstGeom prst="rect">
            <a:avLst/>
          </a:prstGeom>
          <a:noFill/>
        </p:spPr>
        <p:txBody>
          <a:bodyPr wrap="square" anchor="t">
            <a:spAutoFit/>
          </a:bodyPr>
          <a:lstStyle/>
          <a:p>
            <a:pPr algn="l">
              <a:spcAft>
                <a:spcPts val="400"/>
              </a:spcAft>
            </a:pPr>
            <a:r>
              <a:rPr sz="1300" b="1">
                <a:solidFill>
                  <a:srgbClr val="F59E0B"/>
                </a:solidFill>
                <a:latin typeface="Arial"/>
              </a:rPr>
              <a:t>FILL-INS</a:t>
            </a:r>
          </a:p>
        </p:txBody>
      </p:sp>
      <p:sp>
        <p:nvSpPr>
          <p:cNvPr id="22" name="TextBox 21"/>
          <p:cNvSpPr txBox="1"/>
          <p:nvPr/>
        </p:nvSpPr>
        <p:spPr>
          <a:xfrm>
            <a:off x="6391655" y="4187952"/>
            <a:ext cx="3886200" cy="1078992"/>
          </a:xfrm>
          <a:prstGeom prst="rect">
            <a:avLst/>
          </a:prstGeom>
          <a:noFill/>
        </p:spPr>
        <p:txBody>
          <a:bodyPr wrap="square">
            <a:spAutoFit/>
          </a:bodyPr>
          <a:lstStyle/>
          <a:p>
            <a:pPr>
              <a:spcAft>
                <a:spcPts val="300"/>
              </a:spcAft>
            </a:pPr>
            <a:r>
              <a:rPr sz="1000">
                <a:solidFill>
                  <a:srgbClr val="161B26"/>
                </a:solidFill>
                <a:latin typeface="Arial"/>
              </a:rPr>
              <a:t>• Low impact, easy to do</a:t>
            </a:r>
          </a:p>
          <a:p>
            <a:pPr>
              <a:spcAft>
                <a:spcPts val="300"/>
              </a:spcAft>
            </a:pPr>
            <a:r>
              <a:rPr sz="1000">
                <a:solidFill>
                  <a:srgbClr val="161B26"/>
                </a:solidFill>
                <a:latin typeface="Arial"/>
              </a:rPr>
              <a:t>• Updated signage and leaflets</a:t>
            </a:r>
          </a:p>
          <a:p>
            <a:pPr>
              <a:spcAft>
                <a:spcPts val="300"/>
              </a:spcAft>
            </a:pPr>
            <a:r>
              <a:rPr sz="1000">
                <a:solidFill>
                  <a:srgbClr val="161B26"/>
                </a:solidFill>
                <a:latin typeface="Arial"/>
              </a:rPr>
              <a:t>• Minor booking-form tweaks</a:t>
            </a:r>
          </a:p>
          <a:p>
            <a:pPr>
              <a:spcAft>
                <a:spcPts val="300"/>
              </a:spcAft>
            </a:pPr>
            <a:r>
              <a:rPr sz="1000">
                <a:solidFill>
                  <a:srgbClr val="161B26"/>
                </a:solidFill>
                <a:latin typeface="Arial"/>
              </a:rPr>
              <a:t>• Do if you have spare capacity</a:t>
            </a:r>
          </a:p>
        </p:txBody>
      </p:sp>
      <p:cxnSp>
        <p:nvCxnSpPr>
          <p:cNvPr id="23" name="Connector 22"/>
          <p:cNvCxnSpPr/>
          <p:nvPr/>
        </p:nvCxnSpPr>
        <p:spPr>
          <a:xfrm>
            <a:off x="1874519" y="5413248"/>
            <a:ext cx="8595360" cy="0"/>
          </a:xfrm>
          <a:prstGeom prst="line">
            <a:avLst/>
          </a:prstGeom>
          <a:ln w="25400">
            <a:solidFill>
              <a:srgbClr val="161B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874519" y="1828800"/>
            <a:ext cx="0" cy="3584448"/>
          </a:xfrm>
          <a:prstGeom prst="line">
            <a:avLst/>
          </a:prstGeom>
          <a:ln w="25400">
            <a:solidFill>
              <a:srgbClr val="161B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874519" y="5522976"/>
            <a:ext cx="8595360" cy="329184"/>
          </a:xfrm>
          <a:prstGeom prst="rect">
            <a:avLst/>
          </a:prstGeom>
          <a:noFill/>
        </p:spPr>
        <p:txBody>
          <a:bodyPr wrap="square" anchor="t">
            <a:spAutoFit/>
          </a:bodyPr>
          <a:lstStyle/>
          <a:p>
            <a:pPr algn="ctr">
              <a:spcAft>
                <a:spcPts val="400"/>
              </a:spcAft>
            </a:pPr>
            <a:r>
              <a:rPr sz="1150" b="1">
                <a:solidFill>
                  <a:srgbClr val="161B26"/>
                </a:solidFill>
                <a:latin typeface="Arial"/>
              </a:rPr>
              <a:t>EASE OF IMPLEMENTATION</a:t>
            </a:r>
          </a:p>
        </p:txBody>
      </p:sp>
      <p:sp>
        <p:nvSpPr>
          <p:cNvPr id="26" name="TextBox 25"/>
          <p:cNvSpPr txBox="1"/>
          <p:nvPr/>
        </p:nvSpPr>
        <p:spPr>
          <a:xfrm>
            <a:off x="320040" y="2798064"/>
            <a:ext cx="1371600" cy="1645920"/>
          </a:xfrm>
          <a:prstGeom prst="rect">
            <a:avLst/>
          </a:prstGeom>
          <a:noFill/>
        </p:spPr>
        <p:txBody>
          <a:bodyPr wrap="square" anchor="ctr" vert="vert270">
            <a:spAutoFit/>
          </a:bodyPr>
          <a:lstStyle/>
          <a:p>
            <a:pPr algn="ctr">
              <a:spcAft>
                <a:spcPts val="400"/>
              </a:spcAft>
            </a:pPr>
            <a:r>
              <a:rPr sz="1150" b="1">
                <a:solidFill>
                  <a:srgbClr val="161B26"/>
                </a:solidFill>
                <a:latin typeface="Arial"/>
              </a:rPr>
              <a:t>IMPACT</a:t>
            </a:r>
          </a:p>
        </p:txBody>
      </p:sp>
      <p:sp>
        <p:nvSpPr>
          <p:cNvPr id="27" name="Rectangle 26"/>
          <p:cNvSpPr/>
          <p:nvPr/>
        </p:nvSpPr>
        <p:spPr>
          <a:xfrm>
            <a:off x="777240" y="5870448"/>
            <a:ext cx="10634472" cy="402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870448"/>
            <a:ext cx="82296" cy="402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870448"/>
            <a:ext cx="10149840" cy="402336"/>
          </a:xfrm>
          <a:prstGeom prst="rect">
            <a:avLst/>
          </a:prstGeom>
          <a:noFill/>
        </p:spPr>
        <p:txBody>
          <a:bodyPr wrap="square" anchor="ctr">
            <a:spAutoFit/>
          </a:bodyPr>
          <a:lstStyle/>
          <a:p>
            <a:pPr algn="l">
              <a:spcAft>
                <a:spcPts val="400"/>
              </a:spcAft>
            </a:pPr>
            <a:r>
              <a:rPr sz="1050" b="0">
                <a:solidFill>
                  <a:srgbClr val="5B6372"/>
                </a:solidFill>
                <a:latin typeface="Arial"/>
              </a:rPr>
              <a:t>Quick Wins build momentum and credibility. Big Bets deliver the durable fix. You need both.</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K6  ·  DECISION MODELS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Weighted Decision Matrix — the Rigorous Instrument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Criterion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Weight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a 5 looks like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Impact on root cause</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35%</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Directly fixes the diagnosed root cause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Speed to measurable effect</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20%</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Effect visible within 8 weeks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Cost within envelope</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20%</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Under S$25k</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Clinical / regulatory risk</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15%</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MOH implication at all</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Staff and client acceptance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10%</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Actively welcomed by both</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Agree the WEIGHTS before any scoring. Most 'score arguments' are really weight disagreements.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SENSITIVITY TESTING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If doubling one weight flips your winner, your recommendation is fragile.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Run the sensitivity test before you present, not after you are challenged. Boards trust robust answers.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USE THEM IN SEQUENCE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 Tools, Two Jobs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Impact-Ease matrix</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Weighted decision matrix</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Speed</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Minutes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30-45 minutes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Use on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20 ideas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surviving 6-8</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Output</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Four quadrants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ranked, scored list</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Defensibility</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Directional</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Auditable — you can show a board</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Risk if used alone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Cannot justify the call</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Wastes the session on weak ideas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Screen with the light tool; decide with the heavy one.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2  ·  PROMPT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Convergence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1638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2889504"/>
          </a:xfrm>
          <a:prstGeom prst="rect">
            <a:avLst/>
          </a:prstGeom>
          <a:noFill/>
        </p:spPr>
        <p:txBody>
          <a:bodyPr wrap="square">
            <a:spAutoFit/>
          </a:bodyPr>
          <a:lstStyle/>
          <a:p>
            <a:pPr>
              <a:spcAft>
                <a:spcPts val="150"/>
              </a:spcAft>
            </a:pPr>
            <a:r>
              <a:rPr sz="650" b="0">
                <a:solidFill>
                  <a:srgbClr val="D4D4D4"/>
                </a:solidFill>
                <a:latin typeface="Consolas"/>
              </a:rPr>
              <a:t>Act as a decision analyst. I will give you a list of candidate solutions. Do NOT add new ideas.</a:t>
            </a:r>
          </a:p>
          <a:p>
            <a:pPr>
              <a:spcAft>
                <a:spcPts val="150"/>
              </a:spcAft>
            </a:pPr>
            <a:r>
              <a:rPr sz="650" b="0">
                <a:solidFill>
                  <a:srgbClr val="D4D4D4"/>
                </a:solidFill>
                <a:latin typeface="Consolas"/>
              </a:rPr>
              <a:t> </a:t>
            </a:r>
          </a:p>
          <a:p>
            <a:pPr>
              <a:spcAft>
                <a:spcPts val="150"/>
              </a:spcAft>
            </a:pPr>
            <a:r>
              <a:rPr sz="650" b="0">
                <a:solidFill>
                  <a:srgbClr val="D4D4D4"/>
                </a:solidFill>
                <a:latin typeface="Consolas"/>
              </a:rPr>
              <a:t>STEP 1 — Classify every solution on an Impact vs Ease matrix as exactly one of:</a:t>
            </a:r>
          </a:p>
          <a:p>
            <a:pPr>
              <a:spcAft>
                <a:spcPts val="150"/>
              </a:spcAft>
            </a:pPr>
            <a:r>
              <a:rPr sz="650" b="0">
                <a:solidFill>
                  <a:srgbClr val="9CDCFE"/>
                </a:solidFill>
                <a:latin typeface="Consolas"/>
              </a:rPr>
              <a:t>- Quick Win (high impact, easy)</a:t>
            </a:r>
          </a:p>
          <a:p>
            <a:pPr>
              <a:spcAft>
                <a:spcPts val="150"/>
              </a:spcAft>
            </a:pPr>
            <a:r>
              <a:rPr sz="650" b="0">
                <a:solidFill>
                  <a:srgbClr val="9CDCFE"/>
                </a:solidFill>
                <a:latin typeface="Consolas"/>
              </a:rPr>
              <a:t>- Big Bet (high impact, hard)</a:t>
            </a:r>
          </a:p>
          <a:p>
            <a:pPr>
              <a:spcAft>
                <a:spcPts val="150"/>
              </a:spcAft>
            </a:pPr>
            <a:r>
              <a:rPr sz="650" b="0">
                <a:solidFill>
                  <a:srgbClr val="9CDCFE"/>
                </a:solidFill>
                <a:latin typeface="Consolas"/>
              </a:rPr>
              <a:t>- Fill-In (low impact, easy)</a:t>
            </a:r>
          </a:p>
          <a:p>
            <a:pPr>
              <a:spcAft>
                <a:spcPts val="150"/>
              </a:spcAft>
            </a:pPr>
            <a:r>
              <a:rPr sz="650" b="0">
                <a:solidFill>
                  <a:srgbClr val="9CDCFE"/>
                </a:solidFill>
                <a:latin typeface="Consolas"/>
              </a:rPr>
              <a:t>- Thankless Task (low impact, hard)</a:t>
            </a:r>
          </a:p>
          <a:p>
            <a:pPr>
              <a:spcAft>
                <a:spcPts val="150"/>
              </a:spcAft>
            </a:pPr>
            <a:r>
              <a:rPr sz="650" b="0">
                <a:solidFill>
                  <a:srgbClr val="D4D4D4"/>
                </a:solidFill>
                <a:latin typeface="Consolas"/>
              </a:rPr>
              <a:t>Give a one-line reason for each placement.</a:t>
            </a:r>
          </a:p>
          <a:p>
            <a:pPr>
              <a:spcAft>
                <a:spcPts val="150"/>
              </a:spcAft>
            </a:pPr>
            <a:r>
              <a:rPr sz="650" b="0">
                <a:solidFill>
                  <a:srgbClr val="D4D4D4"/>
                </a:solidFill>
                <a:latin typeface="Consolas"/>
              </a:rPr>
              <a:t> </a:t>
            </a:r>
          </a:p>
          <a:p>
            <a:pPr>
              <a:spcAft>
                <a:spcPts val="150"/>
              </a:spcAft>
            </a:pPr>
            <a:r>
              <a:rPr sz="650" b="0">
                <a:solidFill>
                  <a:srgbClr val="D4D4D4"/>
                </a:solidFill>
                <a:latin typeface="Consolas"/>
              </a:rPr>
              <a:t>STEP 2 — Take only the Quick Wins and Big Bets and score them in a weighted decision matrix:</a:t>
            </a:r>
          </a:p>
          <a:p>
            <a:pPr>
              <a:spcAft>
                <a:spcPts val="150"/>
              </a:spcAft>
            </a:pPr>
            <a:r>
              <a:rPr sz="650" b="0">
                <a:solidFill>
                  <a:srgbClr val="9CDCFE"/>
                </a:solidFill>
                <a:latin typeface="Consolas"/>
              </a:rPr>
              <a:t>- Impact on root cause (weight 35%)</a:t>
            </a:r>
          </a:p>
          <a:p>
            <a:pPr>
              <a:spcAft>
                <a:spcPts val="150"/>
              </a:spcAft>
            </a:pPr>
            <a:r>
              <a:rPr sz="650" b="0">
                <a:solidFill>
                  <a:srgbClr val="9CDCFE"/>
                </a:solidFill>
                <a:latin typeface="Consolas"/>
              </a:rPr>
              <a:t>- Speed to measurable effect (20%)</a:t>
            </a:r>
          </a:p>
          <a:p>
            <a:pPr>
              <a:spcAft>
                <a:spcPts val="150"/>
              </a:spcAft>
            </a:pPr>
            <a:r>
              <a:rPr sz="650" b="0">
                <a:solidFill>
                  <a:srgbClr val="9CDCFE"/>
                </a:solidFill>
                <a:latin typeface="Consolas"/>
              </a:rPr>
              <a:t>- Cost within a S$250k envelope (20%)</a:t>
            </a:r>
          </a:p>
          <a:p>
            <a:pPr>
              <a:spcAft>
                <a:spcPts val="150"/>
              </a:spcAft>
            </a:pPr>
            <a:r>
              <a:rPr sz="650" b="0">
                <a:solidFill>
                  <a:srgbClr val="9CDCFE"/>
                </a:solidFill>
                <a:latin typeface="Consolas"/>
              </a:rPr>
              <a:t>- Clinical/regulatory risk (15%)</a:t>
            </a:r>
          </a:p>
          <a:p>
            <a:pPr>
              <a:spcAft>
                <a:spcPts val="150"/>
              </a:spcAft>
            </a:pPr>
            <a:r>
              <a:rPr sz="650" b="0">
                <a:solidFill>
                  <a:srgbClr val="9CDCFE"/>
                </a:solidFill>
                <a:latin typeface="Consolas"/>
              </a:rPr>
              <a:t>- Staff and client acceptance (10%)</a:t>
            </a:r>
          </a:p>
          <a:p>
            <a:pPr>
              <a:spcAft>
                <a:spcPts val="150"/>
              </a:spcAft>
            </a:pPr>
            <a:r>
              <a:rPr sz="650" b="0">
                <a:solidFill>
                  <a:srgbClr val="D4D4D4"/>
                </a:solidFill>
                <a:latin typeface="Consolas"/>
              </a:rPr>
              <a:t>Score each 1-5, show the weighted total, and rank them.</a:t>
            </a:r>
          </a:p>
          <a:p>
            <a:pPr>
              <a:spcAft>
                <a:spcPts val="150"/>
              </a:spcAft>
            </a:pPr>
            <a:r>
              <a:rPr sz="650" b="0">
                <a:solidFill>
                  <a:srgbClr val="D4D4D4"/>
                </a:solidFill>
                <a:latin typeface="Consolas"/>
              </a:rPr>
              <a:t> </a:t>
            </a:r>
          </a:p>
          <a:p>
            <a:pPr>
              <a:spcAft>
                <a:spcPts val="150"/>
              </a:spcAft>
            </a:pPr>
            <a:r>
              <a:rPr sz="650" b="0">
                <a:solidFill>
                  <a:srgbClr val="D4D4D4"/>
                </a:solidFill>
                <a:latin typeface="Consolas"/>
              </a:rPr>
              <a:t>STEP 3 — Recommend the best FOUR as a portfolio, and explicitly state:</a:t>
            </a:r>
          </a:p>
          <a:p>
            <a:pPr>
              <a:spcAft>
                <a:spcPts val="150"/>
              </a:spcAft>
            </a:pPr>
            <a:r>
              <a:rPr sz="650" b="0">
                <a:solidFill>
                  <a:srgbClr val="9CDCFE"/>
                </a:solidFill>
                <a:latin typeface="Consolas"/>
              </a:rPr>
              <a:t>- why this combination is stronger than the top four individual scores</a:t>
            </a:r>
          </a:p>
          <a:p>
            <a:pPr>
              <a:spcAft>
                <a:spcPts val="150"/>
              </a:spcAft>
            </a:pPr>
            <a:r>
              <a:rPr sz="650" b="0">
                <a:solidFill>
                  <a:srgbClr val="9CDCFE"/>
                </a:solidFill>
                <a:latin typeface="Consolas"/>
              </a:rPr>
              <a:t>- which two solutions overlap or make each other redundant</a:t>
            </a:r>
          </a:p>
          <a:p>
            <a:pPr>
              <a:spcAft>
                <a:spcPts val="150"/>
              </a:spcAft>
            </a:pPr>
            <a:r>
              <a:rPr sz="650" b="0">
                <a:solidFill>
                  <a:srgbClr val="9CDCFE"/>
                </a:solidFill>
                <a:latin typeface="Consolas"/>
              </a:rPr>
              <a:t>- what the portfolio still leaves unaddressed</a:t>
            </a:r>
          </a:p>
          <a:p>
            <a:pPr>
              <a:spcAft>
                <a:spcPts val="150"/>
              </a:spcAft>
            </a:pPr>
            <a:r>
              <a:rPr sz="650" b="0">
                <a:solidFill>
                  <a:srgbClr val="D4D4D4"/>
                </a:solidFill>
                <a:latin typeface="Consolas"/>
              </a:rPr>
              <a:t> </a:t>
            </a:r>
          </a:p>
          <a:p>
            <a:pPr>
              <a:spcAft>
                <a:spcPts val="150"/>
              </a:spcAft>
            </a:pPr>
            <a:r>
              <a:rPr sz="650" b="0">
                <a:solidFill>
                  <a:srgbClr val="D4D4D4"/>
                </a:solidFill>
                <a:latin typeface="Consolas"/>
              </a:rPr>
              <a:t>Solutions: [paste your team's list here]</a:t>
            </a:r>
          </a:p>
        </p:txBody>
      </p:sp>
      <p:sp>
        <p:nvSpPr>
          <p:cNvPr id="12" name="Rectangle 11"/>
          <p:cNvSpPr/>
          <p:nvPr/>
        </p:nvSpPr>
        <p:spPr>
          <a:xfrm>
            <a:off x="777240" y="5541264"/>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541264"/>
            <a:ext cx="8229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541264"/>
            <a:ext cx="10149840" cy="713232"/>
          </a:xfrm>
          <a:prstGeom prst="rect">
            <a:avLst/>
          </a:prstGeom>
          <a:noFill/>
        </p:spPr>
        <p:txBody>
          <a:bodyPr wrap="square" anchor="ctr">
            <a:spAutoFit/>
          </a:bodyPr>
          <a:lstStyle/>
          <a:p>
            <a:pPr algn="l">
              <a:spcAft>
                <a:spcPts val="400"/>
              </a:spcAft>
            </a:pPr>
            <a:r>
              <a:rPr sz="1050" b="1">
                <a:solidFill>
                  <a:srgbClr val="F59E0B"/>
                </a:solidFill>
                <a:latin typeface="Arial"/>
              </a:rPr>
              <a:t>WATCH FOR  </a:t>
            </a:r>
            <a:r>
              <a:rPr sz="1150" b="0">
                <a:solidFill>
                  <a:srgbClr val="161B26"/>
                </a:solidFill>
                <a:latin typeface="Arial"/>
              </a:rPr>
              <a:t>The AI invents cost figures with total confidence. Its ranking is only as good as your criteria.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Activity 7 — Converging: Impact-Ease Matrix and Weighted Decision Matrix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46304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463040" cy="402336"/>
          </a:xfrm>
          <a:prstGeom prst="rect">
            <a:avLst/>
          </a:prstGeom>
          <a:noFill/>
        </p:spPr>
        <p:txBody>
          <a:bodyPr wrap="square" anchor="ctr">
            <a:spAutoFit/>
          </a:bodyPr>
          <a:lstStyle/>
          <a:p>
            <a:pPr algn="ctr">
              <a:spcAft>
                <a:spcPts val="400"/>
              </a:spcAft>
            </a:pPr>
            <a:r>
              <a:rPr sz="1400" b="1">
                <a:solidFill>
                  <a:srgbClr val="FFFFFF"/>
                </a:solidFill>
                <a:latin typeface="Arial"/>
              </a:rPr>
              <a:t>ACTIVITY 7</a:t>
            </a:r>
          </a:p>
        </p:txBody>
      </p:sp>
      <p:sp>
        <p:nvSpPr>
          <p:cNvPr id="9" name="TextBox 8"/>
          <p:cNvSpPr txBox="1"/>
          <p:nvPr/>
        </p:nvSpPr>
        <p:spPr>
          <a:xfrm>
            <a:off x="2395728" y="1719072"/>
            <a:ext cx="8961120" cy="402336"/>
          </a:xfrm>
          <a:prstGeom prst="rect">
            <a:avLst/>
          </a:prstGeom>
          <a:noFill/>
        </p:spPr>
        <p:txBody>
          <a:bodyPr wrap="square" anchor="ctr">
            <a:spAutoFit/>
          </a:bodyPr>
          <a:lstStyle/>
          <a:p>
            <a:pPr algn="l">
              <a:spcAft>
                <a:spcPts val="400"/>
              </a:spcAft>
            </a:pPr>
            <a:r>
              <a:rPr sz="1100" b="0">
                <a:solidFill>
                  <a:srgbClr val="5B6372"/>
                </a:solidFill>
                <a:latin typeface="Arial"/>
              </a:rPr>
              <a:t>A5 · K4, K6 — Shortlist and evaluate the most viable ideas using decision-making techniques.</a:t>
            </a:r>
          </a:p>
        </p:txBody>
      </p:sp>
      <p:sp>
        <p:nvSpPr>
          <p:cNvPr id="10" name="Rectangle 9"/>
          <p:cNvSpPr/>
          <p:nvPr/>
        </p:nvSpPr>
        <p:spPr>
          <a:xfrm>
            <a:off x="777240" y="228600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14016"/>
            <a:ext cx="10149840" cy="329184"/>
          </a:xfrm>
          <a:prstGeom prst="rect">
            <a:avLst/>
          </a:prstGeom>
          <a:noFill/>
        </p:spPr>
        <p:txBody>
          <a:bodyPr wrap="square" anchor="t">
            <a:spAutoFit/>
          </a:bodyPr>
          <a:lstStyle/>
          <a:p>
            <a:pPr algn="l">
              <a:spcAft>
                <a:spcPts val="400"/>
              </a:spcAft>
            </a:pPr>
            <a:r>
              <a:rPr sz="1550" b="1">
                <a:solidFill>
                  <a:srgbClr val="161B26"/>
                </a:solidFill>
                <a:latin typeface="Arial"/>
              </a:rPr>
              <a:t>Meridian Health — choosing four from twenty</a:t>
            </a:r>
          </a:p>
        </p:txBody>
      </p:sp>
      <p:sp>
        <p:nvSpPr>
          <p:cNvPr id="13" name="TextBox 12"/>
          <p:cNvSpPr txBox="1"/>
          <p:nvPr/>
        </p:nvSpPr>
        <p:spPr>
          <a:xfrm>
            <a:off x="1078992" y="2779776"/>
            <a:ext cx="10149840" cy="731520"/>
          </a:xfrm>
          <a:prstGeom prst="rect">
            <a:avLst/>
          </a:prstGeom>
          <a:noFill/>
        </p:spPr>
        <p:txBody>
          <a:bodyPr wrap="square" anchor="t">
            <a:spAutoFit/>
          </a:bodyPr>
          <a:lstStyle/>
          <a:p>
            <a:pPr algn="l">
              <a:spcAft>
                <a:spcPts val="400"/>
              </a:spcAft>
            </a:pPr>
            <a:r>
              <a:rPr sz="1250" b="0">
                <a:solidFill>
                  <a:srgbClr val="5B6372"/>
                </a:solidFill>
                <a:latin typeface="Arial"/>
              </a:rPr>
              <a:t>Screen twenty ideas down to four fundable solutions — and defend the ranking with evidence.</a:t>
            </a:r>
          </a:p>
        </p:txBody>
      </p:sp>
      <p:sp>
        <p:nvSpPr>
          <p:cNvPr id="14" name="Rectangle 13"/>
          <p:cNvSpPr/>
          <p:nvPr/>
        </p:nvSpPr>
        <p:spPr>
          <a:xfrm>
            <a:off x="777240"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85615"/>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31920"/>
            <a:ext cx="2980944" cy="292608"/>
          </a:xfrm>
          <a:prstGeom prst="rect">
            <a:avLst/>
          </a:prstGeom>
          <a:noFill/>
        </p:spPr>
        <p:txBody>
          <a:bodyPr wrap="square" anchor="t">
            <a:spAutoFit/>
          </a:bodyPr>
          <a:lstStyle/>
          <a:p>
            <a:pPr algn="l">
              <a:spcAft>
                <a:spcPts val="400"/>
              </a:spcAft>
            </a:pPr>
            <a:r>
              <a:rPr sz="1100" b="1">
                <a:solidFill>
                  <a:srgbClr val="1F6FEB"/>
                </a:solidFill>
                <a:latin typeface="Arial"/>
              </a:rPr>
              <a:t>TEAM</a:t>
            </a:r>
          </a:p>
        </p:txBody>
      </p:sp>
      <p:sp>
        <p:nvSpPr>
          <p:cNvPr id="17" name="TextBox 16"/>
          <p:cNvSpPr txBox="1"/>
          <p:nvPr/>
        </p:nvSpPr>
        <p:spPr>
          <a:xfrm>
            <a:off x="996696"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Teams of 3-5</a:t>
            </a:r>
          </a:p>
        </p:txBody>
      </p:sp>
      <p:sp>
        <p:nvSpPr>
          <p:cNvPr id="18" name="Rectangle 17"/>
          <p:cNvSpPr/>
          <p:nvPr/>
        </p:nvSpPr>
        <p:spPr>
          <a:xfrm>
            <a:off x="4398264"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85615"/>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31920"/>
            <a:ext cx="2980944" cy="292608"/>
          </a:xfrm>
          <a:prstGeom prst="rect">
            <a:avLst/>
          </a:prstGeom>
          <a:noFill/>
        </p:spPr>
        <p:txBody>
          <a:bodyPr wrap="square" anchor="t">
            <a:spAutoFit/>
          </a:bodyPr>
          <a:lstStyle/>
          <a:p>
            <a:pPr algn="l">
              <a:spcAft>
                <a:spcPts val="400"/>
              </a:spcAft>
            </a:pPr>
            <a:r>
              <a:rPr sz="1100" b="1">
                <a:solidFill>
                  <a:srgbClr val="10B981"/>
                </a:solidFill>
                <a:latin typeface="Arial"/>
              </a:rPr>
              <a:t>TIME</a:t>
            </a:r>
          </a:p>
        </p:txBody>
      </p:sp>
      <p:sp>
        <p:nvSpPr>
          <p:cNvPr id="21" name="TextBox 20"/>
          <p:cNvSpPr txBox="1"/>
          <p:nvPr/>
        </p:nvSpPr>
        <p:spPr>
          <a:xfrm>
            <a:off x="4617720"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50 minutes</a:t>
            </a:r>
          </a:p>
        </p:txBody>
      </p:sp>
      <p:sp>
        <p:nvSpPr>
          <p:cNvPr id="22" name="Rectangle 21"/>
          <p:cNvSpPr/>
          <p:nvPr/>
        </p:nvSpPr>
        <p:spPr>
          <a:xfrm>
            <a:off x="8019288"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85615"/>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31920"/>
            <a:ext cx="2980944" cy="292608"/>
          </a:xfrm>
          <a:prstGeom prst="rect">
            <a:avLst/>
          </a:prstGeom>
          <a:noFill/>
        </p:spPr>
        <p:txBody>
          <a:bodyPr wrap="square" anchor="t">
            <a:spAutoFit/>
          </a:bodyPr>
          <a:lstStyle/>
          <a:p>
            <a:pPr algn="l">
              <a:spcAft>
                <a:spcPts val="400"/>
              </a:spcAft>
            </a:pPr>
            <a:r>
              <a:rPr sz="1100" b="1">
                <a:solidFill>
                  <a:srgbClr val="7C3AED"/>
                </a:solidFill>
                <a:latin typeface="Arial"/>
              </a:rPr>
              <a:t>TOOL</a:t>
            </a:r>
          </a:p>
        </p:txBody>
      </p:sp>
      <p:sp>
        <p:nvSpPr>
          <p:cNvPr id="25" name="TextBox 24"/>
          <p:cNvSpPr txBox="1"/>
          <p:nvPr/>
        </p:nvSpPr>
        <p:spPr>
          <a:xfrm>
            <a:off x="8238744" y="4261104"/>
            <a:ext cx="2980944" cy="914400"/>
          </a:xfrm>
          <a:prstGeom prst="rect">
            <a:avLst/>
          </a:prstGeom>
          <a:noFill/>
        </p:spPr>
        <p:txBody>
          <a:bodyPr wrap="square" anchor="t">
            <a:spAutoFit/>
          </a:bodyPr>
          <a:lstStyle/>
          <a:p>
            <a:pPr algn="l">
              <a:spcAft>
                <a:spcPts val="400"/>
              </a:spcAft>
            </a:pPr>
            <a:r>
              <a:rPr sz="1050" b="0">
                <a:solidFill>
                  <a:srgbClr val="161B26"/>
                </a:solidFill>
                <a:latin typeface="Arial"/>
              </a:rPr>
              <a:t>Pinboard · https://alfredang.github.io/pinboard/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7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Situation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02336"/>
          </a:xfrm>
          <a:prstGeom prst="rect">
            <a:avLst/>
          </a:prstGeom>
          <a:noFill/>
        </p:spPr>
        <p:txBody>
          <a:bodyPr wrap="square" anchor="ctr">
            <a:spAutoFit/>
          </a:bodyPr>
          <a:lstStyle/>
          <a:p>
            <a:pPr algn="ctr">
              <a:spcAft>
                <a:spcPts val="400"/>
              </a:spcAft>
            </a:pPr>
            <a:r>
              <a:rPr sz="1200" b="1">
                <a:solidFill>
                  <a:srgbClr val="FFFFFF"/>
                </a:solidFill>
                <a:latin typeface="Arial"/>
              </a:rPr>
              <a:t>CASE STUDY</a:t>
            </a:r>
          </a:p>
        </p:txBody>
      </p:sp>
      <p:sp>
        <p:nvSpPr>
          <p:cNvPr id="9" name="TextBox 8"/>
          <p:cNvSpPr txBox="1"/>
          <p:nvPr/>
        </p:nvSpPr>
        <p:spPr>
          <a:xfrm>
            <a:off x="2633472" y="1719072"/>
            <a:ext cx="8778240" cy="402336"/>
          </a:xfrm>
          <a:prstGeom prst="rect">
            <a:avLst/>
          </a:prstGeom>
          <a:noFill/>
        </p:spPr>
        <p:txBody>
          <a:bodyPr wrap="square" anchor="ctr">
            <a:spAutoFit/>
          </a:bodyPr>
          <a:lstStyle/>
          <a:p>
            <a:pPr algn="l">
              <a:spcAft>
                <a:spcPts val="400"/>
              </a:spcAft>
            </a:pPr>
            <a:r>
              <a:rPr sz="1500" b="1">
                <a:solidFill>
                  <a:srgbClr val="161B26"/>
                </a:solidFill>
                <a:latin typeface="Arial"/>
              </a:rPr>
              <a:t>Meridian Health — choosing four from twenty</a:t>
            </a:r>
          </a:p>
        </p:txBody>
      </p:sp>
      <p:sp>
        <p:nvSpPr>
          <p:cNvPr id="10" name="Rectangle 9"/>
          <p:cNvSpPr/>
          <p:nvPr/>
        </p:nvSpPr>
        <p:spPr>
          <a:xfrm>
            <a:off x="777240" y="2286000"/>
            <a:ext cx="10634472" cy="3931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3931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432304"/>
            <a:ext cx="10058400" cy="3657600"/>
          </a:xfrm>
          <a:prstGeom prst="rect">
            <a:avLst/>
          </a:prstGeom>
          <a:noFill/>
        </p:spPr>
        <p:txBody>
          <a:bodyPr wrap="square">
            <a:spAutoFit/>
          </a:bodyPr>
          <a:lstStyle/>
          <a:p>
            <a:pPr>
              <a:spcAft>
                <a:spcPts val="700"/>
              </a:spcAft>
            </a:pPr>
            <a:r>
              <a:rPr sz="1450">
                <a:solidFill>
                  <a:srgbClr val="161B26"/>
                </a:solidFill>
                <a:latin typeface="Arial"/>
              </a:rPr>
              <a:t>You now hold twenty-plus candidate solutions from Activity 6. The Clinical Director will fund approximately four, inside S$250,000 over 12 months.</a:t>
            </a:r>
          </a:p>
          <a:p>
            <a:pPr>
              <a:spcAft>
                <a:spcPts val="700"/>
              </a:spcAft>
            </a:pPr>
            <a:r>
              <a:rPr sz="1450">
                <a:solidFill>
                  <a:srgbClr val="161B26"/>
                </a:solidFill>
                <a:latin typeface="Arial"/>
              </a:rPr>
              <a:t>Two members of your team are already advocating loudly for their favourite ideas and the discussion is circling. This is exactly the moment where teams either make an evidence-based decision or default to whoever is most senior or most persistent.</a:t>
            </a:r>
          </a:p>
          <a:p>
            <a:pPr>
              <a:spcAft>
                <a:spcPts val="700"/>
              </a:spcAft>
            </a:pPr>
            <a:r>
              <a:rPr sz="1450">
                <a:solidFill>
                  <a:srgbClr val="161B26"/>
                </a:solidFill>
                <a:latin typeface="Arial"/>
              </a:rPr>
              <a:t>Your job is to convert the board into a defensible shortlist using two complementary tools: a fast Impact-Ease screen, then a weighted decision matrix on the survivors.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7  ·  CRITERIA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Decision Criteria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Criterion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Weight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Scoring guidance (1-5)</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Impact on root cause (retention/training)</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35%</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5 = directly fixes the root cause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Speed to measurable effect</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20%</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5 = effect visible within 8 weeks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Cost within S$250k envelope</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20%</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5 = under S$25k</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Clinical/regulatory risk</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15%</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5 = no MOH implication at all</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Staff and client acceptance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10%</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5 = actively welcomed by both</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Meridian Health — agreed decision criteria and weightings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7  ·  BREAKOUT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7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F6FEB"/>
                </a:solidFill>
                <a:latin typeface="Arial"/>
              </a:rPr>
              <a:t>DISCUSSION QUESTIONS</a:t>
            </a:r>
          </a:p>
        </p:txBody>
      </p:sp>
      <p:sp>
        <p:nvSpPr>
          <p:cNvPr id="10" name="Rectangle 9"/>
          <p:cNvSpPr/>
          <p:nvPr/>
        </p:nvSpPr>
        <p:spPr>
          <a:xfrm>
            <a:off x="777240" y="2231136"/>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237561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75611"/>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Q1</a:t>
            </a:r>
          </a:p>
        </p:txBody>
      </p:sp>
      <p:sp>
        <p:nvSpPr>
          <p:cNvPr id="14" name="TextBox 13"/>
          <p:cNvSpPr txBox="1"/>
          <p:nvPr/>
        </p:nvSpPr>
        <p:spPr>
          <a:xfrm>
            <a:off x="1609344" y="2231136"/>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Place all your ideas on the Impact-Ease matrix. Which quadrant is most crowded, and what does a crowded Fill-In quadrant tell you about how your team was thinking?</a:t>
            </a:r>
          </a:p>
        </p:txBody>
      </p:sp>
      <p:sp>
        <p:nvSpPr>
          <p:cNvPr id="15" name="Rectangle 14"/>
          <p:cNvSpPr/>
          <p:nvPr/>
        </p:nvSpPr>
        <p:spPr>
          <a:xfrm>
            <a:off x="777240" y="3059582"/>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59582"/>
            <a:ext cx="82296" cy="7095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32040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204057"/>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Q2</a:t>
            </a:r>
          </a:p>
        </p:txBody>
      </p:sp>
      <p:sp>
        <p:nvSpPr>
          <p:cNvPr id="19" name="TextBox 18"/>
          <p:cNvSpPr txBox="1"/>
          <p:nvPr/>
        </p:nvSpPr>
        <p:spPr>
          <a:xfrm>
            <a:off x="1609344" y="3059582"/>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Run the weighted matrix. Did the top-scoring solution match your team's gut favourite from Activity 6? If not, what did the weighting expose?</a:t>
            </a:r>
          </a:p>
        </p:txBody>
      </p:sp>
      <p:sp>
        <p:nvSpPr>
          <p:cNvPr id="20" name="Rectangle 19"/>
          <p:cNvSpPr/>
          <p:nvPr/>
        </p:nvSpPr>
        <p:spPr>
          <a:xfrm>
            <a:off x="777240" y="3888028"/>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88028"/>
            <a:ext cx="82296" cy="7095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 y="4032503"/>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032503"/>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Q3</a:t>
            </a:r>
          </a:p>
        </p:txBody>
      </p:sp>
      <p:sp>
        <p:nvSpPr>
          <p:cNvPr id="24" name="TextBox 23"/>
          <p:cNvSpPr txBox="1"/>
          <p:nvPr/>
        </p:nvSpPr>
        <p:spPr>
          <a:xfrm>
            <a:off x="1609344" y="3888028"/>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Change the weight on 'Speed to measurable effect' from 20% to 40% and re-rank. Does the winner change? What does that sensitivity tell you about how robust your recommendation is?</a:t>
            </a:r>
          </a:p>
        </p:txBody>
      </p:sp>
      <p:sp>
        <p:nvSpPr>
          <p:cNvPr id="25" name="Rectangle 24"/>
          <p:cNvSpPr/>
          <p:nvPr/>
        </p:nvSpPr>
        <p:spPr>
          <a:xfrm>
            <a:off x="777240" y="4716474"/>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716474"/>
            <a:ext cx="82296" cy="70957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860949"/>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860949"/>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Q4</a:t>
            </a:r>
          </a:p>
        </p:txBody>
      </p:sp>
      <p:sp>
        <p:nvSpPr>
          <p:cNvPr id="29" name="TextBox 28"/>
          <p:cNvSpPr txBox="1"/>
          <p:nvPr/>
        </p:nvSpPr>
        <p:spPr>
          <a:xfrm>
            <a:off x="1609344" y="4716474"/>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The AI recommended a portfolio of four. Explain why the best four INDIVIDUAL scores are not automatically the best four TOGETHER.</a:t>
            </a:r>
          </a:p>
        </p:txBody>
      </p:sp>
      <p:sp>
        <p:nvSpPr>
          <p:cNvPr id="30" name="Rectangle 29"/>
          <p:cNvSpPr/>
          <p:nvPr/>
        </p:nvSpPr>
        <p:spPr>
          <a:xfrm>
            <a:off x="777240" y="5544920"/>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544920"/>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5840" y="5689395"/>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689395"/>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Q5</a:t>
            </a:r>
          </a:p>
        </p:txBody>
      </p:sp>
      <p:sp>
        <p:nvSpPr>
          <p:cNvPr id="34" name="TextBox 33"/>
          <p:cNvSpPr txBox="1"/>
          <p:nvPr/>
        </p:nvSpPr>
        <p:spPr>
          <a:xfrm>
            <a:off x="1609344" y="5544920"/>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Consensus fatigue is when a team accepts a weak option just to end the discussion. Where in this activity was your team most at risk of it, and what stopped you?</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WHAT WE LEARNED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7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0B981"/>
                </a:solidFill>
                <a:latin typeface="Arial"/>
              </a:rPr>
              <a:t>TRAINER DEBRIEF</a:t>
            </a:r>
          </a:p>
        </p:txBody>
      </p:sp>
      <p:sp>
        <p:nvSpPr>
          <p:cNvPr id="10" name="Rectangle 9"/>
          <p:cNvSpPr/>
          <p:nvPr/>
        </p:nvSpPr>
        <p:spPr>
          <a:xfrm>
            <a:off x="777240" y="2231136"/>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31720"/>
            <a:ext cx="10058400" cy="292608"/>
          </a:xfrm>
          <a:prstGeom prst="rect">
            <a:avLst/>
          </a:prstGeom>
          <a:noFill/>
        </p:spPr>
        <p:txBody>
          <a:bodyPr wrap="square" anchor="t">
            <a:spAutoFit/>
          </a:bodyPr>
          <a:lstStyle/>
          <a:p>
            <a:pPr algn="l">
              <a:spcAft>
                <a:spcPts val="400"/>
              </a:spcAft>
            </a:pPr>
            <a:r>
              <a:rPr sz="1050" b="1">
                <a:solidFill>
                  <a:srgbClr val="1F6FEB"/>
                </a:solidFill>
                <a:latin typeface="Arial"/>
              </a:rPr>
              <a:t>THE WEIGHTS ARE THE DECISION</a:t>
            </a:r>
          </a:p>
        </p:txBody>
      </p:sp>
      <p:sp>
        <p:nvSpPr>
          <p:cNvPr id="13" name="TextBox 12"/>
          <p:cNvSpPr txBox="1"/>
          <p:nvPr/>
        </p:nvSpPr>
        <p:spPr>
          <a:xfrm>
            <a:off x="1097280" y="2642616"/>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Surfacing weights BEFORE scoring converts a political argument into an explicit, recorded choice.</a:t>
            </a:r>
          </a:p>
        </p:txBody>
      </p:sp>
      <p:sp>
        <p:nvSpPr>
          <p:cNvPr id="14" name="Rectangle 13"/>
          <p:cNvSpPr/>
          <p:nvPr/>
        </p:nvSpPr>
        <p:spPr>
          <a:xfrm>
            <a:off x="777240" y="3268980"/>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8980"/>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69564"/>
            <a:ext cx="10058400" cy="292608"/>
          </a:xfrm>
          <a:prstGeom prst="rect">
            <a:avLst/>
          </a:prstGeom>
          <a:noFill/>
        </p:spPr>
        <p:txBody>
          <a:bodyPr wrap="square" anchor="t">
            <a:spAutoFit/>
          </a:bodyPr>
          <a:lstStyle/>
          <a:p>
            <a:pPr algn="l">
              <a:spcAft>
                <a:spcPts val="400"/>
              </a:spcAft>
            </a:pPr>
            <a:r>
              <a:rPr sz="1050" b="1">
                <a:solidFill>
                  <a:srgbClr val="10B981"/>
                </a:solidFill>
                <a:latin typeface="Arial"/>
              </a:rPr>
              <a:t>PORTFOLIO, NOT LEADERBOARD</a:t>
            </a:r>
          </a:p>
        </p:txBody>
      </p:sp>
      <p:sp>
        <p:nvSpPr>
          <p:cNvPr id="17" name="TextBox 16"/>
          <p:cNvSpPr txBox="1"/>
          <p:nvPr/>
        </p:nvSpPr>
        <p:spPr>
          <a:xfrm>
            <a:off x="1097280" y="3680460"/>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The top four scores may all attack the same cause, or be redundant. Balance quick stabilisation against durable repair.</a:t>
            </a:r>
          </a:p>
        </p:txBody>
      </p:sp>
      <p:sp>
        <p:nvSpPr>
          <p:cNvPr id="18" name="Rectangle 17"/>
          <p:cNvSpPr/>
          <p:nvPr/>
        </p:nvSpPr>
        <p:spPr>
          <a:xfrm>
            <a:off x="777240" y="4306824"/>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06824"/>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10058400" cy="292608"/>
          </a:xfrm>
          <a:prstGeom prst="rect">
            <a:avLst/>
          </a:prstGeom>
          <a:noFill/>
        </p:spPr>
        <p:txBody>
          <a:bodyPr wrap="square" anchor="t">
            <a:spAutoFit/>
          </a:bodyPr>
          <a:lstStyle/>
          <a:p>
            <a:pPr algn="l">
              <a:spcAft>
                <a:spcPts val="400"/>
              </a:spcAft>
            </a:pPr>
            <a:r>
              <a:rPr sz="1050" b="1">
                <a:solidFill>
                  <a:srgbClr val="7C3AED"/>
                </a:solidFill>
                <a:latin typeface="Arial"/>
              </a:rPr>
              <a:t>SENSITIVITY</a:t>
            </a:r>
          </a:p>
        </p:txBody>
      </p:sp>
      <p:sp>
        <p:nvSpPr>
          <p:cNvPr id="21" name="TextBox 20"/>
          <p:cNvSpPr txBox="1"/>
          <p:nvPr/>
        </p:nvSpPr>
        <p:spPr>
          <a:xfrm>
            <a:off x="1097280" y="4718304"/>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If the winner holds under several weightings, you have a robust recommendation. If it flips, say so.</a:t>
            </a:r>
          </a:p>
        </p:txBody>
      </p:sp>
      <p:sp>
        <p:nvSpPr>
          <p:cNvPr id="22" name="Rectangle 21"/>
          <p:cNvSpPr/>
          <p:nvPr/>
        </p:nvSpPr>
        <p:spPr>
          <a:xfrm>
            <a:off x="777240" y="5344668"/>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44668"/>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445252"/>
            <a:ext cx="10058400" cy="292608"/>
          </a:xfrm>
          <a:prstGeom prst="rect">
            <a:avLst/>
          </a:prstGeom>
          <a:noFill/>
        </p:spPr>
        <p:txBody>
          <a:bodyPr wrap="square" anchor="t">
            <a:spAutoFit/>
          </a:bodyPr>
          <a:lstStyle/>
          <a:p>
            <a:pPr algn="l">
              <a:spcAft>
                <a:spcPts val="400"/>
              </a:spcAft>
            </a:pPr>
            <a:r>
              <a:rPr sz="1050" b="1">
                <a:solidFill>
                  <a:srgbClr val="F59E0B"/>
                </a:solidFill>
                <a:latin typeface="Arial"/>
              </a:rPr>
              <a:t>THE AI'S LIMIT</a:t>
            </a:r>
          </a:p>
        </p:txBody>
      </p:sp>
      <p:sp>
        <p:nvSpPr>
          <p:cNvPr id="25" name="TextBox 24"/>
          <p:cNvSpPr txBox="1"/>
          <p:nvPr/>
        </p:nvSpPr>
        <p:spPr>
          <a:xfrm>
            <a:off x="1097280" y="5756148"/>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It is a fast, tireless scorer with no politics — and no accountability. The Clinical Director will ask YOU why, not the model.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K9  ·  WHY EACH COMPONENT EXISTS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Corrective Action Plan — Eight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Root cause addressed</a:t>
            </a:r>
          </a:p>
          <a:p>
            <a:pPr algn="l">
              <a:spcAft>
                <a:spcPts val="300"/>
              </a:spcAft>
            </a:pPr>
            <a:r>
              <a:rPr sz="1050" b="0">
                <a:solidFill>
                  <a:srgbClr val="5B6372"/>
                </a:solidFill>
                <a:latin typeface="Arial"/>
              </a:rPr>
              <a:t>Ties the action to the diagnosis. Without it, solutions drift to symptoms.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Corrective action</a:t>
            </a:r>
          </a:p>
          <a:p>
            <a:pPr algn="l">
              <a:spcAft>
                <a:spcPts val="300"/>
              </a:spcAft>
            </a:pPr>
            <a:r>
              <a:rPr sz="1050" b="0">
                <a:solidFill>
                  <a:srgbClr val="5B6372"/>
                </a:solidFill>
                <a:latin typeface="Arial"/>
              </a:rPr>
              <a:t>The specific thing being done — one sentence, unambiguous.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Owner (named role)</a:t>
            </a:r>
          </a:p>
          <a:p>
            <a:pPr algn="l">
              <a:spcAft>
                <a:spcPts val="300"/>
              </a:spcAft>
            </a:pPr>
            <a:r>
              <a:rPr sz="1050" b="0">
                <a:solidFill>
                  <a:srgbClr val="5B6372"/>
                </a:solidFill>
                <a:latin typeface="Arial"/>
              </a:rPr>
              <a:t>Single point of accountability. A department cannot be phoned.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Timeline / milestone</a:t>
            </a:r>
          </a:p>
          <a:p>
            <a:pPr algn="l">
              <a:spcAft>
                <a:spcPts val="300"/>
              </a:spcAft>
            </a:pPr>
            <a:r>
              <a:rPr sz="1050" b="0">
                <a:solidFill>
                  <a:srgbClr val="5B6372"/>
                </a:solidFill>
                <a:latin typeface="Arial"/>
              </a:rPr>
              <a:t>Start, milestone, completion — in weeks, not quarters.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Resources required</a:t>
            </a:r>
          </a:p>
          <a:p>
            <a:pPr algn="l">
              <a:spcAft>
                <a:spcPts val="300"/>
              </a:spcAft>
            </a:pPr>
            <a:r>
              <a:rPr sz="1050" b="0">
                <a:solidFill>
                  <a:srgbClr val="5B6372"/>
                </a:solidFill>
                <a:latin typeface="Arial"/>
              </a:rPr>
              <a:t>Budget, people, tools — committed, not hoped for.</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Success measure</a:t>
            </a:r>
          </a:p>
          <a:p>
            <a:pPr algn="l">
              <a:spcAft>
                <a:spcPts val="300"/>
              </a:spcAft>
            </a:pPr>
            <a:r>
              <a:rPr sz="1050" b="0">
                <a:solidFill>
                  <a:srgbClr val="5B6372"/>
                </a:solidFill>
                <a:latin typeface="Arial"/>
              </a:rPr>
              <a:t>Metric + baseline + target. This is what makes evaluation possible.</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Risk and mitigation</a:t>
            </a:r>
          </a:p>
          <a:p>
            <a:pPr algn="l">
              <a:spcAft>
                <a:spcPts val="300"/>
              </a:spcAft>
            </a:pPr>
            <a:r>
              <a:rPr sz="1050" b="0">
                <a:solidFill>
                  <a:srgbClr val="5B6372"/>
                </a:solidFill>
                <a:latin typeface="Arial"/>
              </a:rPr>
              <a:t>What breaks it, and the action (with an owner) that prevents that.</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Review checkpoint</a:t>
            </a:r>
          </a:p>
          <a:p>
            <a:pPr algn="l">
              <a:spcAft>
                <a:spcPts val="300"/>
              </a:spcAft>
            </a:pPr>
            <a:r>
              <a:rPr sz="1050" b="0">
                <a:solidFill>
                  <a:srgbClr val="5B6372"/>
                </a:solidFill>
                <a:latin typeface="Arial"/>
              </a:rPr>
              <a:t>A date AND the decision to be made: continue, extend or stop.</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THE OWNER IS THE SPINE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'Operations' cannot be phoned, held to a date, or asked why it slipped.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One named owner per action. No co-owners. This single discipline prevents the most common cause of project death.</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A7  ·  MAKING EVALUATION POSSIBLE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Measures That Work vs Measures That Don't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Unmeasurable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Measurable with existing data</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Morale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'Improved staff morale'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Voluntary resignations per quarter</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Capability</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'Better trained staff'</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Mean relief-staff draw time: 14 → under 8 min</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Quality</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'Fewer mistakes'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First-attempt success rate: 82% → 92%</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Coverage</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'Properly staffed mornings'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07:00 roster fill rate by permanent staff</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If the organisation cannot measure it today, either change the measure or add a task to start collecting it.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2  ·  PROMPT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Corrective Action Plan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1638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2889504"/>
          </a:xfrm>
          <a:prstGeom prst="rect">
            <a:avLst/>
          </a:prstGeom>
          <a:noFill/>
        </p:spPr>
        <p:txBody>
          <a:bodyPr wrap="square">
            <a:spAutoFit/>
          </a:bodyPr>
          <a:lstStyle/>
          <a:p>
            <a:pPr>
              <a:spcAft>
                <a:spcPts val="150"/>
              </a:spcAft>
            </a:pPr>
            <a:r>
              <a:rPr sz="750" b="0">
                <a:solidFill>
                  <a:srgbClr val="D4D4D4"/>
                </a:solidFill>
                <a:latin typeface="Consolas"/>
              </a:rPr>
              <a:t>You are an execution-focused planning assistant. Convert each approved solution into a corrective action plan row. Be concrete and brief — no theory.</a:t>
            </a:r>
          </a:p>
          <a:p>
            <a:pPr>
              <a:spcAft>
                <a:spcPts val="150"/>
              </a:spcAft>
            </a:pPr>
            <a:r>
              <a:rPr sz="750" b="0">
                <a:solidFill>
                  <a:srgbClr val="D4D4D4"/>
                </a:solidFill>
                <a:latin typeface="Consolas"/>
              </a:rPr>
              <a:t> </a:t>
            </a:r>
          </a:p>
          <a:p>
            <a:pPr>
              <a:spcAft>
                <a:spcPts val="150"/>
              </a:spcAft>
            </a:pPr>
            <a:r>
              <a:rPr sz="750" b="1">
                <a:solidFill>
                  <a:srgbClr val="4EC9B0"/>
                </a:solidFill>
                <a:latin typeface="Consolas"/>
              </a:rPr>
              <a:t>For EACH solution, produce exactly these fields:</a:t>
            </a:r>
          </a:p>
          <a:p>
            <a:pPr>
              <a:spcAft>
                <a:spcPts val="150"/>
              </a:spcAft>
            </a:pPr>
            <a:r>
              <a:rPr sz="750" b="0">
                <a:solidFill>
                  <a:srgbClr val="9CDCFE"/>
                </a:solidFill>
                <a:latin typeface="Consolas"/>
              </a:rPr>
              <a:t>- Root cause addressed (link back to the diagnosis)</a:t>
            </a:r>
          </a:p>
          <a:p>
            <a:pPr>
              <a:spcAft>
                <a:spcPts val="150"/>
              </a:spcAft>
            </a:pPr>
            <a:r>
              <a:rPr sz="750" b="0">
                <a:solidFill>
                  <a:srgbClr val="9CDCFE"/>
                </a:solidFill>
                <a:latin typeface="Consolas"/>
              </a:rPr>
              <a:t>- Corrective action (one specific sentence)</a:t>
            </a:r>
          </a:p>
          <a:p>
            <a:pPr>
              <a:spcAft>
                <a:spcPts val="150"/>
              </a:spcAft>
            </a:pPr>
            <a:r>
              <a:rPr sz="750" b="0">
                <a:solidFill>
                  <a:srgbClr val="9CDCFE"/>
                </a:solidFill>
                <a:latin typeface="Consolas"/>
              </a:rPr>
              <a:t>- Owner (a job title, not a department)</a:t>
            </a:r>
          </a:p>
          <a:p>
            <a:pPr>
              <a:spcAft>
                <a:spcPts val="150"/>
              </a:spcAft>
            </a:pPr>
            <a:r>
              <a:rPr sz="750" b="0">
                <a:solidFill>
                  <a:srgbClr val="9CDCFE"/>
                </a:solidFill>
                <a:latin typeface="Consolas"/>
              </a:rPr>
              <a:t>- Timeline (start, key milestone, completion)</a:t>
            </a:r>
          </a:p>
          <a:p>
            <a:pPr>
              <a:spcAft>
                <a:spcPts val="150"/>
              </a:spcAft>
            </a:pPr>
            <a:r>
              <a:rPr sz="750" b="0">
                <a:solidFill>
                  <a:srgbClr val="9CDCFE"/>
                </a:solidFill>
                <a:latin typeface="Consolas"/>
              </a:rPr>
              <a:t>- Resources (budget in S$, people, tools)</a:t>
            </a:r>
          </a:p>
          <a:p>
            <a:pPr>
              <a:spcAft>
                <a:spcPts val="150"/>
              </a:spcAft>
            </a:pPr>
            <a:r>
              <a:rPr sz="750" b="0">
                <a:solidFill>
                  <a:srgbClr val="9CDCFE"/>
                </a:solidFill>
                <a:latin typeface="Consolas"/>
              </a:rPr>
              <a:t>- Success measure (metric + baseline + target)</a:t>
            </a:r>
          </a:p>
          <a:p>
            <a:pPr>
              <a:spcAft>
                <a:spcPts val="150"/>
              </a:spcAft>
            </a:pPr>
            <a:r>
              <a:rPr sz="750" b="0">
                <a:solidFill>
                  <a:srgbClr val="9CDCFE"/>
                </a:solidFill>
                <a:latin typeface="Consolas"/>
              </a:rPr>
              <a:t>- Key risk + mitigation</a:t>
            </a:r>
          </a:p>
          <a:p>
            <a:pPr>
              <a:spcAft>
                <a:spcPts val="150"/>
              </a:spcAft>
            </a:pPr>
            <a:r>
              <a:rPr sz="750" b="0">
                <a:solidFill>
                  <a:srgbClr val="9CDCFE"/>
                </a:solidFill>
                <a:latin typeface="Consolas"/>
              </a:rPr>
              <a:t>- Review checkpoint (date and the decision to be made at it)</a:t>
            </a:r>
          </a:p>
          <a:p>
            <a:pPr>
              <a:spcAft>
                <a:spcPts val="150"/>
              </a:spcAft>
            </a:pPr>
            <a:r>
              <a:rPr sz="750" b="0">
                <a:solidFill>
                  <a:srgbClr val="D4D4D4"/>
                </a:solidFill>
                <a:latin typeface="Consolas"/>
              </a:rPr>
              <a:t> </a:t>
            </a:r>
          </a:p>
          <a:p>
            <a:pPr>
              <a:spcAft>
                <a:spcPts val="150"/>
              </a:spcAft>
            </a:pPr>
            <a:r>
              <a:rPr sz="750" b="1">
                <a:solidFill>
                  <a:srgbClr val="4EC9B0"/>
                </a:solidFill>
                <a:latin typeface="Consolas"/>
              </a:rPr>
              <a:t>Then flag, in a separate section:</a:t>
            </a:r>
          </a:p>
          <a:p>
            <a:pPr>
              <a:spcAft>
                <a:spcPts val="150"/>
              </a:spcAft>
            </a:pPr>
            <a:r>
              <a:rPr sz="750" b="1">
                <a:solidFill>
                  <a:srgbClr val="4EC9B0"/>
                </a:solidFill>
                <a:latin typeface="Consolas"/>
              </a:rPr>
              <a:t>1. Any two actions that depend on each other and must be sequenced</a:t>
            </a:r>
          </a:p>
          <a:p>
            <a:pPr>
              <a:spcAft>
                <a:spcPts val="150"/>
              </a:spcAft>
            </a:pPr>
            <a:r>
              <a:rPr sz="750" b="1">
                <a:solidFill>
                  <a:srgbClr val="4EC9B0"/>
                </a:solidFill>
                <a:latin typeface="Consolas"/>
              </a:rPr>
              <a:t>2. Any owner who appears on more than two actions (overload risk)</a:t>
            </a:r>
          </a:p>
          <a:p>
            <a:pPr>
              <a:spcAft>
                <a:spcPts val="150"/>
              </a:spcAft>
            </a:pPr>
            <a:r>
              <a:rPr sz="750" b="1">
                <a:solidFill>
                  <a:srgbClr val="4EC9B0"/>
                </a:solidFill>
                <a:latin typeface="Consolas"/>
              </a:rPr>
              <a:t>3. Any success measure that cannot actually be measured with data the organisation already has</a:t>
            </a:r>
          </a:p>
          <a:p>
            <a:pPr>
              <a:spcAft>
                <a:spcPts val="150"/>
              </a:spcAft>
            </a:pPr>
            <a:r>
              <a:rPr sz="750" b="0">
                <a:solidFill>
                  <a:srgbClr val="D4D4D4"/>
                </a:solidFill>
                <a:latin typeface="Consolas"/>
              </a:rPr>
              <a:t> </a:t>
            </a:r>
          </a:p>
          <a:p>
            <a:pPr>
              <a:spcAft>
                <a:spcPts val="150"/>
              </a:spcAft>
            </a:pPr>
            <a:r>
              <a:rPr sz="750" b="0">
                <a:solidFill>
                  <a:srgbClr val="D4D4D4"/>
                </a:solidFill>
                <a:latin typeface="Consolas"/>
              </a:rPr>
              <a:t>Approved solutions: [paste your four here]</a:t>
            </a:r>
          </a:p>
          <a:p>
            <a:pPr>
              <a:spcAft>
                <a:spcPts val="150"/>
              </a:spcAft>
            </a:pPr>
            <a:r>
              <a:rPr sz="750" b="0">
                <a:solidFill>
                  <a:srgbClr val="D4D4D4"/>
                </a:solidFill>
                <a:latin typeface="Consolas"/>
              </a:rPr>
              <a:t>Root cause: 44% phlebotomist turnover leaving 40% of the 07:00 roster untrained, causing 14-min draws vs 6-min, 31% appointment overruns and 23% of samples missing the 09:45 courier.</a:t>
            </a:r>
          </a:p>
          <a:p>
            <a:pPr>
              <a:spcAft>
                <a:spcPts val="150"/>
              </a:spcAft>
            </a:pPr>
            <a:r>
              <a:rPr sz="750" b="0">
                <a:solidFill>
                  <a:srgbClr val="D4D4D4"/>
                </a:solidFill>
                <a:latin typeface="Consolas"/>
              </a:rPr>
              <a:t>Budget: S$250,000 over 12 months.</a:t>
            </a:r>
          </a:p>
        </p:txBody>
      </p:sp>
      <p:sp>
        <p:nvSpPr>
          <p:cNvPr id="12" name="Rectangle 11"/>
          <p:cNvSpPr/>
          <p:nvPr/>
        </p:nvSpPr>
        <p:spPr>
          <a:xfrm>
            <a:off x="777240" y="5541264"/>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541264"/>
            <a:ext cx="8229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541264"/>
            <a:ext cx="10149840" cy="713232"/>
          </a:xfrm>
          <a:prstGeom prst="rect">
            <a:avLst/>
          </a:prstGeom>
          <a:noFill/>
        </p:spPr>
        <p:txBody>
          <a:bodyPr wrap="square" anchor="ctr">
            <a:spAutoFit/>
          </a:bodyPr>
          <a:lstStyle/>
          <a:p>
            <a:pPr algn="l">
              <a:spcAft>
                <a:spcPts val="400"/>
              </a:spcAft>
            </a:pPr>
            <a:r>
              <a:rPr sz="1050" b="1">
                <a:solidFill>
                  <a:srgbClr val="F59E0B"/>
                </a:solidFill>
                <a:latin typeface="Arial"/>
              </a:rPr>
              <a:t>WATCH FOR  </a:t>
            </a:r>
            <a:r>
              <a:rPr sz="1150" b="0">
                <a:solidFill>
                  <a:srgbClr val="161B26"/>
                </a:solidFill>
                <a:latin typeface="Arial"/>
              </a:rPr>
              <a:t>Asking the AI to flag dependencies and overloaded owners catches what a close-in team misses.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8 — Building the Corrective Action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46304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463040" cy="402336"/>
          </a:xfrm>
          <a:prstGeom prst="rect">
            <a:avLst/>
          </a:prstGeom>
          <a:noFill/>
        </p:spPr>
        <p:txBody>
          <a:bodyPr wrap="square" anchor="ctr">
            <a:spAutoFit/>
          </a:bodyPr>
          <a:lstStyle/>
          <a:p>
            <a:pPr algn="ctr">
              <a:spcAft>
                <a:spcPts val="400"/>
              </a:spcAft>
            </a:pPr>
            <a:r>
              <a:rPr sz="1400" b="1">
                <a:solidFill>
                  <a:srgbClr val="FFFFFF"/>
                </a:solidFill>
                <a:latin typeface="Arial"/>
              </a:rPr>
              <a:t>ACTIVITY 8</a:t>
            </a:r>
          </a:p>
        </p:txBody>
      </p:sp>
      <p:sp>
        <p:nvSpPr>
          <p:cNvPr id="9" name="TextBox 8"/>
          <p:cNvSpPr txBox="1"/>
          <p:nvPr/>
        </p:nvSpPr>
        <p:spPr>
          <a:xfrm>
            <a:off x="2395728" y="1719072"/>
            <a:ext cx="8961120" cy="402336"/>
          </a:xfrm>
          <a:prstGeom prst="rect">
            <a:avLst/>
          </a:prstGeom>
          <a:noFill/>
        </p:spPr>
        <p:txBody>
          <a:bodyPr wrap="square" anchor="ctr">
            <a:spAutoFit/>
          </a:bodyPr>
          <a:lstStyle/>
          <a:p>
            <a:pPr algn="l">
              <a:spcAft>
                <a:spcPts val="400"/>
              </a:spcAft>
            </a:pPr>
            <a:r>
              <a:rPr sz="1100" b="0">
                <a:solidFill>
                  <a:srgbClr val="5B6372"/>
                </a:solidFill>
                <a:latin typeface="Arial"/>
              </a:rPr>
              <a:t>A4 · K9 — Develop corrective action plans for shortfalls identified.</a:t>
            </a:r>
          </a:p>
        </p:txBody>
      </p:sp>
      <p:sp>
        <p:nvSpPr>
          <p:cNvPr id="10" name="Rectangle 9"/>
          <p:cNvSpPr/>
          <p:nvPr/>
        </p:nvSpPr>
        <p:spPr>
          <a:xfrm>
            <a:off x="777240" y="228600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14016"/>
            <a:ext cx="10149840" cy="329184"/>
          </a:xfrm>
          <a:prstGeom prst="rect">
            <a:avLst/>
          </a:prstGeom>
          <a:noFill/>
        </p:spPr>
        <p:txBody>
          <a:bodyPr wrap="square" anchor="t">
            <a:spAutoFit/>
          </a:bodyPr>
          <a:lstStyle/>
          <a:p>
            <a:pPr algn="l">
              <a:spcAft>
                <a:spcPts val="400"/>
              </a:spcAft>
            </a:pPr>
            <a:r>
              <a:rPr sz="1550" b="1">
                <a:solidFill>
                  <a:srgbClr val="161B26"/>
                </a:solidFill>
                <a:latin typeface="Arial"/>
              </a:rPr>
              <a:t>Meridian Health — from chosen solutions to an auditable plan</a:t>
            </a:r>
          </a:p>
        </p:txBody>
      </p:sp>
      <p:sp>
        <p:nvSpPr>
          <p:cNvPr id="13" name="TextBox 12"/>
          <p:cNvSpPr txBox="1"/>
          <p:nvPr/>
        </p:nvSpPr>
        <p:spPr>
          <a:xfrm>
            <a:off x="1078992" y="2779776"/>
            <a:ext cx="10149840" cy="731520"/>
          </a:xfrm>
          <a:prstGeom prst="rect">
            <a:avLst/>
          </a:prstGeom>
          <a:noFill/>
        </p:spPr>
        <p:txBody>
          <a:bodyPr wrap="square" anchor="t">
            <a:spAutoFit/>
          </a:bodyPr>
          <a:lstStyle/>
          <a:p>
            <a:pPr algn="l">
              <a:spcAft>
                <a:spcPts val="400"/>
              </a:spcAft>
            </a:pPr>
            <a:r>
              <a:rPr sz="1250" b="0">
                <a:solidFill>
                  <a:srgbClr val="5B6372"/>
                </a:solidFill>
                <a:latin typeface="Arial"/>
              </a:rPr>
              <a:t>Convert four approved solutions into an auditable plan another team could execute without you.</a:t>
            </a:r>
          </a:p>
        </p:txBody>
      </p:sp>
      <p:sp>
        <p:nvSpPr>
          <p:cNvPr id="14" name="Rectangle 13"/>
          <p:cNvSpPr/>
          <p:nvPr/>
        </p:nvSpPr>
        <p:spPr>
          <a:xfrm>
            <a:off x="777240"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85615"/>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31920"/>
            <a:ext cx="2980944" cy="292608"/>
          </a:xfrm>
          <a:prstGeom prst="rect">
            <a:avLst/>
          </a:prstGeom>
          <a:noFill/>
        </p:spPr>
        <p:txBody>
          <a:bodyPr wrap="square" anchor="t">
            <a:spAutoFit/>
          </a:bodyPr>
          <a:lstStyle/>
          <a:p>
            <a:pPr algn="l">
              <a:spcAft>
                <a:spcPts val="400"/>
              </a:spcAft>
            </a:pPr>
            <a:r>
              <a:rPr sz="1100" b="1">
                <a:solidFill>
                  <a:srgbClr val="1F6FEB"/>
                </a:solidFill>
                <a:latin typeface="Arial"/>
              </a:rPr>
              <a:t>TEAM</a:t>
            </a:r>
          </a:p>
        </p:txBody>
      </p:sp>
      <p:sp>
        <p:nvSpPr>
          <p:cNvPr id="17" name="TextBox 16"/>
          <p:cNvSpPr txBox="1"/>
          <p:nvPr/>
        </p:nvSpPr>
        <p:spPr>
          <a:xfrm>
            <a:off x="996696"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Teams of 3-5</a:t>
            </a:r>
          </a:p>
        </p:txBody>
      </p:sp>
      <p:sp>
        <p:nvSpPr>
          <p:cNvPr id="18" name="Rectangle 17"/>
          <p:cNvSpPr/>
          <p:nvPr/>
        </p:nvSpPr>
        <p:spPr>
          <a:xfrm>
            <a:off x="4398264"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85615"/>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31920"/>
            <a:ext cx="2980944" cy="292608"/>
          </a:xfrm>
          <a:prstGeom prst="rect">
            <a:avLst/>
          </a:prstGeom>
          <a:noFill/>
        </p:spPr>
        <p:txBody>
          <a:bodyPr wrap="square" anchor="t">
            <a:spAutoFit/>
          </a:bodyPr>
          <a:lstStyle/>
          <a:p>
            <a:pPr algn="l">
              <a:spcAft>
                <a:spcPts val="400"/>
              </a:spcAft>
            </a:pPr>
            <a:r>
              <a:rPr sz="1100" b="1">
                <a:solidFill>
                  <a:srgbClr val="10B981"/>
                </a:solidFill>
                <a:latin typeface="Arial"/>
              </a:rPr>
              <a:t>TIME</a:t>
            </a:r>
          </a:p>
        </p:txBody>
      </p:sp>
      <p:sp>
        <p:nvSpPr>
          <p:cNvPr id="21" name="TextBox 20"/>
          <p:cNvSpPr txBox="1"/>
          <p:nvPr/>
        </p:nvSpPr>
        <p:spPr>
          <a:xfrm>
            <a:off x="4617720"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45 minutes</a:t>
            </a:r>
          </a:p>
        </p:txBody>
      </p:sp>
      <p:sp>
        <p:nvSpPr>
          <p:cNvPr id="22" name="Rectangle 21"/>
          <p:cNvSpPr/>
          <p:nvPr/>
        </p:nvSpPr>
        <p:spPr>
          <a:xfrm>
            <a:off x="8019288"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85615"/>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31920"/>
            <a:ext cx="2980944" cy="292608"/>
          </a:xfrm>
          <a:prstGeom prst="rect">
            <a:avLst/>
          </a:prstGeom>
          <a:noFill/>
        </p:spPr>
        <p:txBody>
          <a:bodyPr wrap="square" anchor="t">
            <a:spAutoFit/>
          </a:bodyPr>
          <a:lstStyle/>
          <a:p>
            <a:pPr algn="l">
              <a:spcAft>
                <a:spcPts val="400"/>
              </a:spcAft>
            </a:pPr>
            <a:r>
              <a:rPr sz="1100" b="1">
                <a:solidFill>
                  <a:srgbClr val="7C3AED"/>
                </a:solidFill>
                <a:latin typeface="Arial"/>
              </a:rPr>
              <a:t>TOOL</a:t>
            </a:r>
          </a:p>
        </p:txBody>
      </p:sp>
      <p:sp>
        <p:nvSpPr>
          <p:cNvPr id="25" name="TextBox 24"/>
          <p:cNvSpPr txBox="1"/>
          <p:nvPr/>
        </p:nvSpPr>
        <p:spPr>
          <a:xfrm>
            <a:off x="8238744" y="4261104"/>
            <a:ext cx="2980944" cy="914400"/>
          </a:xfrm>
          <a:prstGeom prst="rect">
            <a:avLst/>
          </a:prstGeom>
          <a:noFill/>
        </p:spPr>
        <p:txBody>
          <a:bodyPr wrap="square" anchor="t">
            <a:spAutoFit/>
          </a:bodyPr>
          <a:lstStyle/>
          <a:p>
            <a:pPr algn="l">
              <a:spcAft>
                <a:spcPts val="400"/>
              </a:spcAft>
            </a:pPr>
            <a:r>
              <a:rPr sz="1050" b="0">
                <a:solidFill>
                  <a:srgbClr val="161B26"/>
                </a:solidFill>
                <a:latin typeface="Arial"/>
              </a:rPr>
              <a:t>Pinboard · https://alfredang.github.io/pinboard/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8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Situation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02336"/>
          </a:xfrm>
          <a:prstGeom prst="rect">
            <a:avLst/>
          </a:prstGeom>
          <a:noFill/>
        </p:spPr>
        <p:txBody>
          <a:bodyPr wrap="square" anchor="ctr">
            <a:spAutoFit/>
          </a:bodyPr>
          <a:lstStyle/>
          <a:p>
            <a:pPr algn="ctr">
              <a:spcAft>
                <a:spcPts val="400"/>
              </a:spcAft>
            </a:pPr>
            <a:r>
              <a:rPr sz="1200" b="1">
                <a:solidFill>
                  <a:srgbClr val="FFFFFF"/>
                </a:solidFill>
                <a:latin typeface="Arial"/>
              </a:rPr>
              <a:t>CASE STUDY</a:t>
            </a:r>
          </a:p>
        </p:txBody>
      </p:sp>
      <p:sp>
        <p:nvSpPr>
          <p:cNvPr id="9" name="TextBox 8"/>
          <p:cNvSpPr txBox="1"/>
          <p:nvPr/>
        </p:nvSpPr>
        <p:spPr>
          <a:xfrm>
            <a:off x="2633472" y="1719072"/>
            <a:ext cx="8778240" cy="402336"/>
          </a:xfrm>
          <a:prstGeom prst="rect">
            <a:avLst/>
          </a:prstGeom>
          <a:noFill/>
        </p:spPr>
        <p:txBody>
          <a:bodyPr wrap="square" anchor="ctr">
            <a:spAutoFit/>
          </a:bodyPr>
          <a:lstStyle/>
          <a:p>
            <a:pPr algn="l">
              <a:spcAft>
                <a:spcPts val="400"/>
              </a:spcAft>
            </a:pPr>
            <a:r>
              <a:rPr sz="1500" b="1">
                <a:solidFill>
                  <a:srgbClr val="161B26"/>
                </a:solidFill>
                <a:latin typeface="Arial"/>
              </a:rPr>
              <a:t>Meridian Health — from chosen solutions to an auditable plan</a:t>
            </a:r>
          </a:p>
        </p:txBody>
      </p:sp>
      <p:sp>
        <p:nvSpPr>
          <p:cNvPr id="10" name="Rectangle 9"/>
          <p:cNvSpPr/>
          <p:nvPr/>
        </p:nvSpPr>
        <p:spPr>
          <a:xfrm>
            <a:off x="777240" y="2286000"/>
            <a:ext cx="10634472" cy="3931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3931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432304"/>
            <a:ext cx="10058400" cy="3657600"/>
          </a:xfrm>
          <a:prstGeom prst="rect">
            <a:avLst/>
          </a:prstGeom>
          <a:noFill/>
        </p:spPr>
        <p:txBody>
          <a:bodyPr wrap="square">
            <a:spAutoFit/>
          </a:bodyPr>
          <a:lstStyle/>
          <a:p>
            <a:pPr>
              <a:spcAft>
                <a:spcPts val="700"/>
              </a:spcAft>
            </a:pPr>
            <a:r>
              <a:rPr sz="1450">
                <a:solidFill>
                  <a:srgbClr val="161B26"/>
                </a:solidFill>
                <a:latin typeface="Arial"/>
              </a:rPr>
              <a:t>The Clinical Director has approved your four solutions. She now asks the question that separates a good analysis from a delivered result:</a:t>
            </a:r>
          </a:p>
          <a:p>
            <a:pPr>
              <a:spcAft>
                <a:spcPts val="700"/>
              </a:spcAft>
            </a:pPr>
            <a:r>
              <a:rPr sz="1450">
                <a:solidFill>
                  <a:srgbClr val="161B26"/>
                </a:solidFill>
                <a:latin typeface="Arial"/>
              </a:rPr>
              <a:t>"Who is doing what, by when, with what money, and how will I know it worked?"</a:t>
            </a:r>
          </a:p>
          <a:p>
            <a:pPr>
              <a:spcAft>
                <a:spcPts val="700"/>
              </a:spcAft>
            </a:pPr>
            <a:r>
              <a:rPr sz="1450">
                <a:solidFill>
                  <a:srgbClr val="161B26"/>
                </a:solidFill>
                <a:latin typeface="Arial"/>
              </a:rPr>
              <a:t>She also adds a warning from experience: "The last improvement project we ran had a beautiful slide deck and no owner. Six months later nothing had changed and everyone assumed someone else was doing it."</a:t>
            </a:r>
          </a:p>
          <a:p>
            <a:pPr>
              <a:spcAft>
                <a:spcPts val="700"/>
              </a:spcAft>
            </a:pPr>
            <a:r>
              <a:rPr sz="1450">
                <a:solidFill>
                  <a:srgbClr val="161B26"/>
                </a:solidFill>
                <a:latin typeface="Arial"/>
              </a:rPr>
              <a:t>Your team must convert four approved solutions into a corrective action plan that would survive an internal audit — and that a colleague could execute without you in the room.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8  ·  TEMPLATE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Component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 it exists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Failure if missing</a:t>
            </a:r>
          </a:p>
        </p:txBody>
      </p:sp>
      <p:sp>
        <p:nvSpPr>
          <p:cNvPr id="13" name="Rectangle 12"/>
          <p:cNvSpPr/>
          <p:nvPr/>
        </p:nvSpPr>
        <p:spPr>
          <a:xfrm>
            <a:off x="777240" y="2258568"/>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Root cause addressed</a:t>
            </a:r>
          </a:p>
        </p:txBody>
      </p:sp>
      <p:sp>
        <p:nvSpPr>
          <p:cNvPr id="15" name="Rectangle 14"/>
          <p:cNvSpPr/>
          <p:nvPr/>
        </p:nvSpPr>
        <p:spPr>
          <a:xfrm>
            <a:off x="3542202" y="2258568"/>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Ties the action to the diagnosis</a:t>
            </a:r>
          </a:p>
        </p:txBody>
      </p:sp>
      <p:sp>
        <p:nvSpPr>
          <p:cNvPr id="17" name="Rectangle 16"/>
          <p:cNvSpPr/>
          <p:nvPr/>
        </p:nvSpPr>
        <p:spPr>
          <a:xfrm>
            <a:off x="7476957" y="2258568"/>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Solution drifts to a symptom</a:t>
            </a:r>
          </a:p>
        </p:txBody>
      </p:sp>
      <p:sp>
        <p:nvSpPr>
          <p:cNvPr id="19" name="Rectangle 18"/>
          <p:cNvSpPr/>
          <p:nvPr/>
        </p:nvSpPr>
        <p:spPr>
          <a:xfrm>
            <a:off x="777240" y="2620899"/>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20899"/>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Corrective action</a:t>
            </a:r>
          </a:p>
        </p:txBody>
      </p:sp>
      <p:sp>
        <p:nvSpPr>
          <p:cNvPr id="21" name="Rectangle 20"/>
          <p:cNvSpPr/>
          <p:nvPr/>
        </p:nvSpPr>
        <p:spPr>
          <a:xfrm>
            <a:off x="3542202" y="2620899"/>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20899"/>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The specific thing being done</a:t>
            </a:r>
          </a:p>
        </p:txBody>
      </p:sp>
      <p:sp>
        <p:nvSpPr>
          <p:cNvPr id="23" name="Rectangle 22"/>
          <p:cNvSpPr/>
          <p:nvPr/>
        </p:nvSpPr>
        <p:spPr>
          <a:xfrm>
            <a:off x="7476957" y="2620899"/>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20899"/>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Vague intent, no execution</a:t>
            </a:r>
          </a:p>
        </p:txBody>
      </p:sp>
      <p:sp>
        <p:nvSpPr>
          <p:cNvPr id="25" name="Rectangle 24"/>
          <p:cNvSpPr/>
          <p:nvPr/>
        </p:nvSpPr>
        <p:spPr>
          <a:xfrm>
            <a:off x="777240" y="2983230"/>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2983230"/>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Owner (named person)</a:t>
            </a:r>
          </a:p>
        </p:txBody>
      </p:sp>
      <p:sp>
        <p:nvSpPr>
          <p:cNvPr id="27" name="Rectangle 26"/>
          <p:cNvSpPr/>
          <p:nvPr/>
        </p:nvSpPr>
        <p:spPr>
          <a:xfrm>
            <a:off x="3542202" y="2983230"/>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2983230"/>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Single point of accountability</a:t>
            </a:r>
          </a:p>
        </p:txBody>
      </p:sp>
      <p:sp>
        <p:nvSpPr>
          <p:cNvPr id="29" name="Rectangle 28"/>
          <p:cNvSpPr/>
          <p:nvPr/>
        </p:nvSpPr>
        <p:spPr>
          <a:xfrm>
            <a:off x="7476957" y="2983230"/>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2983230"/>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Everyone assumes someone else</a:t>
            </a:r>
          </a:p>
        </p:txBody>
      </p:sp>
      <p:sp>
        <p:nvSpPr>
          <p:cNvPr id="31" name="Rectangle 30"/>
          <p:cNvSpPr/>
          <p:nvPr/>
        </p:nvSpPr>
        <p:spPr>
          <a:xfrm>
            <a:off x="777240" y="3345561"/>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345561"/>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Timeline / milestone</a:t>
            </a:r>
          </a:p>
        </p:txBody>
      </p:sp>
      <p:sp>
        <p:nvSpPr>
          <p:cNvPr id="33" name="Rectangle 32"/>
          <p:cNvSpPr/>
          <p:nvPr/>
        </p:nvSpPr>
        <p:spPr>
          <a:xfrm>
            <a:off x="3542202" y="3345561"/>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345561"/>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Makes progress checkable</a:t>
            </a:r>
          </a:p>
        </p:txBody>
      </p:sp>
      <p:sp>
        <p:nvSpPr>
          <p:cNvPr id="35" name="Rectangle 34"/>
          <p:cNvSpPr/>
          <p:nvPr/>
        </p:nvSpPr>
        <p:spPr>
          <a:xfrm>
            <a:off x="7476957" y="3345561"/>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345561"/>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Slips indefinitely, unnoticed</a:t>
            </a:r>
          </a:p>
        </p:txBody>
      </p:sp>
      <p:sp>
        <p:nvSpPr>
          <p:cNvPr id="37" name="Rectangle 36"/>
          <p:cNvSpPr/>
          <p:nvPr/>
        </p:nvSpPr>
        <p:spPr>
          <a:xfrm>
            <a:off x="777240" y="3707892"/>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707892"/>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Resources required</a:t>
            </a:r>
          </a:p>
        </p:txBody>
      </p:sp>
      <p:sp>
        <p:nvSpPr>
          <p:cNvPr id="39" name="Rectangle 38"/>
          <p:cNvSpPr/>
          <p:nvPr/>
        </p:nvSpPr>
        <p:spPr>
          <a:xfrm>
            <a:off x="3542202" y="3707892"/>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707892"/>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Budget, people, tools committed</a:t>
            </a:r>
          </a:p>
        </p:txBody>
      </p:sp>
      <p:sp>
        <p:nvSpPr>
          <p:cNvPr id="41" name="Rectangle 40"/>
          <p:cNvSpPr/>
          <p:nvPr/>
        </p:nvSpPr>
        <p:spPr>
          <a:xfrm>
            <a:off x="7476957" y="3707892"/>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707892"/>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Stalls at first resource conflict</a:t>
            </a:r>
          </a:p>
        </p:txBody>
      </p:sp>
      <p:sp>
        <p:nvSpPr>
          <p:cNvPr id="43" name="Rectangle 42"/>
          <p:cNvSpPr/>
          <p:nvPr/>
        </p:nvSpPr>
        <p:spPr>
          <a:xfrm>
            <a:off x="777240" y="4070223"/>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070223"/>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Success measure + baseline</a:t>
            </a:r>
          </a:p>
        </p:txBody>
      </p:sp>
      <p:sp>
        <p:nvSpPr>
          <p:cNvPr id="45" name="Rectangle 44"/>
          <p:cNvSpPr/>
          <p:nvPr/>
        </p:nvSpPr>
        <p:spPr>
          <a:xfrm>
            <a:off x="3542202" y="4070223"/>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070223"/>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Defines what 'worked' means</a:t>
            </a:r>
          </a:p>
        </p:txBody>
      </p:sp>
      <p:sp>
        <p:nvSpPr>
          <p:cNvPr id="47" name="Rectangle 46"/>
          <p:cNvSpPr/>
          <p:nvPr/>
        </p:nvSpPr>
        <p:spPr>
          <a:xfrm>
            <a:off x="7476957" y="4070223"/>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070223"/>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Cannot evaluate; endless debate</a:t>
            </a:r>
          </a:p>
        </p:txBody>
      </p:sp>
      <p:sp>
        <p:nvSpPr>
          <p:cNvPr id="49" name="Rectangle 48"/>
          <p:cNvSpPr/>
          <p:nvPr/>
        </p:nvSpPr>
        <p:spPr>
          <a:xfrm>
            <a:off x="777240" y="4432554"/>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432554"/>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Risk and mitigation</a:t>
            </a:r>
          </a:p>
        </p:txBody>
      </p:sp>
      <p:sp>
        <p:nvSpPr>
          <p:cNvPr id="51" name="Rectangle 50"/>
          <p:cNvSpPr/>
          <p:nvPr/>
        </p:nvSpPr>
        <p:spPr>
          <a:xfrm>
            <a:off x="3542202" y="4432554"/>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432554"/>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Anticipates what breaks it</a:t>
            </a:r>
          </a:p>
        </p:txBody>
      </p:sp>
      <p:sp>
        <p:nvSpPr>
          <p:cNvPr id="53" name="Rectangle 52"/>
          <p:cNvSpPr/>
          <p:nvPr/>
        </p:nvSpPr>
        <p:spPr>
          <a:xfrm>
            <a:off x="7476957" y="4432554"/>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432554"/>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Surprised by predictable failure</a:t>
            </a:r>
          </a:p>
        </p:txBody>
      </p:sp>
      <p:sp>
        <p:nvSpPr>
          <p:cNvPr id="55" name="Rectangle 54"/>
          <p:cNvSpPr/>
          <p:nvPr/>
        </p:nvSpPr>
        <p:spPr>
          <a:xfrm>
            <a:off x="777240" y="4794885"/>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794885"/>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Review checkpoint</a:t>
            </a:r>
          </a:p>
        </p:txBody>
      </p:sp>
      <p:sp>
        <p:nvSpPr>
          <p:cNvPr id="57" name="Rectangle 56"/>
          <p:cNvSpPr/>
          <p:nvPr/>
        </p:nvSpPr>
        <p:spPr>
          <a:xfrm>
            <a:off x="3542202" y="4794885"/>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794885"/>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Forces a decision to continue/stop</a:t>
            </a:r>
          </a:p>
        </p:txBody>
      </p:sp>
      <p:sp>
        <p:nvSpPr>
          <p:cNvPr id="59" name="Rectangle 58"/>
          <p:cNvSpPr/>
          <p:nvPr/>
        </p:nvSpPr>
        <p:spPr>
          <a:xfrm>
            <a:off x="7476957" y="4794885"/>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04973" y="4794885"/>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Runs on past the point of failure</a:t>
            </a:r>
          </a:p>
        </p:txBody>
      </p:sp>
      <p:sp>
        <p:nvSpPr>
          <p:cNvPr id="61" name="Rectangle 60"/>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Corrective Action Plan — mandatory components (K9)</a:t>
            </a:r>
          </a:p>
        </p:txBody>
      </p:sp>
      <p:sp>
        <p:nvSpPr>
          <p:cNvPr id="64" name="TextBox 6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65" name="TextBox 6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6" name="TextBox 6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8  ·  BREAKOUT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8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F6FEB"/>
                </a:solidFill>
                <a:latin typeface="Arial"/>
              </a:rPr>
              <a:t>DISCUSSION QUESTIONS</a:t>
            </a:r>
          </a:p>
        </p:txBody>
      </p:sp>
      <p:sp>
        <p:nvSpPr>
          <p:cNvPr id="10" name="Rectangle 9"/>
          <p:cNvSpPr/>
          <p:nvPr/>
        </p:nvSpPr>
        <p:spPr>
          <a:xfrm>
            <a:off x="777240" y="2231136"/>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237561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75611"/>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Q1</a:t>
            </a:r>
          </a:p>
        </p:txBody>
      </p:sp>
      <p:sp>
        <p:nvSpPr>
          <p:cNvPr id="14" name="TextBox 13"/>
          <p:cNvSpPr txBox="1"/>
          <p:nvPr/>
        </p:nvSpPr>
        <p:spPr>
          <a:xfrm>
            <a:off x="1609344" y="2231136"/>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Complete all eight components for each of your four actions. Which component did your team find hardest to fill honestly, and what does that reveal?</a:t>
            </a:r>
          </a:p>
        </p:txBody>
      </p:sp>
      <p:sp>
        <p:nvSpPr>
          <p:cNvPr id="15" name="Rectangle 14"/>
          <p:cNvSpPr/>
          <p:nvPr/>
        </p:nvSpPr>
        <p:spPr>
          <a:xfrm>
            <a:off x="777240" y="3059582"/>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59582"/>
            <a:ext cx="82296" cy="7095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32040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204057"/>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Q2</a:t>
            </a:r>
          </a:p>
        </p:txBody>
      </p:sp>
      <p:sp>
        <p:nvSpPr>
          <p:cNvPr id="19" name="TextBox 18"/>
          <p:cNvSpPr txBox="1"/>
          <p:nvPr/>
        </p:nvSpPr>
        <p:spPr>
          <a:xfrm>
            <a:off x="1609344" y="3059582"/>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Every owner must be a named role, not a department. Why does 'Operations' fail as an owner where 'Centre Operations Manager' succeeds?</a:t>
            </a:r>
          </a:p>
        </p:txBody>
      </p:sp>
      <p:sp>
        <p:nvSpPr>
          <p:cNvPr id="20" name="Rectangle 19"/>
          <p:cNvSpPr/>
          <p:nvPr/>
        </p:nvSpPr>
        <p:spPr>
          <a:xfrm>
            <a:off x="777240" y="3888028"/>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88028"/>
            <a:ext cx="82296" cy="7095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 y="4032503"/>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032503"/>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Q3</a:t>
            </a:r>
          </a:p>
        </p:txBody>
      </p:sp>
      <p:sp>
        <p:nvSpPr>
          <p:cNvPr id="24" name="TextBox 23"/>
          <p:cNvSpPr txBox="1"/>
          <p:nvPr/>
        </p:nvSpPr>
        <p:spPr>
          <a:xfrm>
            <a:off x="1609344" y="3888028"/>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Check your success measures against the baseline in your original problem statement. Can each one actually be measured with data Meridian already collects? Which cannot?</a:t>
            </a:r>
          </a:p>
        </p:txBody>
      </p:sp>
      <p:sp>
        <p:nvSpPr>
          <p:cNvPr id="25" name="Rectangle 24"/>
          <p:cNvSpPr/>
          <p:nvPr/>
        </p:nvSpPr>
        <p:spPr>
          <a:xfrm>
            <a:off x="777240" y="4716474"/>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716474"/>
            <a:ext cx="82296" cy="70957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860949"/>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860949"/>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Q4</a:t>
            </a:r>
          </a:p>
        </p:txBody>
      </p:sp>
      <p:sp>
        <p:nvSpPr>
          <p:cNvPr id="29" name="TextBox 28"/>
          <p:cNvSpPr txBox="1"/>
          <p:nvPr/>
        </p:nvSpPr>
        <p:spPr>
          <a:xfrm>
            <a:off x="1609344" y="4716474"/>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The AI flagged dependencies between actions. Which two of your actions must be sequenced, and what breaks if you run them in parallel?</a:t>
            </a:r>
          </a:p>
        </p:txBody>
      </p:sp>
      <p:sp>
        <p:nvSpPr>
          <p:cNvPr id="30" name="Rectangle 29"/>
          <p:cNvSpPr/>
          <p:nvPr/>
        </p:nvSpPr>
        <p:spPr>
          <a:xfrm>
            <a:off x="777240" y="5544920"/>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544920"/>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5840" y="5689395"/>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689395"/>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Q5</a:t>
            </a:r>
          </a:p>
        </p:txBody>
      </p:sp>
      <p:sp>
        <p:nvSpPr>
          <p:cNvPr id="34" name="TextBox 33"/>
          <p:cNvSpPr txBox="1"/>
          <p:nvPr/>
        </p:nvSpPr>
        <p:spPr>
          <a:xfrm>
            <a:off x="1609344" y="5544920"/>
            <a:ext cx="9601200" cy="709574"/>
          </a:xfrm>
          <a:prstGeom prst="rect">
            <a:avLst/>
          </a:prstGeom>
          <a:noFill/>
        </p:spPr>
        <p:txBody>
          <a:bodyPr wrap="square" anchor="ctr">
            <a:spAutoFit/>
          </a:bodyPr>
          <a:lstStyle/>
          <a:p>
            <a:pPr algn="l">
              <a:spcAft>
                <a:spcPts val="400"/>
              </a:spcAft>
            </a:pPr>
            <a:r>
              <a:rPr sz="1150" b="0">
                <a:solidFill>
                  <a:srgbClr val="161B26"/>
                </a:solidFill>
                <a:latin typeface="Arial"/>
              </a:rPr>
              <a:t>Identify the biggest risk across your whole plan. Is your mitigation a real action with an owner, or a hope?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WHAT WE LEARNED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8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0B981"/>
                </a:solidFill>
                <a:latin typeface="Arial"/>
              </a:rPr>
              <a:t>TRAINER DEBRIEF</a:t>
            </a:r>
          </a:p>
        </p:txBody>
      </p:sp>
      <p:sp>
        <p:nvSpPr>
          <p:cNvPr id="10" name="Rectangle 9"/>
          <p:cNvSpPr/>
          <p:nvPr/>
        </p:nvSpPr>
        <p:spPr>
          <a:xfrm>
            <a:off x="777240" y="2231136"/>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31720"/>
            <a:ext cx="10058400" cy="292608"/>
          </a:xfrm>
          <a:prstGeom prst="rect">
            <a:avLst/>
          </a:prstGeom>
          <a:noFill/>
        </p:spPr>
        <p:txBody>
          <a:bodyPr wrap="square" anchor="t">
            <a:spAutoFit/>
          </a:bodyPr>
          <a:lstStyle/>
          <a:p>
            <a:pPr algn="l">
              <a:spcAft>
                <a:spcPts val="400"/>
              </a:spcAft>
            </a:pPr>
            <a:r>
              <a:rPr sz="1050" b="1">
                <a:solidFill>
                  <a:srgbClr val="1F6FEB"/>
                </a:solidFill>
                <a:latin typeface="Arial"/>
              </a:rPr>
              <a:t>THE BASELINE PAYS OFF</a:t>
            </a:r>
          </a:p>
        </p:txBody>
      </p:sp>
      <p:sp>
        <p:nvSpPr>
          <p:cNvPr id="13" name="TextBox 12"/>
          <p:cNvSpPr txBox="1"/>
          <p:nvPr/>
        </p:nvSpPr>
        <p:spPr>
          <a:xfrm>
            <a:off x="1097280" y="2642616"/>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Teams that skipped the baseline in Activity 1 literally cannot write the success measure now. The course has closed its own loop.</a:t>
            </a:r>
          </a:p>
        </p:txBody>
      </p:sp>
      <p:sp>
        <p:nvSpPr>
          <p:cNvPr id="14" name="Rectangle 13"/>
          <p:cNvSpPr/>
          <p:nvPr/>
        </p:nvSpPr>
        <p:spPr>
          <a:xfrm>
            <a:off x="777240" y="3268980"/>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8980"/>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69564"/>
            <a:ext cx="10058400" cy="292608"/>
          </a:xfrm>
          <a:prstGeom prst="rect">
            <a:avLst/>
          </a:prstGeom>
          <a:noFill/>
        </p:spPr>
        <p:txBody>
          <a:bodyPr wrap="square" anchor="t">
            <a:spAutoFit/>
          </a:bodyPr>
          <a:lstStyle/>
          <a:p>
            <a:pPr algn="l">
              <a:spcAft>
                <a:spcPts val="400"/>
              </a:spcAft>
            </a:pPr>
            <a:r>
              <a:rPr sz="1050" b="1">
                <a:solidFill>
                  <a:srgbClr val="10B981"/>
                </a:solidFill>
                <a:latin typeface="Arial"/>
              </a:rPr>
              <a:t>SEQUENCING</a:t>
            </a:r>
          </a:p>
        </p:txBody>
      </p:sp>
      <p:sp>
        <p:nvSpPr>
          <p:cNvPr id="17" name="TextBox 16"/>
          <p:cNvSpPr txBox="1"/>
          <p:nvPr/>
        </p:nvSpPr>
        <p:spPr>
          <a:xfrm>
            <a:off x="1097280" y="3680460"/>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Converting relief staff to permanent DEPENDS on the onboarding programme existing — otherwise you lock in the defect.</a:t>
            </a:r>
          </a:p>
        </p:txBody>
      </p:sp>
      <p:sp>
        <p:nvSpPr>
          <p:cNvPr id="18" name="Rectangle 17"/>
          <p:cNvSpPr/>
          <p:nvPr/>
        </p:nvSpPr>
        <p:spPr>
          <a:xfrm>
            <a:off x="777240" y="4306824"/>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06824"/>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10058400" cy="292608"/>
          </a:xfrm>
          <a:prstGeom prst="rect">
            <a:avLst/>
          </a:prstGeom>
          <a:noFill/>
        </p:spPr>
        <p:txBody>
          <a:bodyPr wrap="square" anchor="t">
            <a:spAutoFit/>
          </a:bodyPr>
          <a:lstStyle/>
          <a:p>
            <a:pPr algn="l">
              <a:spcAft>
                <a:spcPts val="400"/>
              </a:spcAft>
            </a:pPr>
            <a:r>
              <a:rPr sz="1050" b="1">
                <a:solidFill>
                  <a:srgbClr val="7C3AED"/>
                </a:solidFill>
                <a:latin typeface="Arial"/>
              </a:rPr>
              <a:t>OWNER OVERLOAD</a:t>
            </a:r>
          </a:p>
        </p:txBody>
      </p:sp>
      <p:sp>
        <p:nvSpPr>
          <p:cNvPr id="21" name="TextBox 20"/>
          <p:cNvSpPr txBox="1"/>
          <p:nvPr/>
        </p:nvSpPr>
        <p:spPr>
          <a:xfrm>
            <a:off x="1097280" y="4718304"/>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If one role owns three of four actions, the plan is a single point of failure however good each row looks.</a:t>
            </a:r>
          </a:p>
        </p:txBody>
      </p:sp>
      <p:sp>
        <p:nvSpPr>
          <p:cNvPr id="22" name="Rectangle 21"/>
          <p:cNvSpPr/>
          <p:nvPr/>
        </p:nvSpPr>
        <p:spPr>
          <a:xfrm>
            <a:off x="777240" y="5344668"/>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44668"/>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445252"/>
            <a:ext cx="10058400" cy="292608"/>
          </a:xfrm>
          <a:prstGeom prst="rect">
            <a:avLst/>
          </a:prstGeom>
          <a:noFill/>
        </p:spPr>
        <p:txBody>
          <a:bodyPr wrap="square" anchor="t">
            <a:spAutoFit/>
          </a:bodyPr>
          <a:lstStyle/>
          <a:p>
            <a:pPr algn="l">
              <a:spcAft>
                <a:spcPts val="400"/>
              </a:spcAft>
            </a:pPr>
            <a:r>
              <a:rPr sz="1050" b="1">
                <a:solidFill>
                  <a:srgbClr val="F59E0B"/>
                </a:solidFill>
                <a:latin typeface="Arial"/>
              </a:rPr>
              <a:t>CHECKPOINTS CARRY DECISIONS</a:t>
            </a:r>
          </a:p>
        </p:txBody>
      </p:sp>
      <p:sp>
        <p:nvSpPr>
          <p:cNvPr id="25" name="TextBox 24"/>
          <p:cNvSpPr txBox="1"/>
          <p:nvPr/>
        </p:nvSpPr>
        <p:spPr>
          <a:xfrm>
            <a:off x="1097280" y="5756148"/>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'Review progress' is theatre. 'Decide to roll out, extend or stop' is governance.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transition spd="med"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Selecting, Implementing and Measuring Solution Effectiveness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Implementation planning · Stakeholders &amp; resistance · Change management · KPIs · PDCA</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K8  ·  WHAT ACTUALLY DETERMINES SUCCESS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CRM worked perfectly. That was not the problem.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Solutions fail on adoption far more often than on design. Implementation is mostly about people.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IMPLEMENTATION ARC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Decision to Proven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Sequence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What before what</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Assign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Named owners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Engage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Stakeholders &amp; resistance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Execute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With checkpoints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Evaluate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Against the baseline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CLOSING LOOP</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Evaluation compares against the baseline captured in your problem statement. Topic 3 only works because Topic 1 was done properly.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med"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K8  ·  WHAT MAKES OR BREAKS A ROLLOUT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Factors Affecting Implementation Effectiveness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Sponsorship</a:t>
            </a:r>
          </a:p>
          <a:p>
            <a:pPr algn="l">
              <a:spcAft>
                <a:spcPts val="300"/>
              </a:spcAft>
            </a:pPr>
            <a:r>
              <a:rPr sz="1100" b="0">
                <a:solidFill>
                  <a:srgbClr val="5B6372"/>
                </a:solidFill>
                <a:latin typeface="Arial"/>
              </a:rPr>
              <a:t>A senior owner who can re-prioritise competing work — not just endorse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Sequencing</a:t>
            </a:r>
          </a:p>
          <a:p>
            <a:pPr algn="l">
              <a:spcAft>
                <a:spcPts val="300"/>
              </a:spcAft>
            </a:pPr>
            <a:r>
              <a:rPr sz="1100" b="0">
                <a:solidFill>
                  <a:srgbClr val="5B6372"/>
                </a:solidFill>
                <a:latin typeface="Arial"/>
              </a:rPr>
              <a:t>Dependencies respected. A recovery campaign before a speed fix burns the customer twice.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Capacity</a:t>
            </a:r>
          </a:p>
          <a:p>
            <a:pPr algn="l">
              <a:spcAft>
                <a:spcPts val="300"/>
              </a:spcAft>
            </a:pPr>
            <a:r>
              <a:rPr sz="1100" b="0">
                <a:solidFill>
                  <a:srgbClr val="5B6372"/>
                </a:solidFill>
                <a:latin typeface="Arial"/>
              </a:rPr>
              <a:t>Teams already at capacity will not absorb new work by goodwill.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Stakeholder buy-in</a:t>
            </a:r>
          </a:p>
          <a:p>
            <a:pPr algn="l">
              <a:spcAft>
                <a:spcPts val="300"/>
              </a:spcAft>
            </a:pPr>
            <a:r>
              <a:rPr sz="1100" b="0">
                <a:solidFill>
                  <a:srgbClr val="5B6372"/>
                </a:solidFill>
                <a:latin typeface="Arial"/>
              </a:rPr>
              <a:t>Resistance is a design input, not a surprise to be managed later.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Communication</a:t>
            </a:r>
          </a:p>
          <a:p>
            <a:pPr algn="l">
              <a:spcAft>
                <a:spcPts val="300"/>
              </a:spcAft>
            </a:pPr>
            <a:r>
              <a:rPr sz="1100" b="0">
                <a:solidFill>
                  <a:srgbClr val="5B6372"/>
                </a:solidFill>
                <a:latin typeface="Arial"/>
              </a:rPr>
              <a:t>Regular, specific, and continuing past launch — not a single kick-off email.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Measurement</a:t>
            </a:r>
          </a:p>
          <a:p>
            <a:pPr algn="l">
              <a:spcAft>
                <a:spcPts val="300"/>
              </a:spcAft>
            </a:pPr>
            <a:r>
              <a:rPr sz="1100" b="0">
                <a:solidFill>
                  <a:srgbClr val="5B6372"/>
                </a:solidFill>
                <a:latin typeface="Arial"/>
              </a:rPr>
              <a:t>Defined at day 0, with the window and the control agreed before you start.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SECURING ADOPTION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Change Management Actions That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Leadership alignment</a:t>
            </a:r>
          </a:p>
          <a:p>
            <a:pPr algn="l">
              <a:spcAft>
                <a:spcPts val="300"/>
              </a:spcAft>
            </a:pPr>
            <a:r>
              <a:rPr sz="1100" b="0">
                <a:solidFill>
                  <a:srgbClr val="5B6372"/>
                </a:solidFill>
                <a:latin typeface="Arial"/>
              </a:rPr>
              <a:t>Communicate the business goal and tie measurable KPIs to outcomes.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Quick wins first</a:t>
            </a:r>
          </a:p>
          <a:p>
            <a:pPr algn="l">
              <a:spcAft>
                <a:spcPts val="300"/>
              </a:spcAft>
            </a:pPr>
            <a:r>
              <a:rPr sz="1100" b="0">
                <a:solidFill>
                  <a:srgbClr val="5B6372"/>
                </a:solidFill>
                <a:latin typeface="Arial"/>
              </a:rPr>
              <a:t>Deliver an early visible improvement to build momentum and credibility.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Involve early</a:t>
            </a:r>
          </a:p>
          <a:p>
            <a:pPr algn="l">
              <a:spcAft>
                <a:spcPts val="300"/>
              </a:spcAft>
            </a:pPr>
            <a:r>
              <a:rPr sz="1100" b="0">
                <a:solidFill>
                  <a:srgbClr val="5B6372"/>
                </a:solidFill>
                <a:latin typeface="Arial"/>
              </a:rPr>
              <a:t>Bring affected teams into solution design before rollout, not after.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Co-design with resisters</a:t>
            </a:r>
          </a:p>
          <a:p>
            <a:pPr algn="l">
              <a:spcAft>
                <a:spcPts val="300"/>
              </a:spcAft>
            </a:pPr>
            <a:r>
              <a:rPr sz="1100" b="0">
                <a:solidFill>
                  <a:srgbClr val="5B6372"/>
                </a:solidFill>
                <a:latin typeface="Arial"/>
              </a:rPr>
              <a:t>An imposed standard is complied with on paper. A co-designed one sticks.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Incentives &amp; accountability</a:t>
            </a:r>
          </a:p>
          <a:p>
            <a:pPr algn="l">
              <a:spcAft>
                <a:spcPts val="300"/>
              </a:spcAft>
            </a:pPr>
            <a:r>
              <a:rPr sz="1100" b="0">
                <a:solidFill>
                  <a:srgbClr val="5B6372"/>
                </a:solidFill>
                <a:latin typeface="Arial"/>
              </a:rPr>
              <a:t>Link the change to performance metrics people are actually measured 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Train and support</a:t>
            </a:r>
          </a:p>
          <a:p>
            <a:pPr algn="l">
              <a:spcAft>
                <a:spcPts val="300"/>
              </a:spcAft>
            </a:pPr>
            <a:r>
              <a:rPr sz="1100" b="0">
                <a:solidFill>
                  <a:srgbClr val="5B6372"/>
                </a:solidFill>
                <a:latin typeface="Arial"/>
              </a:rPr>
              <a:t>SOPs, quick guides and a real helpdesk — adoption dies without support.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RESISTANCE IS INFORMATION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Stakeholder Resistance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Stakeholder 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they actually object to</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The move that works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At-capacity team</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Workload, not the idea</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Real relief — re-prioritise or fund capacity</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Face at risk</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Being shown to have been wrong</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Reframe; give them ownership of a win</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External party</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Cost and scrutiny</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Co-design, then tie to commercial consequence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Job-security fear</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rational threat</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Commit only to what you can guarantee</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The indifferent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Nothing — and that is the danger</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Give them a stake before you need them</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The messenger matters as much as the message. Assign one to every conversation.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THE QUIET RISK</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Indifference kills more rollouts than opposition.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Nobody escalates an absence of enthusiasm — so it is never fixed until the launch fails.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PROMPT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Implementation &amp; Change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1638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2889504"/>
          </a:xfrm>
          <a:prstGeom prst="rect">
            <a:avLst/>
          </a:prstGeom>
          <a:noFill/>
        </p:spPr>
        <p:txBody>
          <a:bodyPr wrap="square">
            <a:spAutoFit/>
          </a:bodyPr>
          <a:lstStyle/>
          <a:p>
            <a:pPr>
              <a:spcAft>
                <a:spcPts val="150"/>
              </a:spcAft>
            </a:pPr>
            <a:r>
              <a:rPr sz="700" b="0">
                <a:solidFill>
                  <a:srgbClr val="D4D4D4"/>
                </a:solidFill>
                <a:latin typeface="Consolas"/>
              </a:rPr>
              <a:t>Act as a change management and implementation planning advisor.</a:t>
            </a:r>
          </a:p>
          <a:p>
            <a:pPr>
              <a:spcAft>
                <a:spcPts val="150"/>
              </a:spcAft>
            </a:pPr>
            <a:r>
              <a:rPr sz="700" b="0">
                <a:solidFill>
                  <a:srgbClr val="D4D4D4"/>
                </a:solidFill>
                <a:latin typeface="Consolas"/>
              </a:rPr>
              <a:t> </a:t>
            </a:r>
          </a:p>
          <a:p>
            <a:pPr>
              <a:spcAft>
                <a:spcPts val="150"/>
              </a:spcAft>
            </a:pPr>
            <a:r>
              <a:rPr sz="700" b="1">
                <a:solidFill>
                  <a:srgbClr val="4EC9B0"/>
                </a:solidFill>
                <a:latin typeface="Consolas"/>
              </a:rPr>
              <a:t>Approved solutions:</a:t>
            </a:r>
          </a:p>
          <a:p>
            <a:pPr>
              <a:spcAft>
                <a:spcPts val="150"/>
              </a:spcAft>
            </a:pPr>
            <a:r>
              <a:rPr sz="700" b="1">
                <a:solidFill>
                  <a:srgbClr val="F59E0B"/>
                </a:solidFill>
                <a:latin typeface="Consolas"/>
              </a:rPr>
              <a:t>&lt;&lt;List your solutions&gt;&gt;</a:t>
            </a:r>
          </a:p>
          <a:p>
            <a:pPr>
              <a:spcAft>
                <a:spcPts val="150"/>
              </a:spcAft>
            </a:pPr>
            <a:r>
              <a:rPr sz="700" b="0">
                <a:solidFill>
                  <a:srgbClr val="D4D4D4"/>
                </a:solidFill>
                <a:latin typeface="Consolas"/>
              </a:rPr>
              <a:t> </a:t>
            </a:r>
          </a:p>
          <a:p>
            <a:pPr>
              <a:spcAft>
                <a:spcPts val="150"/>
              </a:spcAft>
            </a:pPr>
            <a:r>
              <a:rPr sz="700" b="1">
                <a:solidFill>
                  <a:srgbClr val="4EC9B0"/>
                </a:solidFill>
                <a:latin typeface="Consolas"/>
              </a:rPr>
              <a:t>PART A — Implementation plan. For each solution give ONLY:</a:t>
            </a:r>
          </a:p>
          <a:p>
            <a:pPr>
              <a:spcAft>
                <a:spcPts val="150"/>
              </a:spcAft>
            </a:pPr>
            <a:r>
              <a:rPr sz="700" b="0">
                <a:solidFill>
                  <a:srgbClr val="9CDCFE"/>
                </a:solidFill>
                <a:latin typeface="Consolas"/>
              </a:rPr>
              <a:t>- Action (what will be done)</a:t>
            </a:r>
          </a:p>
          <a:p>
            <a:pPr>
              <a:spcAft>
                <a:spcPts val="150"/>
              </a:spcAft>
            </a:pPr>
            <a:r>
              <a:rPr sz="700" b="0">
                <a:solidFill>
                  <a:srgbClr val="9CDCFE"/>
                </a:solidFill>
                <a:latin typeface="Consolas"/>
              </a:rPr>
              <a:t>- Method/tool (how)</a:t>
            </a:r>
          </a:p>
          <a:p>
            <a:pPr>
              <a:spcAft>
                <a:spcPts val="150"/>
              </a:spcAft>
            </a:pPr>
            <a:r>
              <a:rPr sz="700" b="0">
                <a:solidFill>
                  <a:srgbClr val="9CDCFE"/>
                </a:solidFill>
                <a:latin typeface="Consolas"/>
              </a:rPr>
              <a:t>- Owner and timeline (who, by when)</a:t>
            </a:r>
          </a:p>
          <a:p>
            <a:pPr>
              <a:spcAft>
                <a:spcPts val="150"/>
              </a:spcAft>
            </a:pPr>
            <a:r>
              <a:rPr sz="700" b="0">
                <a:solidFill>
                  <a:srgbClr val="9CDCFE"/>
                </a:solidFill>
                <a:latin typeface="Consolas"/>
              </a:rPr>
              <a:t>- Sequencing note (what must happen before it)</a:t>
            </a:r>
          </a:p>
          <a:p>
            <a:pPr>
              <a:spcAft>
                <a:spcPts val="150"/>
              </a:spcAft>
            </a:pPr>
            <a:r>
              <a:rPr sz="700" b="0">
                <a:solidFill>
                  <a:srgbClr val="D4D4D4"/>
                </a:solidFill>
                <a:latin typeface="Consolas"/>
              </a:rPr>
              <a:t> </a:t>
            </a:r>
          </a:p>
          <a:p>
            <a:pPr>
              <a:spcAft>
                <a:spcPts val="150"/>
              </a:spcAft>
            </a:pPr>
            <a:r>
              <a:rPr sz="700" b="1">
                <a:solidFill>
                  <a:srgbClr val="4EC9B0"/>
                </a:solidFill>
                <a:latin typeface="Consolas"/>
              </a:rPr>
              <a:t>PART B — Stakeholder strategy. For EACH stakeholder give:</a:t>
            </a:r>
          </a:p>
          <a:p>
            <a:pPr>
              <a:spcAft>
                <a:spcPts val="150"/>
              </a:spcAft>
            </a:pPr>
            <a:r>
              <a:rPr sz="700" b="0">
                <a:solidFill>
                  <a:srgbClr val="9CDCFE"/>
                </a:solidFill>
                <a:latin typeface="Consolas"/>
              </a:rPr>
              <a:t>- Their specific objection in THEIR words, not yours</a:t>
            </a:r>
          </a:p>
          <a:p>
            <a:pPr>
              <a:spcAft>
                <a:spcPts val="150"/>
              </a:spcAft>
            </a:pPr>
            <a:r>
              <a:rPr sz="700" b="0">
                <a:solidFill>
                  <a:srgbClr val="9CDCFE"/>
                </a:solidFill>
                <a:latin typeface="Consolas"/>
              </a:rPr>
              <a:t>- What they need to hear or receive to move</a:t>
            </a:r>
          </a:p>
          <a:p>
            <a:pPr>
              <a:spcAft>
                <a:spcPts val="150"/>
              </a:spcAft>
            </a:pPr>
            <a:r>
              <a:rPr sz="700" b="0">
                <a:solidFill>
                  <a:srgbClr val="9CDCFE"/>
                </a:solidFill>
                <a:latin typeface="Consolas"/>
              </a:rPr>
              <a:t>- One concrete action to secure cooperation</a:t>
            </a:r>
          </a:p>
          <a:p>
            <a:pPr>
              <a:spcAft>
                <a:spcPts val="150"/>
              </a:spcAft>
            </a:pPr>
            <a:r>
              <a:rPr sz="700" b="0">
                <a:solidFill>
                  <a:srgbClr val="9CDCFE"/>
                </a:solidFill>
                <a:latin typeface="Consolas"/>
              </a:rPr>
              <a:t>- Who should deliver that message, and why</a:t>
            </a:r>
          </a:p>
          <a:p>
            <a:pPr>
              <a:spcAft>
                <a:spcPts val="150"/>
              </a:spcAft>
            </a:pPr>
            <a:r>
              <a:rPr sz="700" b="0">
                <a:solidFill>
                  <a:srgbClr val="D4D4D4"/>
                </a:solidFill>
                <a:latin typeface="Consolas"/>
              </a:rPr>
              <a:t> </a:t>
            </a:r>
          </a:p>
          <a:p>
            <a:pPr>
              <a:spcAft>
                <a:spcPts val="150"/>
              </a:spcAft>
            </a:pPr>
            <a:r>
              <a:rPr sz="700" b="0">
                <a:solidFill>
                  <a:srgbClr val="D4D4D4"/>
                </a:solidFill>
                <a:latin typeface="Consolas"/>
              </a:rPr>
              <a:t>PART C — Name the ONE stakeholder most likely to sink this</a:t>
            </a:r>
          </a:p>
          <a:p>
            <a:pPr>
              <a:spcAft>
                <a:spcPts val="150"/>
              </a:spcAft>
            </a:pPr>
            <a:r>
              <a:rPr sz="700" b="0">
                <a:solidFill>
                  <a:srgbClr val="D4D4D4"/>
                </a:solidFill>
                <a:latin typeface="Consolas"/>
              </a:rPr>
              <a:t>rollout and explain what makes them dangerous. Then give a</a:t>
            </a:r>
          </a:p>
          <a:p>
            <a:pPr>
              <a:spcAft>
                <a:spcPts val="150"/>
              </a:spcAft>
            </a:pPr>
            <a:r>
              <a:rPr sz="700" b="0">
                <a:solidFill>
                  <a:srgbClr val="D4D4D4"/>
                </a:solidFill>
                <a:latin typeface="Consolas"/>
              </a:rPr>
              <a:t>90-day communication plan: what, to whom, how often, by whom.</a:t>
            </a:r>
          </a:p>
          <a:p>
            <a:pPr>
              <a:spcAft>
                <a:spcPts val="150"/>
              </a:spcAft>
            </a:pPr>
            <a:r>
              <a:rPr sz="700" b="0">
                <a:solidFill>
                  <a:srgbClr val="D4D4D4"/>
                </a:solidFill>
                <a:latin typeface="Consolas"/>
              </a:rPr>
              <a:t> </a:t>
            </a:r>
          </a:p>
          <a:p>
            <a:pPr>
              <a:spcAft>
                <a:spcPts val="150"/>
              </a:spcAft>
            </a:pPr>
            <a:r>
              <a:rPr sz="700" b="0">
                <a:solidFill>
                  <a:srgbClr val="D4D4D4"/>
                </a:solidFill>
                <a:latin typeface="Consolas"/>
              </a:rPr>
              <a:t>Be blunt about political realities. Do not assume goodwill.</a:t>
            </a:r>
          </a:p>
        </p:txBody>
      </p:sp>
      <p:sp>
        <p:nvSpPr>
          <p:cNvPr id="12" name="Rectangle 11"/>
          <p:cNvSpPr/>
          <p:nvPr/>
        </p:nvSpPr>
        <p:spPr>
          <a:xfrm>
            <a:off x="777240" y="5541264"/>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541264"/>
            <a:ext cx="8229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541264"/>
            <a:ext cx="10149840" cy="713232"/>
          </a:xfrm>
          <a:prstGeom prst="rect">
            <a:avLst/>
          </a:prstGeom>
          <a:noFill/>
        </p:spPr>
        <p:txBody>
          <a:bodyPr wrap="square" anchor="ctr">
            <a:spAutoFit/>
          </a:bodyPr>
          <a:lstStyle/>
          <a:p>
            <a:pPr algn="l">
              <a:spcAft>
                <a:spcPts val="400"/>
              </a:spcAft>
            </a:pPr>
            <a:r>
              <a:rPr sz="1050" b="1">
                <a:solidFill>
                  <a:srgbClr val="F59E0B"/>
                </a:solidFill>
                <a:latin typeface="Arial"/>
              </a:rPr>
              <a:t>WATCH FOR  </a:t>
            </a:r>
            <a:r>
              <a:rPr sz="1150" b="0">
                <a:solidFill>
                  <a:srgbClr val="161B26"/>
                </a:solidFill>
                <a:latin typeface="Arial"/>
              </a:rPr>
              <a:t>The AI has no stake in your office politics — it will name the face-saving problem you would not write down.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Activity 9 — Implementation Planning and Stakeholder Resistance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46304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463040" cy="402336"/>
          </a:xfrm>
          <a:prstGeom prst="rect">
            <a:avLst/>
          </a:prstGeom>
          <a:noFill/>
        </p:spPr>
        <p:txBody>
          <a:bodyPr wrap="square" anchor="ctr">
            <a:spAutoFit/>
          </a:bodyPr>
          <a:lstStyle/>
          <a:p>
            <a:pPr algn="ctr">
              <a:spcAft>
                <a:spcPts val="400"/>
              </a:spcAft>
            </a:pPr>
            <a:r>
              <a:rPr sz="1400" b="1">
                <a:solidFill>
                  <a:srgbClr val="FFFFFF"/>
                </a:solidFill>
                <a:latin typeface="Arial"/>
              </a:rPr>
              <a:t>ACTIVITY 9</a:t>
            </a:r>
          </a:p>
        </p:txBody>
      </p:sp>
      <p:sp>
        <p:nvSpPr>
          <p:cNvPr id="9" name="TextBox 8"/>
          <p:cNvSpPr txBox="1"/>
          <p:nvPr/>
        </p:nvSpPr>
        <p:spPr>
          <a:xfrm>
            <a:off x="2395728" y="1719072"/>
            <a:ext cx="8961120" cy="402336"/>
          </a:xfrm>
          <a:prstGeom prst="rect">
            <a:avLst/>
          </a:prstGeom>
          <a:noFill/>
        </p:spPr>
        <p:txBody>
          <a:bodyPr wrap="square" anchor="ctr">
            <a:spAutoFit/>
          </a:bodyPr>
          <a:lstStyle/>
          <a:p>
            <a:pPr algn="l">
              <a:spcAft>
                <a:spcPts val="400"/>
              </a:spcAft>
            </a:pPr>
            <a:r>
              <a:rPr sz="1100" b="0">
                <a:solidFill>
                  <a:srgbClr val="5B6372"/>
                </a:solidFill>
                <a:latin typeface="Arial"/>
              </a:rPr>
              <a:t>A6 · K3, K8 — Draw up implementation plans and address factors affecting effectiveness.</a:t>
            </a:r>
          </a:p>
        </p:txBody>
      </p:sp>
      <p:sp>
        <p:nvSpPr>
          <p:cNvPr id="10" name="Rectangle 9"/>
          <p:cNvSpPr/>
          <p:nvPr/>
        </p:nvSpPr>
        <p:spPr>
          <a:xfrm>
            <a:off x="777240" y="228600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14016"/>
            <a:ext cx="10149840" cy="329184"/>
          </a:xfrm>
          <a:prstGeom prst="rect">
            <a:avLst/>
          </a:prstGeom>
          <a:noFill/>
        </p:spPr>
        <p:txBody>
          <a:bodyPr wrap="square" anchor="t">
            <a:spAutoFit/>
          </a:bodyPr>
          <a:lstStyle/>
          <a:p>
            <a:pPr algn="l">
              <a:spcAft>
                <a:spcPts val="400"/>
              </a:spcAft>
            </a:pPr>
            <a:r>
              <a:rPr sz="1550" b="1">
                <a:solidFill>
                  <a:srgbClr val="161B26"/>
                </a:solidFill>
                <a:latin typeface="Arial"/>
              </a:rPr>
              <a:t>ShopFront SG — the rollout that has to survive contact with people</a:t>
            </a:r>
          </a:p>
        </p:txBody>
      </p:sp>
      <p:sp>
        <p:nvSpPr>
          <p:cNvPr id="13" name="TextBox 12"/>
          <p:cNvSpPr txBox="1"/>
          <p:nvPr/>
        </p:nvSpPr>
        <p:spPr>
          <a:xfrm>
            <a:off x="1078992" y="2779776"/>
            <a:ext cx="10149840" cy="731520"/>
          </a:xfrm>
          <a:prstGeom prst="rect">
            <a:avLst/>
          </a:prstGeom>
          <a:noFill/>
        </p:spPr>
        <p:txBody>
          <a:bodyPr wrap="square" anchor="t">
            <a:spAutoFit/>
          </a:bodyPr>
          <a:lstStyle/>
          <a:p>
            <a:pPr algn="l">
              <a:spcAft>
                <a:spcPts val="400"/>
              </a:spcAft>
            </a:pPr>
            <a:r>
              <a:rPr sz="1250" b="0">
                <a:solidFill>
                  <a:srgbClr val="5B6372"/>
                </a:solidFill>
                <a:latin typeface="Arial"/>
              </a:rPr>
              <a:t>Build the rollout plan AND the stakeholder strategy that makes it survive contact with people.</a:t>
            </a:r>
          </a:p>
        </p:txBody>
      </p:sp>
      <p:sp>
        <p:nvSpPr>
          <p:cNvPr id="14" name="Rectangle 13"/>
          <p:cNvSpPr/>
          <p:nvPr/>
        </p:nvSpPr>
        <p:spPr>
          <a:xfrm>
            <a:off x="777240"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85615"/>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31920"/>
            <a:ext cx="2980944" cy="292608"/>
          </a:xfrm>
          <a:prstGeom prst="rect">
            <a:avLst/>
          </a:prstGeom>
          <a:noFill/>
        </p:spPr>
        <p:txBody>
          <a:bodyPr wrap="square" anchor="t">
            <a:spAutoFit/>
          </a:bodyPr>
          <a:lstStyle/>
          <a:p>
            <a:pPr algn="l">
              <a:spcAft>
                <a:spcPts val="400"/>
              </a:spcAft>
            </a:pPr>
            <a:r>
              <a:rPr sz="1100" b="1">
                <a:solidFill>
                  <a:srgbClr val="1F6FEB"/>
                </a:solidFill>
                <a:latin typeface="Arial"/>
              </a:rPr>
              <a:t>TEAM</a:t>
            </a:r>
          </a:p>
        </p:txBody>
      </p:sp>
      <p:sp>
        <p:nvSpPr>
          <p:cNvPr id="17" name="TextBox 16"/>
          <p:cNvSpPr txBox="1"/>
          <p:nvPr/>
        </p:nvSpPr>
        <p:spPr>
          <a:xfrm>
            <a:off x="996696"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Teams of 3-5</a:t>
            </a:r>
          </a:p>
        </p:txBody>
      </p:sp>
      <p:sp>
        <p:nvSpPr>
          <p:cNvPr id="18" name="Rectangle 17"/>
          <p:cNvSpPr/>
          <p:nvPr/>
        </p:nvSpPr>
        <p:spPr>
          <a:xfrm>
            <a:off x="4398264"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85615"/>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31920"/>
            <a:ext cx="2980944" cy="292608"/>
          </a:xfrm>
          <a:prstGeom prst="rect">
            <a:avLst/>
          </a:prstGeom>
          <a:noFill/>
        </p:spPr>
        <p:txBody>
          <a:bodyPr wrap="square" anchor="t">
            <a:spAutoFit/>
          </a:bodyPr>
          <a:lstStyle/>
          <a:p>
            <a:pPr algn="l">
              <a:spcAft>
                <a:spcPts val="400"/>
              </a:spcAft>
            </a:pPr>
            <a:r>
              <a:rPr sz="1100" b="1">
                <a:solidFill>
                  <a:srgbClr val="10B981"/>
                </a:solidFill>
                <a:latin typeface="Arial"/>
              </a:rPr>
              <a:t>TIME</a:t>
            </a:r>
          </a:p>
        </p:txBody>
      </p:sp>
      <p:sp>
        <p:nvSpPr>
          <p:cNvPr id="21" name="TextBox 20"/>
          <p:cNvSpPr txBox="1"/>
          <p:nvPr/>
        </p:nvSpPr>
        <p:spPr>
          <a:xfrm>
            <a:off x="4617720"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50 minutes</a:t>
            </a:r>
          </a:p>
        </p:txBody>
      </p:sp>
      <p:sp>
        <p:nvSpPr>
          <p:cNvPr id="22" name="Rectangle 21"/>
          <p:cNvSpPr/>
          <p:nvPr/>
        </p:nvSpPr>
        <p:spPr>
          <a:xfrm>
            <a:off x="8019288"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85615"/>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31920"/>
            <a:ext cx="2980944" cy="292608"/>
          </a:xfrm>
          <a:prstGeom prst="rect">
            <a:avLst/>
          </a:prstGeom>
          <a:noFill/>
        </p:spPr>
        <p:txBody>
          <a:bodyPr wrap="square" anchor="t">
            <a:spAutoFit/>
          </a:bodyPr>
          <a:lstStyle/>
          <a:p>
            <a:pPr algn="l">
              <a:spcAft>
                <a:spcPts val="400"/>
              </a:spcAft>
            </a:pPr>
            <a:r>
              <a:rPr sz="1100" b="1">
                <a:solidFill>
                  <a:srgbClr val="7C3AED"/>
                </a:solidFill>
                <a:latin typeface="Arial"/>
              </a:rPr>
              <a:t>TOOL</a:t>
            </a:r>
          </a:p>
        </p:txBody>
      </p:sp>
      <p:sp>
        <p:nvSpPr>
          <p:cNvPr id="25" name="TextBox 24"/>
          <p:cNvSpPr txBox="1"/>
          <p:nvPr/>
        </p:nvSpPr>
        <p:spPr>
          <a:xfrm>
            <a:off x="8238744" y="4261104"/>
            <a:ext cx="2980944" cy="914400"/>
          </a:xfrm>
          <a:prstGeom prst="rect">
            <a:avLst/>
          </a:prstGeom>
          <a:noFill/>
        </p:spPr>
        <p:txBody>
          <a:bodyPr wrap="square" anchor="t">
            <a:spAutoFit/>
          </a:bodyPr>
          <a:lstStyle/>
          <a:p>
            <a:pPr algn="l">
              <a:spcAft>
                <a:spcPts val="400"/>
              </a:spcAft>
            </a:pPr>
            <a:r>
              <a:rPr sz="1050" b="0">
                <a:solidFill>
                  <a:srgbClr val="161B26"/>
                </a:solidFill>
                <a:latin typeface="Arial"/>
              </a:rPr>
              <a:t>Pinboard · https://alfredang.github.io/pinboard/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9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Situation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02336"/>
          </a:xfrm>
          <a:prstGeom prst="rect">
            <a:avLst/>
          </a:prstGeom>
          <a:noFill/>
        </p:spPr>
        <p:txBody>
          <a:bodyPr wrap="square" anchor="ctr">
            <a:spAutoFit/>
          </a:bodyPr>
          <a:lstStyle/>
          <a:p>
            <a:pPr algn="ctr">
              <a:spcAft>
                <a:spcPts val="400"/>
              </a:spcAft>
            </a:pPr>
            <a:r>
              <a:rPr sz="1200" b="1">
                <a:solidFill>
                  <a:srgbClr val="FFFFFF"/>
                </a:solidFill>
                <a:latin typeface="Arial"/>
              </a:rPr>
              <a:t>CASE STUDY</a:t>
            </a:r>
          </a:p>
        </p:txBody>
      </p:sp>
      <p:sp>
        <p:nvSpPr>
          <p:cNvPr id="9" name="TextBox 8"/>
          <p:cNvSpPr txBox="1"/>
          <p:nvPr/>
        </p:nvSpPr>
        <p:spPr>
          <a:xfrm>
            <a:off x="2633472" y="1719072"/>
            <a:ext cx="8778240" cy="402336"/>
          </a:xfrm>
          <a:prstGeom prst="rect">
            <a:avLst/>
          </a:prstGeom>
          <a:noFill/>
        </p:spPr>
        <p:txBody>
          <a:bodyPr wrap="square" anchor="ctr">
            <a:spAutoFit/>
          </a:bodyPr>
          <a:lstStyle/>
          <a:p>
            <a:pPr algn="l">
              <a:spcAft>
                <a:spcPts val="400"/>
              </a:spcAft>
            </a:pPr>
            <a:r>
              <a:rPr sz="1500" b="1">
                <a:solidFill>
                  <a:srgbClr val="161B26"/>
                </a:solidFill>
                <a:latin typeface="Arial"/>
              </a:rPr>
              <a:t>ShopFront SG — the rollout that has to survive contact with people</a:t>
            </a:r>
          </a:p>
        </p:txBody>
      </p:sp>
      <p:sp>
        <p:nvSpPr>
          <p:cNvPr id="10" name="Rectangle 9"/>
          <p:cNvSpPr/>
          <p:nvPr/>
        </p:nvSpPr>
        <p:spPr>
          <a:xfrm>
            <a:off x="777240" y="2286000"/>
            <a:ext cx="10634472" cy="3931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3931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432304"/>
            <a:ext cx="10058400" cy="3657600"/>
          </a:xfrm>
          <a:prstGeom prst="rect">
            <a:avLst/>
          </a:prstGeom>
          <a:noFill/>
        </p:spPr>
        <p:txBody>
          <a:bodyPr wrap="square">
            <a:spAutoFit/>
          </a:bodyPr>
          <a:lstStyle/>
          <a:p>
            <a:pPr>
              <a:spcAft>
                <a:spcPts val="700"/>
              </a:spcAft>
            </a:pPr>
            <a:r>
              <a:rPr sz="1300">
                <a:solidFill>
                  <a:srgbClr val="161B26"/>
                </a:solidFill>
                <a:latin typeface="Arial"/>
              </a:rPr>
              <a:t>Return to ShopFront SG from Activity 1. The diagnosis is complete and the solution set is approved: a one-page guest checkout, a CDN and caching layer to bring app load under 2 seconds, a supplier QC checklist to cut the return rate, and cart-recovery notifications.</a:t>
            </a:r>
          </a:p>
          <a:p>
            <a:pPr>
              <a:spcAft>
                <a:spcPts val="700"/>
              </a:spcAft>
            </a:pPr>
            <a:r>
              <a:rPr sz="1300">
                <a:solidFill>
                  <a:srgbClr val="161B26"/>
                </a:solidFill>
                <a:latin typeface="Arial"/>
              </a:rPr>
              <a:t>The Chief Operating Officer has seen improvement projects die before. She says:</a:t>
            </a:r>
          </a:p>
          <a:p>
            <a:pPr>
              <a:spcAft>
                <a:spcPts val="700"/>
              </a:spcAft>
            </a:pPr>
            <a:r>
              <a:rPr sz="1300">
                <a:solidFill>
                  <a:srgbClr val="161B26"/>
                </a:solidFill>
                <a:latin typeface="Arial"/>
              </a:rPr>
              <a:t>"The plan is fine. Now tell me who is going to fight it, why, and what you are going to do about it. Last year we bought a S$400,000 CRM that nobody used. It worked perfectly. That was not the problem."</a:t>
            </a:r>
          </a:p>
          <a:p>
            <a:pPr>
              <a:spcAft>
                <a:spcPts val="700"/>
              </a:spcAft>
            </a:pPr>
            <a:r>
              <a:rPr sz="1300">
                <a:solidFill>
                  <a:srgbClr val="161B26"/>
                </a:solidFill>
                <a:latin typeface="Arial"/>
              </a:rPr>
              <a:t>Your team must build the implementation plan AND the stakeholder strategy that makes it stick. Assume nothing about goodwill.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9  ·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Stakeholders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Stakeholder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Interest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Likely position</a:t>
            </a:r>
          </a:p>
        </p:txBody>
      </p:sp>
      <p:sp>
        <p:nvSpPr>
          <p:cNvPr id="13" name="Rectangle 12"/>
          <p:cNvSpPr/>
          <p:nvPr/>
        </p:nvSpPr>
        <p:spPr>
          <a:xfrm>
            <a:off x="777240" y="2258568"/>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IT Development team</a:t>
            </a:r>
          </a:p>
        </p:txBody>
      </p:sp>
      <p:sp>
        <p:nvSpPr>
          <p:cNvPr id="15" name="Rectangle 14"/>
          <p:cNvSpPr/>
          <p:nvPr/>
        </p:nvSpPr>
        <p:spPr>
          <a:xfrm>
            <a:off x="3542202" y="2258568"/>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Already at capacity on a POS migration</a:t>
            </a:r>
          </a:p>
        </p:txBody>
      </p:sp>
      <p:sp>
        <p:nvSpPr>
          <p:cNvPr id="17" name="Rectangle 16"/>
          <p:cNvSpPr/>
          <p:nvPr/>
        </p:nvSpPr>
        <p:spPr>
          <a:xfrm>
            <a:off x="7476957" y="2258568"/>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Resist — sees added workload</a:t>
            </a:r>
          </a:p>
        </p:txBody>
      </p:sp>
      <p:sp>
        <p:nvSpPr>
          <p:cNvPr id="19" name="Rectangle 18"/>
          <p:cNvSpPr/>
          <p:nvPr/>
        </p:nvSpPr>
        <p:spPr>
          <a:xfrm>
            <a:off x="777240" y="2620899"/>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20899"/>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Head of Marketing</a:t>
            </a:r>
          </a:p>
        </p:txBody>
      </p:sp>
      <p:sp>
        <p:nvSpPr>
          <p:cNvPr id="21" name="Rectangle 20"/>
          <p:cNvSpPr/>
          <p:nvPr/>
        </p:nvSpPr>
        <p:spPr>
          <a:xfrm>
            <a:off x="3542202" y="2620899"/>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20899"/>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Sponsored the S$180k discount campaign</a:t>
            </a:r>
          </a:p>
        </p:txBody>
      </p:sp>
      <p:sp>
        <p:nvSpPr>
          <p:cNvPr id="23" name="Rectangle 22"/>
          <p:cNvSpPr/>
          <p:nvPr/>
        </p:nvSpPr>
        <p:spPr>
          <a:xfrm>
            <a:off x="7476957" y="2620899"/>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20899"/>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Resist — solution implies her spend was wrong</a:t>
            </a:r>
          </a:p>
        </p:txBody>
      </p:sp>
      <p:sp>
        <p:nvSpPr>
          <p:cNvPr id="25" name="Rectangle 24"/>
          <p:cNvSpPr/>
          <p:nvPr/>
        </p:nvSpPr>
        <p:spPr>
          <a:xfrm>
            <a:off x="777240" y="2983230"/>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2983230"/>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Store Operations</a:t>
            </a:r>
          </a:p>
        </p:txBody>
      </p:sp>
      <p:sp>
        <p:nvSpPr>
          <p:cNvPr id="27" name="Rectangle 26"/>
          <p:cNvSpPr/>
          <p:nvPr/>
        </p:nvSpPr>
        <p:spPr>
          <a:xfrm>
            <a:off x="3542202" y="2983230"/>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2983230"/>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In-store sales flat, feels unaffected</a:t>
            </a:r>
          </a:p>
        </p:txBody>
      </p:sp>
      <p:sp>
        <p:nvSpPr>
          <p:cNvPr id="29" name="Rectangle 28"/>
          <p:cNvSpPr/>
          <p:nvPr/>
        </p:nvSpPr>
        <p:spPr>
          <a:xfrm>
            <a:off x="7476957" y="2983230"/>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2983230"/>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Indifferent — 'not my problem'</a:t>
            </a:r>
          </a:p>
        </p:txBody>
      </p:sp>
      <p:sp>
        <p:nvSpPr>
          <p:cNvPr id="31" name="Rectangle 30"/>
          <p:cNvSpPr/>
          <p:nvPr/>
        </p:nvSpPr>
        <p:spPr>
          <a:xfrm>
            <a:off x="777240" y="3345561"/>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345561"/>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Suppliers (12 vendors)</a:t>
            </a:r>
          </a:p>
        </p:txBody>
      </p:sp>
      <p:sp>
        <p:nvSpPr>
          <p:cNvPr id="33" name="Rectangle 32"/>
          <p:cNvSpPr/>
          <p:nvPr/>
        </p:nvSpPr>
        <p:spPr>
          <a:xfrm>
            <a:off x="3542202" y="3345561"/>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345561"/>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Face new QC standards and possible delisting</a:t>
            </a:r>
          </a:p>
        </p:txBody>
      </p:sp>
      <p:sp>
        <p:nvSpPr>
          <p:cNvPr id="35" name="Rectangle 34"/>
          <p:cNvSpPr/>
          <p:nvPr/>
        </p:nvSpPr>
        <p:spPr>
          <a:xfrm>
            <a:off x="7476957" y="3345561"/>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345561"/>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Resist — cost and scrutiny</a:t>
            </a:r>
          </a:p>
        </p:txBody>
      </p:sp>
      <p:sp>
        <p:nvSpPr>
          <p:cNvPr id="37" name="Rectangle 36"/>
          <p:cNvSpPr/>
          <p:nvPr/>
        </p:nvSpPr>
        <p:spPr>
          <a:xfrm>
            <a:off x="777240" y="3707892"/>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707892"/>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Customer Service</a:t>
            </a:r>
          </a:p>
        </p:txBody>
      </p:sp>
      <p:sp>
        <p:nvSpPr>
          <p:cNvPr id="39" name="Rectangle 38"/>
          <p:cNvSpPr/>
          <p:nvPr/>
        </p:nvSpPr>
        <p:spPr>
          <a:xfrm>
            <a:off x="3542202" y="3707892"/>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707892"/>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Handling 410 tickets/week, overloaded</a:t>
            </a:r>
          </a:p>
        </p:txBody>
      </p:sp>
      <p:sp>
        <p:nvSpPr>
          <p:cNvPr id="41" name="Rectangle 40"/>
          <p:cNvSpPr/>
          <p:nvPr/>
        </p:nvSpPr>
        <p:spPr>
          <a:xfrm>
            <a:off x="7476957" y="3707892"/>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707892"/>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Support — expects relief</a:t>
            </a:r>
          </a:p>
        </p:txBody>
      </p:sp>
      <p:sp>
        <p:nvSpPr>
          <p:cNvPr id="43" name="Rectangle 42"/>
          <p:cNvSpPr/>
          <p:nvPr/>
        </p:nvSpPr>
        <p:spPr>
          <a:xfrm>
            <a:off x="777240" y="4070223"/>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070223"/>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Finance</a:t>
            </a:r>
          </a:p>
        </p:txBody>
      </p:sp>
      <p:sp>
        <p:nvSpPr>
          <p:cNvPr id="45" name="Rectangle 44"/>
          <p:cNvSpPr/>
          <p:nvPr/>
        </p:nvSpPr>
        <p:spPr>
          <a:xfrm>
            <a:off x="3542202" y="4070223"/>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070223"/>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Approved budget, wants ROI evidence</a:t>
            </a:r>
          </a:p>
        </p:txBody>
      </p:sp>
      <p:sp>
        <p:nvSpPr>
          <p:cNvPr id="47" name="Rectangle 46"/>
          <p:cNvSpPr/>
          <p:nvPr/>
        </p:nvSpPr>
        <p:spPr>
          <a:xfrm>
            <a:off x="7476957" y="4070223"/>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070223"/>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Conditional — needs measurement</a:t>
            </a:r>
          </a:p>
        </p:txBody>
      </p:sp>
      <p:sp>
        <p:nvSpPr>
          <p:cNvPr id="49" name="Rectangle 48"/>
          <p:cNvSpPr/>
          <p:nvPr/>
        </p:nvSpPr>
        <p:spPr>
          <a:xfrm>
            <a:off x="777240" y="4432554"/>
            <a:ext cx="2764962"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432554"/>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COO (sponsor)</a:t>
            </a:r>
          </a:p>
        </p:txBody>
      </p:sp>
      <p:sp>
        <p:nvSpPr>
          <p:cNvPr id="51" name="Rectangle 50"/>
          <p:cNvSpPr/>
          <p:nvPr/>
        </p:nvSpPr>
        <p:spPr>
          <a:xfrm>
            <a:off x="3542202" y="4432554"/>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432554"/>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Accountable for the turnaround</a:t>
            </a:r>
          </a:p>
        </p:txBody>
      </p:sp>
      <p:sp>
        <p:nvSpPr>
          <p:cNvPr id="53" name="Rectangle 52"/>
          <p:cNvSpPr/>
          <p:nvPr/>
        </p:nvSpPr>
        <p:spPr>
          <a:xfrm>
            <a:off x="7476957" y="4432554"/>
            <a:ext cx="3934755" cy="36233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432554"/>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Champion</a:t>
            </a:r>
          </a:p>
        </p:txBody>
      </p:sp>
      <p:sp>
        <p:nvSpPr>
          <p:cNvPr id="55" name="Rectangle 54"/>
          <p:cNvSpPr/>
          <p:nvPr/>
        </p:nvSpPr>
        <p:spPr>
          <a:xfrm>
            <a:off x="777240" y="4794885"/>
            <a:ext cx="2764962"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794885"/>
            <a:ext cx="2508930" cy="362331"/>
          </a:xfrm>
          <a:prstGeom prst="rect">
            <a:avLst/>
          </a:prstGeom>
          <a:noFill/>
        </p:spPr>
        <p:txBody>
          <a:bodyPr wrap="square" anchor="ctr">
            <a:spAutoFit/>
          </a:bodyPr>
          <a:lstStyle/>
          <a:p>
            <a:pPr algn="l">
              <a:spcAft>
                <a:spcPts val="400"/>
              </a:spcAft>
            </a:pPr>
            <a:r>
              <a:rPr sz="1150" b="1">
                <a:solidFill>
                  <a:srgbClr val="161B26"/>
                </a:solidFill>
                <a:latin typeface="Arial"/>
              </a:rPr>
              <a:t>Frontline retail staff</a:t>
            </a:r>
          </a:p>
        </p:txBody>
      </p:sp>
      <p:sp>
        <p:nvSpPr>
          <p:cNvPr id="57" name="Rectangle 56"/>
          <p:cNvSpPr/>
          <p:nvPr/>
        </p:nvSpPr>
        <p:spPr>
          <a:xfrm>
            <a:off x="3542202" y="4794885"/>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794885"/>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Fear digital shift reduces store headcount</a:t>
            </a:r>
          </a:p>
        </p:txBody>
      </p:sp>
      <p:sp>
        <p:nvSpPr>
          <p:cNvPr id="59" name="Rectangle 58"/>
          <p:cNvSpPr/>
          <p:nvPr/>
        </p:nvSpPr>
        <p:spPr>
          <a:xfrm>
            <a:off x="7476957" y="4794885"/>
            <a:ext cx="3934755" cy="3623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04973" y="4794885"/>
            <a:ext cx="3678723" cy="362331"/>
          </a:xfrm>
          <a:prstGeom prst="rect">
            <a:avLst/>
          </a:prstGeom>
          <a:noFill/>
        </p:spPr>
        <p:txBody>
          <a:bodyPr wrap="square" anchor="ctr">
            <a:spAutoFit/>
          </a:bodyPr>
          <a:lstStyle/>
          <a:p>
            <a:pPr algn="l">
              <a:spcAft>
                <a:spcPts val="400"/>
              </a:spcAft>
            </a:pPr>
            <a:r>
              <a:rPr sz="1150" b="0">
                <a:solidFill>
                  <a:srgbClr val="5B6372"/>
                </a:solidFill>
                <a:latin typeface="Arial"/>
              </a:rPr>
              <a:t>Anxious — job security</a:t>
            </a:r>
          </a:p>
        </p:txBody>
      </p:sp>
      <p:sp>
        <p:nvSpPr>
          <p:cNvPr id="61" name="Rectangle 60"/>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ShopFront SG — stakeholder map and known positions</a:t>
            </a:r>
          </a:p>
        </p:txBody>
      </p:sp>
      <p:sp>
        <p:nvSpPr>
          <p:cNvPr id="64" name="TextBox 6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65" name="TextBox 6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6" name="TextBox 6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9  ·  BREAKOUT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9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F6FEB"/>
                </a:solidFill>
                <a:latin typeface="Arial"/>
              </a:rPr>
              <a:t>DISCUSSION QUESTIONS</a:t>
            </a:r>
          </a:p>
        </p:txBody>
      </p:sp>
      <p:sp>
        <p:nvSpPr>
          <p:cNvPr id="10" name="Rectangle 9"/>
          <p:cNvSpPr/>
          <p:nvPr/>
        </p:nvSpPr>
        <p:spPr>
          <a:xfrm>
            <a:off x="777240" y="2231136"/>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237561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75611"/>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Q1</a:t>
            </a:r>
          </a:p>
        </p:txBody>
      </p:sp>
      <p:sp>
        <p:nvSpPr>
          <p:cNvPr id="14" name="TextBox 13"/>
          <p:cNvSpPr txBox="1"/>
          <p:nvPr/>
        </p:nvSpPr>
        <p:spPr>
          <a:xfrm>
            <a:off x="1609344" y="2231136"/>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Build the implementation plan for all four solutions. Which two MUST be sequenced rather than run in parallel, and what breaks if you ignore that?</a:t>
            </a:r>
          </a:p>
        </p:txBody>
      </p:sp>
      <p:sp>
        <p:nvSpPr>
          <p:cNvPr id="15" name="Rectangle 14"/>
          <p:cNvSpPr/>
          <p:nvPr/>
        </p:nvSpPr>
        <p:spPr>
          <a:xfrm>
            <a:off x="777240" y="3059582"/>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59582"/>
            <a:ext cx="82296" cy="7095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320405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204057"/>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Q2</a:t>
            </a:r>
          </a:p>
        </p:txBody>
      </p:sp>
      <p:sp>
        <p:nvSpPr>
          <p:cNvPr id="19" name="TextBox 18"/>
          <p:cNvSpPr txBox="1"/>
          <p:nvPr/>
        </p:nvSpPr>
        <p:spPr>
          <a:xfrm>
            <a:off x="1609344" y="3059582"/>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The Head of Marketing resists because the diagnosis implies her S$180k campaign was misdirected. This is a face problem, not a logic problem. How do you secure her cooperation without requiring her to admit error?</a:t>
            </a:r>
          </a:p>
        </p:txBody>
      </p:sp>
      <p:sp>
        <p:nvSpPr>
          <p:cNvPr id="20" name="Rectangle 19"/>
          <p:cNvSpPr/>
          <p:nvPr/>
        </p:nvSpPr>
        <p:spPr>
          <a:xfrm>
            <a:off x="777240" y="3888028"/>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88028"/>
            <a:ext cx="82296" cy="7095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 y="4032503"/>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032503"/>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Q3</a:t>
            </a:r>
          </a:p>
        </p:txBody>
      </p:sp>
      <p:sp>
        <p:nvSpPr>
          <p:cNvPr id="24" name="TextBox 23"/>
          <p:cNvSpPr txBox="1"/>
          <p:nvPr/>
        </p:nvSpPr>
        <p:spPr>
          <a:xfrm>
            <a:off x="1609344" y="3888028"/>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Frontline retail staff fear the digital push costs them jobs. Is that fear irrational? What would you actually commit to — and what happens to your credibility if you promise something you cannot guarantee?</a:t>
            </a:r>
          </a:p>
        </p:txBody>
      </p:sp>
      <p:sp>
        <p:nvSpPr>
          <p:cNvPr id="25" name="Rectangle 24"/>
          <p:cNvSpPr/>
          <p:nvPr/>
        </p:nvSpPr>
        <p:spPr>
          <a:xfrm>
            <a:off x="777240" y="4716474"/>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716474"/>
            <a:ext cx="82296" cy="70957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860949"/>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860949"/>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Q4</a:t>
            </a:r>
          </a:p>
        </p:txBody>
      </p:sp>
      <p:sp>
        <p:nvSpPr>
          <p:cNvPr id="29" name="TextBox 28"/>
          <p:cNvSpPr txBox="1"/>
          <p:nvPr/>
        </p:nvSpPr>
        <p:spPr>
          <a:xfrm>
            <a:off x="1609344" y="4716474"/>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Twelve suppliers face new QC standards. What is the difference between imposing the checklist and getting them to adopt it, and which one survives after month three?</a:t>
            </a:r>
          </a:p>
        </p:txBody>
      </p:sp>
      <p:sp>
        <p:nvSpPr>
          <p:cNvPr id="30" name="Rectangle 29"/>
          <p:cNvSpPr/>
          <p:nvPr/>
        </p:nvSpPr>
        <p:spPr>
          <a:xfrm>
            <a:off x="777240" y="5544920"/>
            <a:ext cx="1063447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544920"/>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5840" y="5689395"/>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689395"/>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Q5</a:t>
            </a:r>
          </a:p>
        </p:txBody>
      </p:sp>
      <p:sp>
        <p:nvSpPr>
          <p:cNvPr id="34" name="TextBox 33"/>
          <p:cNvSpPr txBox="1"/>
          <p:nvPr/>
        </p:nvSpPr>
        <p:spPr>
          <a:xfrm>
            <a:off x="1609344" y="5544920"/>
            <a:ext cx="9601200" cy="709574"/>
          </a:xfrm>
          <a:prstGeom prst="rect">
            <a:avLst/>
          </a:prstGeom>
          <a:noFill/>
        </p:spPr>
        <p:txBody>
          <a:bodyPr wrap="square" anchor="ctr">
            <a:spAutoFit/>
          </a:bodyPr>
          <a:lstStyle/>
          <a:p>
            <a:pPr algn="l">
              <a:spcAft>
                <a:spcPts val="400"/>
              </a:spcAft>
            </a:pPr>
            <a:r>
              <a:rPr sz="1050" b="0">
                <a:solidFill>
                  <a:srgbClr val="161B26"/>
                </a:solidFill>
                <a:latin typeface="Arial"/>
              </a:rPr>
              <a:t>Identify the single stakeholder most likely to sink this rollout. Note: it may not be the loudest one. Justify your choice.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WHAT WE LEARNED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9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0B981"/>
                </a:solidFill>
                <a:latin typeface="Arial"/>
              </a:rPr>
              <a:t>TRAINER DEBRIEF</a:t>
            </a:r>
          </a:p>
        </p:txBody>
      </p:sp>
      <p:sp>
        <p:nvSpPr>
          <p:cNvPr id="10" name="Rectangle 9"/>
          <p:cNvSpPr/>
          <p:nvPr/>
        </p:nvSpPr>
        <p:spPr>
          <a:xfrm>
            <a:off x="777240" y="2231136"/>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31720"/>
            <a:ext cx="10058400" cy="292608"/>
          </a:xfrm>
          <a:prstGeom prst="rect">
            <a:avLst/>
          </a:prstGeom>
          <a:noFill/>
        </p:spPr>
        <p:txBody>
          <a:bodyPr wrap="square" anchor="t">
            <a:spAutoFit/>
          </a:bodyPr>
          <a:lstStyle/>
          <a:p>
            <a:pPr algn="l">
              <a:spcAft>
                <a:spcPts val="400"/>
              </a:spcAft>
            </a:pPr>
            <a:r>
              <a:rPr sz="1050" b="1">
                <a:solidFill>
                  <a:srgbClr val="1F6FEB"/>
                </a:solidFill>
                <a:latin typeface="Arial"/>
              </a:rPr>
              <a:t>SEQUENCING IS NOT OPTIONAL</a:t>
            </a:r>
          </a:p>
        </p:txBody>
      </p:sp>
      <p:sp>
        <p:nvSpPr>
          <p:cNvPr id="13" name="TextBox 12"/>
          <p:cNvSpPr txBox="1"/>
          <p:nvPr/>
        </p:nvSpPr>
        <p:spPr>
          <a:xfrm>
            <a:off x="1097280" y="2642616"/>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Cart recovery must follow the speed fix. Driving traffic back to a 4.8-second app burns the customer twice.</a:t>
            </a:r>
          </a:p>
        </p:txBody>
      </p:sp>
      <p:sp>
        <p:nvSpPr>
          <p:cNvPr id="14" name="Rectangle 13"/>
          <p:cNvSpPr/>
          <p:nvPr/>
        </p:nvSpPr>
        <p:spPr>
          <a:xfrm>
            <a:off x="777240" y="3268980"/>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8980"/>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69564"/>
            <a:ext cx="10058400" cy="292608"/>
          </a:xfrm>
          <a:prstGeom prst="rect">
            <a:avLst/>
          </a:prstGeom>
          <a:noFill/>
        </p:spPr>
        <p:txBody>
          <a:bodyPr wrap="square" anchor="t">
            <a:spAutoFit/>
          </a:bodyPr>
          <a:lstStyle/>
          <a:p>
            <a:pPr algn="l">
              <a:spcAft>
                <a:spcPts val="400"/>
              </a:spcAft>
            </a:pPr>
            <a:r>
              <a:rPr sz="1050" b="1">
                <a:solidFill>
                  <a:srgbClr val="10B981"/>
                </a:solidFill>
                <a:latin typeface="Arial"/>
              </a:rPr>
              <a:t>THE FACE PROBLEM</a:t>
            </a:r>
          </a:p>
        </p:txBody>
      </p:sp>
      <p:sp>
        <p:nvSpPr>
          <p:cNvPr id="17" name="TextBox 16"/>
          <p:cNvSpPr txBox="1"/>
          <p:nvPr/>
        </p:nvSpPr>
        <p:spPr>
          <a:xfrm>
            <a:off x="1097280" y="3680460"/>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Marketing's objection is reputational, not logical. Reframe rather than relitigate — and let the COO deliver it, peer to peer.</a:t>
            </a:r>
          </a:p>
        </p:txBody>
      </p:sp>
      <p:sp>
        <p:nvSpPr>
          <p:cNvPr id="18" name="Rectangle 17"/>
          <p:cNvSpPr/>
          <p:nvPr/>
        </p:nvSpPr>
        <p:spPr>
          <a:xfrm>
            <a:off x="777240" y="4306824"/>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06824"/>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10058400" cy="292608"/>
          </a:xfrm>
          <a:prstGeom prst="rect">
            <a:avLst/>
          </a:prstGeom>
          <a:noFill/>
        </p:spPr>
        <p:txBody>
          <a:bodyPr wrap="square" anchor="t">
            <a:spAutoFit/>
          </a:bodyPr>
          <a:lstStyle/>
          <a:p>
            <a:pPr algn="l">
              <a:spcAft>
                <a:spcPts val="400"/>
              </a:spcAft>
            </a:pPr>
            <a:r>
              <a:rPr sz="1050" b="1">
                <a:solidFill>
                  <a:srgbClr val="7C3AED"/>
                </a:solidFill>
                <a:latin typeface="Arial"/>
              </a:rPr>
              <a:t>CO-DESIGN BEATS IMPOSITION</a:t>
            </a:r>
          </a:p>
        </p:txBody>
      </p:sp>
      <p:sp>
        <p:nvSpPr>
          <p:cNvPr id="21" name="TextBox 20"/>
          <p:cNvSpPr txBox="1"/>
          <p:nvPr/>
        </p:nvSpPr>
        <p:spPr>
          <a:xfrm>
            <a:off x="1097280" y="4718304"/>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An imposed supplier checklist is complied with on paper for two months. Watch what happens to it in Activity 10.</a:t>
            </a:r>
          </a:p>
        </p:txBody>
      </p:sp>
      <p:sp>
        <p:nvSpPr>
          <p:cNvPr id="22" name="Rectangle 21"/>
          <p:cNvSpPr/>
          <p:nvPr/>
        </p:nvSpPr>
        <p:spPr>
          <a:xfrm>
            <a:off x="777240" y="5344668"/>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44668"/>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445252"/>
            <a:ext cx="10058400" cy="292608"/>
          </a:xfrm>
          <a:prstGeom prst="rect">
            <a:avLst/>
          </a:prstGeom>
          <a:noFill/>
        </p:spPr>
        <p:txBody>
          <a:bodyPr wrap="square" anchor="t">
            <a:spAutoFit/>
          </a:bodyPr>
          <a:lstStyle/>
          <a:p>
            <a:pPr algn="l">
              <a:spcAft>
                <a:spcPts val="400"/>
              </a:spcAft>
            </a:pPr>
            <a:r>
              <a:rPr sz="1050" b="1">
                <a:solidFill>
                  <a:srgbClr val="F59E0B"/>
                </a:solidFill>
                <a:latin typeface="Arial"/>
              </a:rPr>
              <a:t>RESISTANCE IS DATA</a:t>
            </a:r>
          </a:p>
        </p:txBody>
      </p:sp>
      <p:sp>
        <p:nvSpPr>
          <p:cNvPr id="25" name="TextBox 24"/>
          <p:cNvSpPr txBox="1"/>
          <p:nvPr/>
        </p:nvSpPr>
        <p:spPr>
          <a:xfrm>
            <a:off x="1097280" y="5756148"/>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IT's objection revealed a capacity conflict the plan had not costed. That improves the plan.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K7  ·  YOU NEED BOTH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Leading vs Lagging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Leading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Lagging</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Responds in</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Days to weeks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Months to quarters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ShopFront example</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App load, checkout completion, adoption</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CSAT, repeat purchase, brand trust</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Tells you</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Whether the change is taking hold</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Whether the outcome actually improved</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Risk of using alone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Early signal, may not persist</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Too late to steer</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Planning implication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Steer with these</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Set realistic horizons for these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Expecting CSAT to move in 90 days was a planning error, not an execution failure.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DID IT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ShopFront SG — 90 Days Against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App load beat target. Checkout and abandonment improved but fell short. CSAT barely moved — it is a lagging indicator. Returns got WORSE, which needs explaining before anyone concludes the solution failed.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A7  ·  THE EVALUATION DISCIPLINE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Evaluating Honestly — the Four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Did the metric move?</a:t>
            </a:r>
          </a:p>
          <a:p>
            <a:pPr algn="l">
              <a:spcAft>
                <a:spcPts val="300"/>
              </a:spcAft>
            </a:pPr>
            <a:r>
              <a:rPr sz="1100" b="0">
                <a:solidFill>
                  <a:srgbClr val="5B6372"/>
                </a:solidFill>
                <a:latin typeface="Arial"/>
              </a:rPr>
              <a:t>Against the BASELINE and the TARGET — both, with numbers.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Can you attribute it?</a:t>
            </a:r>
          </a:p>
          <a:p>
            <a:pPr algn="l">
              <a:spcAft>
                <a:spcPts val="300"/>
              </a:spcAft>
            </a:pPr>
            <a:r>
              <a:rPr sz="1100" b="0">
                <a:solidFill>
                  <a:srgbClr val="5B6372"/>
                </a:solidFill>
                <a:latin typeface="Arial"/>
              </a:rPr>
              <a:t>Or is it confounded by season, market or another change? Say which.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Solution or implementation?</a:t>
            </a:r>
          </a:p>
          <a:p>
            <a:pPr algn="l">
              <a:spcAft>
                <a:spcPts val="300"/>
              </a:spcAft>
            </a:pPr>
            <a:r>
              <a:rPr sz="1100" b="0">
                <a:solidFill>
                  <a:srgbClr val="5B6372"/>
                </a:solidFill>
                <a:latin typeface="Arial"/>
              </a:rPr>
              <a:t>A solution not adopted has not been tested. Those need opposite responses.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What would change your mind?</a:t>
            </a:r>
          </a:p>
          <a:p>
            <a:pPr algn="l">
              <a:spcAft>
                <a:spcPts val="300"/>
              </a:spcAft>
            </a:pPr>
            <a:r>
              <a:rPr sz="1100" b="0">
                <a:solidFill>
                  <a:srgbClr val="5B6372"/>
                </a:solidFill>
                <a:latin typeface="Arial"/>
              </a:rPr>
              <a:t>Naming this is what makes your recommendation credible to a CFO.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med"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DECOMPOSE BEFORE YOU CONCLUDE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return rate got worse — and the solution did not fail.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Only 4 of 12 suppliers adopted the checklist, while higher volume brought in first-time buyers who return more. That is a mix shift, not a quality collapse.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DISTINCTION THAT DECIDES THE NEXT S$200K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Solution Failure vs Implementation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Solution failure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Implementation failure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What happened</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It was done, and it did not work</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It was never really done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ShopFront example</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Cart recovery at 3.1% vs 8% target</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Supplier QC — 4 of 12 adopted</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Evidence to check</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Open rates, click rates, benchmarks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Adoption and compliance rates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Right response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Change or drop the solution</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Fix the rollout and change management</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Traceable back to</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Weak diagnosis or wrong target</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Stakeholder resistance you predicted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Abandoning a solution that was never adopted throws away a fix that might have worked.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med"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PROMPT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Evaluation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82296"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737360"/>
            <a:ext cx="10241280" cy="384048"/>
          </a:xfrm>
          <a:prstGeom prst="rect">
            <a:avLst/>
          </a:prstGeom>
          <a:noFill/>
        </p:spPr>
        <p:txBody>
          <a:bodyPr wrap="square" anchor="ctr">
            <a:spAutoFit/>
          </a:bodyPr>
          <a:lstStyle/>
          <a:p>
            <a:pPr algn="l">
              <a:spcAft>
                <a:spcPts val="400"/>
              </a:spcAft>
            </a:pPr>
            <a:r>
              <a:rPr sz="1100" b="1">
                <a:solidFill>
                  <a:srgbClr val="7C3AED"/>
                </a:solidFill>
                <a:latin typeface="Arial"/>
              </a:rPr>
              <a:t>PROMPT  ·  </a:t>
            </a:r>
            <a:r>
              <a:rPr sz="1100" b="0">
                <a:solidFill>
                  <a:srgbClr val="5B6372"/>
                </a:solidFill>
                <a:latin typeface="Arial"/>
              </a:rPr>
              <a:t>Paste into ChatGPT · Copilot · Gemini · Claude</a:t>
            </a:r>
          </a:p>
        </p:txBody>
      </p:sp>
      <p:sp>
        <p:nvSpPr>
          <p:cNvPr id="10" name="Rectangle 9"/>
          <p:cNvSpPr/>
          <p:nvPr/>
        </p:nvSpPr>
        <p:spPr>
          <a:xfrm>
            <a:off x="777240" y="2249424"/>
            <a:ext cx="10634472" cy="316382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95728"/>
            <a:ext cx="10149840" cy="2889504"/>
          </a:xfrm>
          <a:prstGeom prst="rect">
            <a:avLst/>
          </a:prstGeom>
          <a:noFill/>
        </p:spPr>
        <p:txBody>
          <a:bodyPr wrap="square">
            <a:spAutoFit/>
          </a:bodyPr>
          <a:lstStyle/>
          <a:p>
            <a:pPr>
              <a:spcAft>
                <a:spcPts val="150"/>
              </a:spcAft>
            </a:pPr>
            <a:r>
              <a:rPr sz="600" b="0">
                <a:solidFill>
                  <a:srgbClr val="D4D4D4"/>
                </a:solidFill>
                <a:latin typeface="Consolas"/>
              </a:rPr>
              <a:t>Act as a performance evaluation analyst. Assess whether this improvement programme worked. Be rigorous and do not flatter the results.</a:t>
            </a:r>
          </a:p>
          <a:p>
            <a:pPr>
              <a:spcAft>
                <a:spcPts val="150"/>
              </a:spcAft>
            </a:pPr>
            <a:r>
              <a:rPr sz="600" b="0">
                <a:solidFill>
                  <a:srgbClr val="D4D4D4"/>
                </a:solidFill>
                <a:latin typeface="Consolas"/>
              </a:rPr>
              <a:t> </a:t>
            </a:r>
          </a:p>
          <a:p>
            <a:pPr>
              <a:spcAft>
                <a:spcPts val="150"/>
              </a:spcAft>
            </a:pPr>
            <a:r>
              <a:rPr sz="600" b="0">
                <a:solidFill>
                  <a:srgbClr val="D4D4D4"/>
                </a:solidFill>
                <a:latin typeface="Consolas"/>
              </a:rPr>
              <a:t>Results after 90 days (metric: baseline -&gt; target -&gt; actual):</a:t>
            </a:r>
          </a:p>
          <a:p>
            <a:pPr>
              <a:spcAft>
                <a:spcPts val="150"/>
              </a:spcAft>
            </a:pPr>
            <a:r>
              <a:rPr sz="600" b="0">
                <a:solidFill>
                  <a:srgbClr val="D4D4D4"/>
                </a:solidFill>
                <a:latin typeface="Consolas"/>
              </a:rPr>
              <a:t>App load 4.8s -&gt; &lt;2.0s -&gt; 1.7s</a:t>
            </a:r>
          </a:p>
          <a:p>
            <a:pPr>
              <a:spcAft>
                <a:spcPts val="150"/>
              </a:spcAft>
            </a:pPr>
            <a:r>
              <a:rPr sz="600" b="0">
                <a:solidFill>
                  <a:srgbClr val="D4D4D4"/>
                </a:solidFill>
                <a:latin typeface="Consolas"/>
              </a:rPr>
              <a:t>Checkout completion 51% -&gt; 68% -&gt; 63%</a:t>
            </a:r>
          </a:p>
          <a:p>
            <a:pPr>
              <a:spcAft>
                <a:spcPts val="150"/>
              </a:spcAft>
            </a:pPr>
            <a:r>
              <a:rPr sz="600" b="0">
                <a:solidFill>
                  <a:srgbClr val="D4D4D4"/>
                </a:solidFill>
                <a:latin typeface="Consolas"/>
              </a:rPr>
              <a:t>Cart abandonment 74% -&gt; 60% -&gt; 64%</a:t>
            </a:r>
          </a:p>
          <a:p>
            <a:pPr>
              <a:spcAft>
                <a:spcPts val="150"/>
              </a:spcAft>
            </a:pPr>
            <a:r>
              <a:rPr sz="600" b="0">
                <a:solidFill>
                  <a:srgbClr val="D4D4D4"/>
                </a:solidFill>
                <a:latin typeface="Consolas"/>
              </a:rPr>
              <a:t>Online sales S$1.9m -&gt; S$2.8m -&gt; S$2.5m</a:t>
            </a:r>
          </a:p>
          <a:p>
            <a:pPr>
              <a:spcAft>
                <a:spcPts val="150"/>
              </a:spcAft>
            </a:pPr>
            <a:r>
              <a:rPr sz="600" b="0">
                <a:solidFill>
                  <a:srgbClr val="D4D4D4"/>
                </a:solidFill>
                <a:latin typeface="Consolas"/>
              </a:rPr>
              <a:t>CSAT 70% -&gt; 85% -&gt; 72%</a:t>
            </a:r>
          </a:p>
          <a:p>
            <a:pPr>
              <a:spcAft>
                <a:spcPts val="150"/>
              </a:spcAft>
            </a:pPr>
            <a:r>
              <a:rPr sz="600" b="0">
                <a:solidFill>
                  <a:srgbClr val="D4D4D4"/>
                </a:solidFill>
                <a:latin typeface="Consolas"/>
              </a:rPr>
              <a:t>Complaints/week 410 -&gt; 150 -&gt; 295</a:t>
            </a:r>
          </a:p>
          <a:p>
            <a:pPr>
              <a:spcAft>
                <a:spcPts val="150"/>
              </a:spcAft>
            </a:pPr>
            <a:r>
              <a:rPr sz="600" b="0">
                <a:solidFill>
                  <a:srgbClr val="D4D4D4"/>
                </a:solidFill>
                <a:latin typeface="Consolas"/>
              </a:rPr>
              <a:t>Product return rate 12% -&gt; 5% -&gt; 13% (WORSE)</a:t>
            </a:r>
          </a:p>
          <a:p>
            <a:pPr>
              <a:spcAft>
                <a:spcPts val="150"/>
              </a:spcAft>
            </a:pPr>
            <a:r>
              <a:rPr sz="600" b="0">
                <a:solidFill>
                  <a:srgbClr val="D4D4D4"/>
                </a:solidFill>
                <a:latin typeface="Consolas"/>
              </a:rPr>
              <a:t>Repeat purchase 29% -&gt; 40% -&gt; 31%</a:t>
            </a:r>
          </a:p>
          <a:p>
            <a:pPr>
              <a:spcAft>
                <a:spcPts val="150"/>
              </a:spcAft>
            </a:pPr>
            <a:r>
              <a:rPr sz="600" b="0">
                <a:solidFill>
                  <a:srgbClr val="D4D4D4"/>
                </a:solidFill>
                <a:latin typeface="Consolas"/>
              </a:rPr>
              <a:t>Supplier QC checklist adopted by 4 of 12 suppliers</a:t>
            </a:r>
          </a:p>
          <a:p>
            <a:pPr>
              <a:spcAft>
                <a:spcPts val="150"/>
              </a:spcAft>
            </a:pPr>
            <a:r>
              <a:rPr sz="600" b="0">
                <a:solidFill>
                  <a:srgbClr val="D4D4D4"/>
                </a:solidFill>
                <a:latin typeface="Consolas"/>
              </a:rPr>
              <a:t>Cart recovery conversion 3.1% against an 8% target</a:t>
            </a:r>
          </a:p>
          <a:p>
            <a:pPr>
              <a:spcAft>
                <a:spcPts val="150"/>
              </a:spcAft>
            </a:pPr>
            <a:r>
              <a:rPr sz="600" b="0">
                <a:solidFill>
                  <a:srgbClr val="D4D4D4"/>
                </a:solidFill>
                <a:latin typeface="Consolas"/>
              </a:rPr>
              <a:t> </a:t>
            </a:r>
          </a:p>
          <a:p>
            <a:pPr>
              <a:spcAft>
                <a:spcPts val="150"/>
              </a:spcAft>
            </a:pPr>
            <a:r>
              <a:rPr sz="600" b="0">
                <a:solidFill>
                  <a:srgbClr val="D4D4D4"/>
                </a:solidFill>
                <a:latin typeface="Consolas"/>
              </a:rPr>
              <a:t>Context: the 90-day window included the Great Singapore Sale.</a:t>
            </a:r>
          </a:p>
          <a:p>
            <a:pPr>
              <a:spcAft>
                <a:spcPts val="150"/>
              </a:spcAft>
            </a:pPr>
            <a:r>
              <a:rPr sz="600" b="0">
                <a:solidFill>
                  <a:srgbClr val="D4D4D4"/>
                </a:solidFill>
                <a:latin typeface="Consolas"/>
              </a:rPr>
              <a:t> </a:t>
            </a:r>
          </a:p>
          <a:p>
            <a:pPr>
              <a:spcAft>
                <a:spcPts val="150"/>
              </a:spcAft>
            </a:pPr>
            <a:r>
              <a:rPr sz="600" b="1">
                <a:solidFill>
                  <a:srgbClr val="4EC9B0"/>
                </a:solidFill>
                <a:latin typeface="Consolas"/>
              </a:rPr>
              <a:t>Produce:</a:t>
            </a:r>
          </a:p>
          <a:p>
            <a:pPr>
              <a:spcAft>
                <a:spcPts val="150"/>
              </a:spcAft>
            </a:pPr>
            <a:r>
              <a:rPr sz="600" b="1">
                <a:solidFill>
                  <a:srgbClr val="4EC9B0"/>
                </a:solidFill>
                <a:latin typeface="Consolas"/>
              </a:rPr>
              <a:t>1. A verdict per metric: Met / Partially met / Not met / Deteriorated</a:t>
            </a:r>
          </a:p>
          <a:p>
            <a:pPr>
              <a:spcAft>
                <a:spcPts val="150"/>
              </a:spcAft>
            </a:pPr>
            <a:r>
              <a:rPr sz="600" b="1">
                <a:solidFill>
                  <a:srgbClr val="4EC9B0"/>
                </a:solidFill>
                <a:latin typeface="Consolas"/>
              </a:rPr>
              <a:t>2. Which solutions can be credited with which movements — and where you CANNOT establish attribution, say so explicitly and explain why</a:t>
            </a:r>
          </a:p>
          <a:p>
            <a:pPr>
              <a:spcAft>
                <a:spcPts val="150"/>
              </a:spcAft>
            </a:pPr>
            <a:r>
              <a:rPr sz="600" b="1">
                <a:solidFill>
                  <a:srgbClr val="4EC9B0"/>
                </a:solidFill>
                <a:latin typeface="Consolas"/>
              </a:rPr>
              <a:t>3. Why the product return rate got WORSE despite the QC initiative — give the most likely explanation and state what evidence would confirm it</a:t>
            </a:r>
          </a:p>
          <a:p>
            <a:pPr>
              <a:spcAft>
                <a:spcPts val="150"/>
              </a:spcAft>
            </a:pPr>
            <a:r>
              <a:rPr sz="600" b="1">
                <a:solidFill>
                  <a:srgbClr val="4EC9B0"/>
                </a:solidFill>
                <a:latin typeface="Consolas"/>
              </a:rPr>
              <a:t>4. Separate LEADING from LAGGING indicators here, and explain why CSAT and repeat purchase barely moved even though operational metrics improved</a:t>
            </a:r>
          </a:p>
          <a:p>
            <a:pPr>
              <a:spcAft>
                <a:spcPts val="150"/>
              </a:spcAft>
            </a:pPr>
            <a:r>
              <a:rPr sz="600" b="1">
                <a:solidFill>
                  <a:srgbClr val="4EC9B0"/>
                </a:solidFill>
                <a:latin typeface="Consolas"/>
              </a:rPr>
              <a:t>5. How the Great Singapore Sale confounds this evaluation, and what analysis would isolate the programme effect from the seasonal effect</a:t>
            </a:r>
          </a:p>
          <a:p>
            <a:pPr>
              <a:spcAft>
                <a:spcPts val="150"/>
              </a:spcAft>
            </a:pPr>
            <a:r>
              <a:rPr sz="600" b="1">
                <a:solidFill>
                  <a:srgbClr val="4EC9B0"/>
                </a:solidFill>
                <a:latin typeface="Consolas"/>
              </a:rPr>
              <a:t>6. A clear recommendation to the CFO on releasing the next S$200k tranche: continue, adjust, or stop — with reasoning</a:t>
            </a:r>
          </a:p>
          <a:p>
            <a:pPr>
              <a:spcAft>
                <a:spcPts val="150"/>
              </a:spcAft>
            </a:pPr>
            <a:r>
              <a:rPr sz="600" b="1">
                <a:solidFill>
                  <a:srgbClr val="4EC9B0"/>
                </a:solidFill>
                <a:latin typeface="Consolas"/>
              </a:rPr>
              <a:t>7. The three things you would measure differently next time</a:t>
            </a:r>
          </a:p>
        </p:txBody>
      </p:sp>
      <p:sp>
        <p:nvSpPr>
          <p:cNvPr id="12" name="Rectangle 11"/>
          <p:cNvSpPr/>
          <p:nvPr/>
        </p:nvSpPr>
        <p:spPr>
          <a:xfrm>
            <a:off x="777240" y="5541264"/>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541264"/>
            <a:ext cx="8229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541264"/>
            <a:ext cx="10149840" cy="713232"/>
          </a:xfrm>
          <a:prstGeom prst="rect">
            <a:avLst/>
          </a:prstGeom>
          <a:noFill/>
        </p:spPr>
        <p:txBody>
          <a:bodyPr wrap="square" anchor="ctr">
            <a:spAutoFit/>
          </a:bodyPr>
          <a:lstStyle/>
          <a:p>
            <a:pPr algn="l">
              <a:spcAft>
                <a:spcPts val="400"/>
              </a:spcAft>
            </a:pPr>
            <a:r>
              <a:rPr sz="1050" b="1">
                <a:solidFill>
                  <a:srgbClr val="F59E0B"/>
                </a:solidFill>
                <a:latin typeface="Arial"/>
              </a:rPr>
              <a:t>WATCH FOR  </a:t>
            </a:r>
            <a:r>
              <a:rPr sz="1150" b="0">
                <a:solidFill>
                  <a:srgbClr val="161B26"/>
                </a:solidFill>
                <a:latin typeface="Arial"/>
              </a:rPr>
              <a:t>Without an explicit instruction to flag what cannot be determined, the AI will quietly overclaim attribution.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med"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Activity 10 — Measuring Effectiveness: Did It Actually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463040" cy="402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463040" cy="402336"/>
          </a:xfrm>
          <a:prstGeom prst="rect">
            <a:avLst/>
          </a:prstGeom>
          <a:noFill/>
        </p:spPr>
        <p:txBody>
          <a:bodyPr wrap="square" anchor="ctr">
            <a:spAutoFit/>
          </a:bodyPr>
          <a:lstStyle/>
          <a:p>
            <a:pPr algn="ctr">
              <a:spcAft>
                <a:spcPts val="400"/>
              </a:spcAft>
            </a:pPr>
            <a:r>
              <a:rPr sz="1400" b="1">
                <a:solidFill>
                  <a:srgbClr val="FFFFFF"/>
                </a:solidFill>
                <a:latin typeface="Arial"/>
              </a:rPr>
              <a:t>ACTIVITY 10</a:t>
            </a:r>
          </a:p>
        </p:txBody>
      </p:sp>
      <p:sp>
        <p:nvSpPr>
          <p:cNvPr id="9" name="TextBox 8"/>
          <p:cNvSpPr txBox="1"/>
          <p:nvPr/>
        </p:nvSpPr>
        <p:spPr>
          <a:xfrm>
            <a:off x="2395728" y="1719072"/>
            <a:ext cx="8961120" cy="402336"/>
          </a:xfrm>
          <a:prstGeom prst="rect">
            <a:avLst/>
          </a:prstGeom>
          <a:noFill/>
        </p:spPr>
        <p:txBody>
          <a:bodyPr wrap="square" anchor="ctr">
            <a:spAutoFit/>
          </a:bodyPr>
          <a:lstStyle/>
          <a:p>
            <a:pPr algn="l">
              <a:spcAft>
                <a:spcPts val="400"/>
              </a:spcAft>
            </a:pPr>
            <a:r>
              <a:rPr sz="1100" b="0">
                <a:solidFill>
                  <a:srgbClr val="5B6372"/>
                </a:solidFill>
                <a:latin typeface="Arial"/>
              </a:rPr>
              <a:t>A7 · K7 — Evaluate the effectiveness of implemented solutions and implementation plans.</a:t>
            </a:r>
          </a:p>
        </p:txBody>
      </p:sp>
      <p:sp>
        <p:nvSpPr>
          <p:cNvPr id="10" name="Rectangle 9"/>
          <p:cNvSpPr/>
          <p:nvPr/>
        </p:nvSpPr>
        <p:spPr>
          <a:xfrm>
            <a:off x="777240" y="228600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14016"/>
            <a:ext cx="10149840" cy="329184"/>
          </a:xfrm>
          <a:prstGeom prst="rect">
            <a:avLst/>
          </a:prstGeom>
          <a:noFill/>
        </p:spPr>
        <p:txBody>
          <a:bodyPr wrap="square" anchor="t">
            <a:spAutoFit/>
          </a:bodyPr>
          <a:lstStyle/>
          <a:p>
            <a:pPr algn="l">
              <a:spcAft>
                <a:spcPts val="400"/>
              </a:spcAft>
            </a:pPr>
            <a:r>
              <a:rPr sz="1550" b="1">
                <a:solidFill>
                  <a:srgbClr val="161B26"/>
                </a:solidFill>
                <a:latin typeface="Arial"/>
              </a:rPr>
              <a:t>ShopFront SG — 90 days later, and the numbers are ambiguous</a:t>
            </a:r>
          </a:p>
        </p:txBody>
      </p:sp>
      <p:sp>
        <p:nvSpPr>
          <p:cNvPr id="13" name="TextBox 12"/>
          <p:cNvSpPr txBox="1"/>
          <p:nvPr/>
        </p:nvSpPr>
        <p:spPr>
          <a:xfrm>
            <a:off x="1078992" y="2779776"/>
            <a:ext cx="10149840" cy="731520"/>
          </a:xfrm>
          <a:prstGeom prst="rect">
            <a:avLst/>
          </a:prstGeom>
          <a:noFill/>
        </p:spPr>
        <p:txBody>
          <a:bodyPr wrap="square" anchor="t">
            <a:spAutoFit/>
          </a:bodyPr>
          <a:lstStyle/>
          <a:p>
            <a:pPr algn="l">
              <a:spcAft>
                <a:spcPts val="400"/>
              </a:spcAft>
            </a:pPr>
            <a:r>
              <a:rPr sz="1250" b="0">
                <a:solidFill>
                  <a:srgbClr val="5B6372"/>
                </a:solidFill>
                <a:latin typeface="Arial"/>
              </a:rPr>
              <a:t>Judge an ambiguous 90-day result honestly and make the funding call to the CFO.</a:t>
            </a:r>
          </a:p>
        </p:txBody>
      </p:sp>
      <p:sp>
        <p:nvSpPr>
          <p:cNvPr id="14" name="Rectangle 13"/>
          <p:cNvSpPr/>
          <p:nvPr/>
        </p:nvSpPr>
        <p:spPr>
          <a:xfrm>
            <a:off x="777240"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785615"/>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31920"/>
            <a:ext cx="2980944" cy="292608"/>
          </a:xfrm>
          <a:prstGeom prst="rect">
            <a:avLst/>
          </a:prstGeom>
          <a:noFill/>
        </p:spPr>
        <p:txBody>
          <a:bodyPr wrap="square" anchor="t">
            <a:spAutoFit/>
          </a:bodyPr>
          <a:lstStyle/>
          <a:p>
            <a:pPr algn="l">
              <a:spcAft>
                <a:spcPts val="400"/>
              </a:spcAft>
            </a:pPr>
            <a:r>
              <a:rPr sz="1100" b="1">
                <a:solidFill>
                  <a:srgbClr val="1F6FEB"/>
                </a:solidFill>
                <a:latin typeface="Arial"/>
              </a:rPr>
              <a:t>TEAM</a:t>
            </a:r>
          </a:p>
        </p:txBody>
      </p:sp>
      <p:sp>
        <p:nvSpPr>
          <p:cNvPr id="17" name="TextBox 16"/>
          <p:cNvSpPr txBox="1"/>
          <p:nvPr/>
        </p:nvSpPr>
        <p:spPr>
          <a:xfrm>
            <a:off x="996696"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Teams of 3-5</a:t>
            </a:r>
          </a:p>
        </p:txBody>
      </p:sp>
      <p:sp>
        <p:nvSpPr>
          <p:cNvPr id="18" name="Rectangle 17"/>
          <p:cNvSpPr/>
          <p:nvPr/>
        </p:nvSpPr>
        <p:spPr>
          <a:xfrm>
            <a:off x="4398264"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3785615"/>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31920"/>
            <a:ext cx="2980944" cy="292608"/>
          </a:xfrm>
          <a:prstGeom prst="rect">
            <a:avLst/>
          </a:prstGeom>
          <a:noFill/>
        </p:spPr>
        <p:txBody>
          <a:bodyPr wrap="square" anchor="t">
            <a:spAutoFit/>
          </a:bodyPr>
          <a:lstStyle/>
          <a:p>
            <a:pPr algn="l">
              <a:spcAft>
                <a:spcPts val="400"/>
              </a:spcAft>
            </a:pPr>
            <a:r>
              <a:rPr sz="1100" b="1">
                <a:solidFill>
                  <a:srgbClr val="10B981"/>
                </a:solidFill>
                <a:latin typeface="Arial"/>
              </a:rPr>
              <a:t>TIME</a:t>
            </a:r>
          </a:p>
        </p:txBody>
      </p:sp>
      <p:sp>
        <p:nvSpPr>
          <p:cNvPr id="21" name="TextBox 20"/>
          <p:cNvSpPr txBox="1"/>
          <p:nvPr/>
        </p:nvSpPr>
        <p:spPr>
          <a:xfrm>
            <a:off x="4617720" y="4261104"/>
            <a:ext cx="2980944" cy="914400"/>
          </a:xfrm>
          <a:prstGeom prst="rect">
            <a:avLst/>
          </a:prstGeom>
          <a:noFill/>
        </p:spPr>
        <p:txBody>
          <a:bodyPr wrap="square" anchor="t">
            <a:spAutoFit/>
          </a:bodyPr>
          <a:lstStyle/>
          <a:p>
            <a:pPr algn="l">
              <a:spcAft>
                <a:spcPts val="400"/>
              </a:spcAft>
            </a:pPr>
            <a:r>
              <a:rPr sz="1250" b="0">
                <a:solidFill>
                  <a:srgbClr val="161B26"/>
                </a:solidFill>
                <a:latin typeface="Arial"/>
              </a:rPr>
              <a:t>45 minutes</a:t>
            </a:r>
          </a:p>
        </p:txBody>
      </p:sp>
      <p:sp>
        <p:nvSpPr>
          <p:cNvPr id="22" name="Rectangle 21"/>
          <p:cNvSpPr/>
          <p:nvPr/>
        </p:nvSpPr>
        <p:spPr>
          <a:xfrm>
            <a:off x="8019288" y="3785615"/>
            <a:ext cx="3392424"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3785615"/>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931920"/>
            <a:ext cx="2980944" cy="292608"/>
          </a:xfrm>
          <a:prstGeom prst="rect">
            <a:avLst/>
          </a:prstGeom>
          <a:noFill/>
        </p:spPr>
        <p:txBody>
          <a:bodyPr wrap="square" anchor="t">
            <a:spAutoFit/>
          </a:bodyPr>
          <a:lstStyle/>
          <a:p>
            <a:pPr algn="l">
              <a:spcAft>
                <a:spcPts val="400"/>
              </a:spcAft>
            </a:pPr>
            <a:r>
              <a:rPr sz="1100" b="1">
                <a:solidFill>
                  <a:srgbClr val="7C3AED"/>
                </a:solidFill>
                <a:latin typeface="Arial"/>
              </a:rPr>
              <a:t>TOOL</a:t>
            </a:r>
          </a:p>
        </p:txBody>
      </p:sp>
      <p:sp>
        <p:nvSpPr>
          <p:cNvPr id="25" name="TextBox 24"/>
          <p:cNvSpPr txBox="1"/>
          <p:nvPr/>
        </p:nvSpPr>
        <p:spPr>
          <a:xfrm>
            <a:off x="8238744" y="4261104"/>
            <a:ext cx="2980944" cy="914400"/>
          </a:xfrm>
          <a:prstGeom prst="rect">
            <a:avLst/>
          </a:prstGeom>
          <a:noFill/>
        </p:spPr>
        <p:txBody>
          <a:bodyPr wrap="square" anchor="t">
            <a:spAutoFit/>
          </a:bodyPr>
          <a:lstStyle/>
          <a:p>
            <a:pPr algn="l">
              <a:spcAft>
                <a:spcPts val="400"/>
              </a:spcAft>
            </a:pPr>
            <a:r>
              <a:rPr sz="1050" b="0">
                <a:solidFill>
                  <a:srgbClr val="161B26"/>
                </a:solidFill>
                <a:latin typeface="Arial"/>
              </a:rPr>
              <a:t>Pareto Chart Tool · https://alfredang.github.io/paretochart/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10  ·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Situation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02336"/>
          </a:xfrm>
          <a:prstGeom prst="rect">
            <a:avLst/>
          </a:prstGeom>
          <a:noFill/>
        </p:spPr>
        <p:txBody>
          <a:bodyPr wrap="square" anchor="ctr">
            <a:spAutoFit/>
          </a:bodyPr>
          <a:lstStyle/>
          <a:p>
            <a:pPr algn="ctr">
              <a:spcAft>
                <a:spcPts val="400"/>
              </a:spcAft>
            </a:pPr>
            <a:r>
              <a:rPr sz="1200" b="1">
                <a:solidFill>
                  <a:srgbClr val="FFFFFF"/>
                </a:solidFill>
                <a:latin typeface="Arial"/>
              </a:rPr>
              <a:t>CASE STUDY</a:t>
            </a:r>
          </a:p>
        </p:txBody>
      </p:sp>
      <p:sp>
        <p:nvSpPr>
          <p:cNvPr id="9" name="TextBox 8"/>
          <p:cNvSpPr txBox="1"/>
          <p:nvPr/>
        </p:nvSpPr>
        <p:spPr>
          <a:xfrm>
            <a:off x="2633472" y="1719072"/>
            <a:ext cx="8778240" cy="402336"/>
          </a:xfrm>
          <a:prstGeom prst="rect">
            <a:avLst/>
          </a:prstGeom>
          <a:noFill/>
        </p:spPr>
        <p:txBody>
          <a:bodyPr wrap="square" anchor="ctr">
            <a:spAutoFit/>
          </a:bodyPr>
          <a:lstStyle/>
          <a:p>
            <a:pPr algn="l">
              <a:spcAft>
                <a:spcPts val="400"/>
              </a:spcAft>
            </a:pPr>
            <a:r>
              <a:rPr sz="1500" b="1">
                <a:solidFill>
                  <a:srgbClr val="161B26"/>
                </a:solidFill>
                <a:latin typeface="Arial"/>
              </a:rPr>
              <a:t>ShopFront SG — 90 days later, and the numbers are ambiguous</a:t>
            </a:r>
          </a:p>
        </p:txBody>
      </p:sp>
      <p:sp>
        <p:nvSpPr>
          <p:cNvPr id="10" name="Rectangle 9"/>
          <p:cNvSpPr/>
          <p:nvPr/>
        </p:nvSpPr>
        <p:spPr>
          <a:xfrm>
            <a:off x="777240" y="2286000"/>
            <a:ext cx="10634472" cy="3931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86000"/>
            <a:ext cx="91440" cy="3931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432304"/>
            <a:ext cx="10058400" cy="3657600"/>
          </a:xfrm>
          <a:prstGeom prst="rect">
            <a:avLst/>
          </a:prstGeom>
          <a:noFill/>
        </p:spPr>
        <p:txBody>
          <a:bodyPr wrap="square">
            <a:spAutoFit/>
          </a:bodyPr>
          <a:lstStyle/>
          <a:p>
            <a:pPr>
              <a:spcAft>
                <a:spcPts val="700"/>
              </a:spcAft>
            </a:pPr>
            <a:r>
              <a:rPr sz="1300">
                <a:solidFill>
                  <a:srgbClr val="161B26"/>
                </a:solidFill>
                <a:latin typeface="Arial"/>
              </a:rPr>
              <a:t>Ninety days have passed. The COO has the results and she is not sure what to make of them. Some numbers moved well. Some did not move at all. One moved in the wrong direction. And the quarter included the Great Singapore Sale, which everyone is now using to explain whichever result suits their argument.</a:t>
            </a:r>
          </a:p>
          <a:p>
            <a:pPr>
              <a:spcAft>
                <a:spcPts val="700"/>
              </a:spcAft>
            </a:pPr>
            <a:r>
              <a:rPr sz="1300">
                <a:solidFill>
                  <a:srgbClr val="161B26"/>
                </a:solidFill>
                <a:latin typeface="Arial"/>
              </a:rPr>
              <a:t>The Head of Marketing says the improvement is obviously seasonal. The IT lead says the improvement is obviously the CDN. Finance wants to know whether to release the next S$200,000 tranche.</a:t>
            </a:r>
          </a:p>
          <a:p>
            <a:pPr>
              <a:spcAft>
                <a:spcPts val="700"/>
              </a:spcAft>
            </a:pPr>
            <a:r>
              <a:rPr sz="1300">
                <a:solidFill>
                  <a:srgbClr val="161B26"/>
                </a:solidFill>
                <a:latin typeface="Arial"/>
              </a:rPr>
              <a:t>Your team must evaluate honestly: what worked, what did not, what you cannot yet tell, and what you recommend next. "It's working" is not an acceptable answer.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med"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10  ·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Results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Metric</a:t>
            </a:r>
          </a:p>
        </p:txBody>
      </p:sp>
      <p:sp>
        <p:nvSpPr>
          <p:cNvPr id="9" name="Rectangle 8"/>
          <p:cNvSpPr/>
          <p:nvPr/>
        </p:nvSpPr>
        <p:spPr>
          <a:xfrm>
            <a:off x="3542202" y="1783080"/>
            <a:ext cx="1967377"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Baseline</a:t>
            </a:r>
          </a:p>
        </p:txBody>
      </p:sp>
      <p:sp>
        <p:nvSpPr>
          <p:cNvPr id="11" name="Rectangle 10"/>
          <p:cNvSpPr/>
          <p:nvPr/>
        </p:nvSpPr>
        <p:spPr>
          <a:xfrm>
            <a:off x="5509579" y="1783080"/>
            <a:ext cx="1967377"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37595"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Target</a:t>
            </a:r>
          </a:p>
        </p:txBody>
      </p:sp>
      <p:sp>
        <p:nvSpPr>
          <p:cNvPr id="13" name="Rectangle 12"/>
          <p:cNvSpPr/>
          <p:nvPr/>
        </p:nvSpPr>
        <p:spPr>
          <a:xfrm>
            <a:off x="7476956" y="1783080"/>
            <a:ext cx="1967377"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04972"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Day 90 actual</a:t>
            </a:r>
          </a:p>
        </p:txBody>
      </p:sp>
      <p:sp>
        <p:nvSpPr>
          <p:cNvPr id="15" name="Rectangle 14"/>
          <p:cNvSpPr/>
          <p:nvPr/>
        </p:nvSpPr>
        <p:spPr>
          <a:xfrm>
            <a:off x="9444333" y="1783080"/>
            <a:ext cx="1967377"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72349"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Verdict</a:t>
            </a:r>
          </a:p>
        </p:txBody>
      </p:sp>
      <p:sp>
        <p:nvSpPr>
          <p:cNvPr id="17" name="Rectangle 16"/>
          <p:cNvSpPr/>
          <p:nvPr/>
        </p:nvSpPr>
        <p:spPr>
          <a:xfrm>
            <a:off x="777240" y="2258568"/>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 y="2258568"/>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App page load</a:t>
            </a:r>
          </a:p>
        </p:txBody>
      </p:sp>
      <p:sp>
        <p:nvSpPr>
          <p:cNvPr id="19" name="Rectangle 18"/>
          <p:cNvSpPr/>
          <p:nvPr/>
        </p:nvSpPr>
        <p:spPr>
          <a:xfrm>
            <a:off x="3542202" y="2258568"/>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0218" y="225856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4.8 s</a:t>
            </a:r>
          </a:p>
        </p:txBody>
      </p:sp>
      <p:sp>
        <p:nvSpPr>
          <p:cNvPr id="21" name="Rectangle 20"/>
          <p:cNvSpPr/>
          <p:nvPr/>
        </p:nvSpPr>
        <p:spPr>
          <a:xfrm>
            <a:off x="5509579" y="2258568"/>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37595" y="225856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under 2.0 s</a:t>
            </a:r>
          </a:p>
        </p:txBody>
      </p:sp>
      <p:sp>
        <p:nvSpPr>
          <p:cNvPr id="23" name="Rectangle 22"/>
          <p:cNvSpPr/>
          <p:nvPr/>
        </p:nvSpPr>
        <p:spPr>
          <a:xfrm>
            <a:off x="7476956" y="2258568"/>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2" y="225856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1.7 s</a:t>
            </a:r>
          </a:p>
        </p:txBody>
      </p:sp>
      <p:sp>
        <p:nvSpPr>
          <p:cNvPr id="25" name="Rectangle 24"/>
          <p:cNvSpPr/>
          <p:nvPr/>
        </p:nvSpPr>
        <p:spPr>
          <a:xfrm>
            <a:off x="9444333" y="2258568"/>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72349" y="225856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Target met</a:t>
            </a:r>
          </a:p>
        </p:txBody>
      </p:sp>
      <p:sp>
        <p:nvSpPr>
          <p:cNvPr id="27" name="Rectangle 26"/>
          <p:cNvSpPr/>
          <p:nvPr/>
        </p:nvSpPr>
        <p:spPr>
          <a:xfrm>
            <a:off x="777240" y="2500122"/>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2500122"/>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Checkout completion</a:t>
            </a:r>
          </a:p>
        </p:txBody>
      </p:sp>
      <p:sp>
        <p:nvSpPr>
          <p:cNvPr id="29" name="Rectangle 28"/>
          <p:cNvSpPr/>
          <p:nvPr/>
        </p:nvSpPr>
        <p:spPr>
          <a:xfrm>
            <a:off x="3542202" y="2500122"/>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250012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51%</a:t>
            </a:r>
          </a:p>
        </p:txBody>
      </p:sp>
      <p:sp>
        <p:nvSpPr>
          <p:cNvPr id="31" name="Rectangle 30"/>
          <p:cNvSpPr/>
          <p:nvPr/>
        </p:nvSpPr>
        <p:spPr>
          <a:xfrm>
            <a:off x="5509579" y="2500122"/>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37595" y="250012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68%</a:t>
            </a:r>
          </a:p>
        </p:txBody>
      </p:sp>
      <p:sp>
        <p:nvSpPr>
          <p:cNvPr id="33" name="Rectangle 32"/>
          <p:cNvSpPr/>
          <p:nvPr/>
        </p:nvSpPr>
        <p:spPr>
          <a:xfrm>
            <a:off x="7476956" y="2500122"/>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04972" y="250012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63%</a:t>
            </a:r>
          </a:p>
        </p:txBody>
      </p:sp>
      <p:sp>
        <p:nvSpPr>
          <p:cNvPr id="35" name="Rectangle 34"/>
          <p:cNvSpPr/>
          <p:nvPr/>
        </p:nvSpPr>
        <p:spPr>
          <a:xfrm>
            <a:off x="9444333" y="2500122"/>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72349" y="250012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Improved, short</a:t>
            </a:r>
          </a:p>
        </p:txBody>
      </p:sp>
      <p:sp>
        <p:nvSpPr>
          <p:cNvPr id="37" name="Rectangle 36"/>
          <p:cNvSpPr/>
          <p:nvPr/>
        </p:nvSpPr>
        <p:spPr>
          <a:xfrm>
            <a:off x="777240" y="2741676"/>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2741676"/>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Cart abandonment</a:t>
            </a:r>
          </a:p>
        </p:txBody>
      </p:sp>
      <p:sp>
        <p:nvSpPr>
          <p:cNvPr id="39" name="Rectangle 38"/>
          <p:cNvSpPr/>
          <p:nvPr/>
        </p:nvSpPr>
        <p:spPr>
          <a:xfrm>
            <a:off x="3542202" y="2741676"/>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2741676"/>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74%</a:t>
            </a:r>
          </a:p>
        </p:txBody>
      </p:sp>
      <p:sp>
        <p:nvSpPr>
          <p:cNvPr id="41" name="Rectangle 40"/>
          <p:cNvSpPr/>
          <p:nvPr/>
        </p:nvSpPr>
        <p:spPr>
          <a:xfrm>
            <a:off x="5509579" y="2741676"/>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37595" y="2741676"/>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60%</a:t>
            </a:r>
          </a:p>
        </p:txBody>
      </p:sp>
      <p:sp>
        <p:nvSpPr>
          <p:cNvPr id="43" name="Rectangle 42"/>
          <p:cNvSpPr/>
          <p:nvPr/>
        </p:nvSpPr>
        <p:spPr>
          <a:xfrm>
            <a:off x="7476956" y="2741676"/>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04972" y="2741676"/>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64%</a:t>
            </a:r>
          </a:p>
        </p:txBody>
      </p:sp>
      <p:sp>
        <p:nvSpPr>
          <p:cNvPr id="45" name="Rectangle 44"/>
          <p:cNvSpPr/>
          <p:nvPr/>
        </p:nvSpPr>
        <p:spPr>
          <a:xfrm>
            <a:off x="9444333" y="2741676"/>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72349" y="2741676"/>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Improved, short</a:t>
            </a:r>
          </a:p>
        </p:txBody>
      </p:sp>
      <p:sp>
        <p:nvSpPr>
          <p:cNvPr id="47" name="Rectangle 46"/>
          <p:cNvSpPr/>
          <p:nvPr/>
        </p:nvSpPr>
        <p:spPr>
          <a:xfrm>
            <a:off x="777240" y="2983230"/>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2983230"/>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Online sales / month</a:t>
            </a:r>
          </a:p>
        </p:txBody>
      </p:sp>
      <p:sp>
        <p:nvSpPr>
          <p:cNvPr id="49" name="Rectangle 48"/>
          <p:cNvSpPr/>
          <p:nvPr/>
        </p:nvSpPr>
        <p:spPr>
          <a:xfrm>
            <a:off x="3542202" y="2983230"/>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2983230"/>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S$1.9m</a:t>
            </a:r>
          </a:p>
        </p:txBody>
      </p:sp>
      <p:sp>
        <p:nvSpPr>
          <p:cNvPr id="51" name="Rectangle 50"/>
          <p:cNvSpPr/>
          <p:nvPr/>
        </p:nvSpPr>
        <p:spPr>
          <a:xfrm>
            <a:off x="5509579" y="2983230"/>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37595" y="2983230"/>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S$2.8m</a:t>
            </a:r>
          </a:p>
        </p:txBody>
      </p:sp>
      <p:sp>
        <p:nvSpPr>
          <p:cNvPr id="53" name="Rectangle 52"/>
          <p:cNvSpPr/>
          <p:nvPr/>
        </p:nvSpPr>
        <p:spPr>
          <a:xfrm>
            <a:off x="7476956" y="2983230"/>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2" y="2983230"/>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S$2.5m</a:t>
            </a:r>
          </a:p>
        </p:txBody>
      </p:sp>
      <p:sp>
        <p:nvSpPr>
          <p:cNvPr id="55" name="Rectangle 54"/>
          <p:cNvSpPr/>
          <p:nvPr/>
        </p:nvSpPr>
        <p:spPr>
          <a:xfrm>
            <a:off x="9444333" y="2983230"/>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72349" y="2983230"/>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Improved, short</a:t>
            </a:r>
          </a:p>
        </p:txBody>
      </p:sp>
      <p:sp>
        <p:nvSpPr>
          <p:cNvPr id="57" name="Rectangle 56"/>
          <p:cNvSpPr/>
          <p:nvPr/>
        </p:nvSpPr>
        <p:spPr>
          <a:xfrm>
            <a:off x="777240" y="3224784"/>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5256" y="3224784"/>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CSAT</a:t>
            </a:r>
          </a:p>
        </p:txBody>
      </p:sp>
      <p:sp>
        <p:nvSpPr>
          <p:cNvPr id="59" name="Rectangle 58"/>
          <p:cNvSpPr/>
          <p:nvPr/>
        </p:nvSpPr>
        <p:spPr>
          <a:xfrm>
            <a:off x="3542202" y="3224784"/>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70218" y="3224784"/>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70%</a:t>
            </a:r>
          </a:p>
        </p:txBody>
      </p:sp>
      <p:sp>
        <p:nvSpPr>
          <p:cNvPr id="61" name="Rectangle 60"/>
          <p:cNvSpPr/>
          <p:nvPr/>
        </p:nvSpPr>
        <p:spPr>
          <a:xfrm>
            <a:off x="5509579" y="3224784"/>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37595" y="3224784"/>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85%</a:t>
            </a:r>
          </a:p>
        </p:txBody>
      </p:sp>
      <p:sp>
        <p:nvSpPr>
          <p:cNvPr id="63" name="Rectangle 62"/>
          <p:cNvSpPr/>
          <p:nvPr/>
        </p:nvSpPr>
        <p:spPr>
          <a:xfrm>
            <a:off x="7476956" y="3224784"/>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04972" y="3224784"/>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72%</a:t>
            </a:r>
          </a:p>
        </p:txBody>
      </p:sp>
      <p:sp>
        <p:nvSpPr>
          <p:cNvPr id="65" name="Rectangle 64"/>
          <p:cNvSpPr/>
          <p:nvPr/>
        </p:nvSpPr>
        <p:spPr>
          <a:xfrm>
            <a:off x="9444333" y="3224784"/>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572349" y="3224784"/>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Barely moved</a:t>
            </a:r>
          </a:p>
        </p:txBody>
      </p:sp>
      <p:sp>
        <p:nvSpPr>
          <p:cNvPr id="67" name="Rectangle 66"/>
          <p:cNvSpPr/>
          <p:nvPr/>
        </p:nvSpPr>
        <p:spPr>
          <a:xfrm>
            <a:off x="777240" y="3466338"/>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5256" y="3466338"/>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Complaint tickets / week</a:t>
            </a:r>
          </a:p>
        </p:txBody>
      </p:sp>
      <p:sp>
        <p:nvSpPr>
          <p:cNvPr id="69" name="Rectangle 68"/>
          <p:cNvSpPr/>
          <p:nvPr/>
        </p:nvSpPr>
        <p:spPr>
          <a:xfrm>
            <a:off x="3542202" y="3466338"/>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670218" y="346633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410</a:t>
            </a:r>
          </a:p>
        </p:txBody>
      </p:sp>
      <p:sp>
        <p:nvSpPr>
          <p:cNvPr id="71" name="Rectangle 70"/>
          <p:cNvSpPr/>
          <p:nvPr/>
        </p:nvSpPr>
        <p:spPr>
          <a:xfrm>
            <a:off x="5509579" y="3466338"/>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637595" y="346633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150</a:t>
            </a:r>
          </a:p>
        </p:txBody>
      </p:sp>
      <p:sp>
        <p:nvSpPr>
          <p:cNvPr id="73" name="Rectangle 72"/>
          <p:cNvSpPr/>
          <p:nvPr/>
        </p:nvSpPr>
        <p:spPr>
          <a:xfrm>
            <a:off x="7476956" y="3466338"/>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604972" y="346633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295</a:t>
            </a:r>
          </a:p>
        </p:txBody>
      </p:sp>
      <p:sp>
        <p:nvSpPr>
          <p:cNvPr id="75" name="Rectangle 74"/>
          <p:cNvSpPr/>
          <p:nvPr/>
        </p:nvSpPr>
        <p:spPr>
          <a:xfrm>
            <a:off x="9444333" y="3466338"/>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572349" y="346633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Improved, short</a:t>
            </a:r>
          </a:p>
        </p:txBody>
      </p:sp>
      <p:sp>
        <p:nvSpPr>
          <p:cNvPr id="77" name="Rectangle 76"/>
          <p:cNvSpPr/>
          <p:nvPr/>
        </p:nvSpPr>
        <p:spPr>
          <a:xfrm>
            <a:off x="777240" y="3707892"/>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05256" y="3707892"/>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Product return rate</a:t>
            </a:r>
          </a:p>
        </p:txBody>
      </p:sp>
      <p:sp>
        <p:nvSpPr>
          <p:cNvPr id="79" name="Rectangle 78"/>
          <p:cNvSpPr/>
          <p:nvPr/>
        </p:nvSpPr>
        <p:spPr>
          <a:xfrm>
            <a:off x="3542202" y="3707892"/>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670218" y="370789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12%</a:t>
            </a:r>
          </a:p>
        </p:txBody>
      </p:sp>
      <p:sp>
        <p:nvSpPr>
          <p:cNvPr id="81" name="Rectangle 80"/>
          <p:cNvSpPr/>
          <p:nvPr/>
        </p:nvSpPr>
        <p:spPr>
          <a:xfrm>
            <a:off x="5509579" y="3707892"/>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637595" y="370789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5%</a:t>
            </a:r>
          </a:p>
        </p:txBody>
      </p:sp>
      <p:sp>
        <p:nvSpPr>
          <p:cNvPr id="83" name="Rectangle 82"/>
          <p:cNvSpPr/>
          <p:nvPr/>
        </p:nvSpPr>
        <p:spPr>
          <a:xfrm>
            <a:off x="7476956" y="3707892"/>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604972" y="370789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13%</a:t>
            </a:r>
          </a:p>
        </p:txBody>
      </p:sp>
      <p:sp>
        <p:nvSpPr>
          <p:cNvPr id="85" name="Rectangle 84"/>
          <p:cNvSpPr/>
          <p:nvPr/>
        </p:nvSpPr>
        <p:spPr>
          <a:xfrm>
            <a:off x="9444333" y="3707892"/>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572349" y="370789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WORSE</a:t>
            </a:r>
          </a:p>
        </p:txBody>
      </p:sp>
      <p:sp>
        <p:nvSpPr>
          <p:cNvPr id="87" name="Rectangle 86"/>
          <p:cNvSpPr/>
          <p:nvPr/>
        </p:nvSpPr>
        <p:spPr>
          <a:xfrm>
            <a:off x="777240" y="3949446"/>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05256" y="3949446"/>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Repeat purchase (90-day)</a:t>
            </a:r>
          </a:p>
        </p:txBody>
      </p:sp>
      <p:sp>
        <p:nvSpPr>
          <p:cNvPr id="89" name="Rectangle 88"/>
          <p:cNvSpPr/>
          <p:nvPr/>
        </p:nvSpPr>
        <p:spPr>
          <a:xfrm>
            <a:off x="3542202" y="3949446"/>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670218" y="3949446"/>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29%</a:t>
            </a:r>
          </a:p>
        </p:txBody>
      </p:sp>
      <p:sp>
        <p:nvSpPr>
          <p:cNvPr id="91" name="Rectangle 90"/>
          <p:cNvSpPr/>
          <p:nvPr/>
        </p:nvSpPr>
        <p:spPr>
          <a:xfrm>
            <a:off x="5509579" y="3949446"/>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637595" y="3949446"/>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40%</a:t>
            </a:r>
          </a:p>
        </p:txBody>
      </p:sp>
      <p:sp>
        <p:nvSpPr>
          <p:cNvPr id="93" name="Rectangle 92"/>
          <p:cNvSpPr/>
          <p:nvPr/>
        </p:nvSpPr>
        <p:spPr>
          <a:xfrm>
            <a:off x="7476956" y="3949446"/>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604972" y="3949446"/>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31%</a:t>
            </a:r>
          </a:p>
        </p:txBody>
      </p:sp>
      <p:sp>
        <p:nvSpPr>
          <p:cNvPr id="95" name="Rectangle 94"/>
          <p:cNvSpPr/>
          <p:nvPr/>
        </p:nvSpPr>
        <p:spPr>
          <a:xfrm>
            <a:off x="9444333" y="3949446"/>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572349" y="3949446"/>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Barely moved</a:t>
            </a:r>
          </a:p>
        </p:txBody>
      </p:sp>
      <p:sp>
        <p:nvSpPr>
          <p:cNvPr id="97" name="Rectangle 96"/>
          <p:cNvSpPr/>
          <p:nvPr/>
        </p:nvSpPr>
        <p:spPr>
          <a:xfrm>
            <a:off x="777240" y="4191000"/>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905256" y="4191000"/>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Guest checkout adoption</a:t>
            </a:r>
          </a:p>
        </p:txBody>
      </p:sp>
      <p:sp>
        <p:nvSpPr>
          <p:cNvPr id="99" name="Rectangle 98"/>
          <p:cNvSpPr/>
          <p:nvPr/>
        </p:nvSpPr>
        <p:spPr>
          <a:xfrm>
            <a:off x="3542202" y="4191000"/>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670218" y="4191000"/>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101" name="Rectangle 100"/>
          <p:cNvSpPr/>
          <p:nvPr/>
        </p:nvSpPr>
        <p:spPr>
          <a:xfrm>
            <a:off x="5509579" y="4191000"/>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637595" y="4191000"/>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103" name="Rectangle 102"/>
          <p:cNvSpPr/>
          <p:nvPr/>
        </p:nvSpPr>
        <p:spPr>
          <a:xfrm>
            <a:off x="7476956" y="4191000"/>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604972" y="4191000"/>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44% of orders</a:t>
            </a:r>
          </a:p>
        </p:txBody>
      </p:sp>
      <p:sp>
        <p:nvSpPr>
          <p:cNvPr id="105" name="Rectangle 104"/>
          <p:cNvSpPr/>
          <p:nvPr/>
        </p:nvSpPr>
        <p:spPr>
          <a:xfrm>
            <a:off x="9444333" y="4191000"/>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572349" y="4191000"/>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New data</a:t>
            </a:r>
          </a:p>
        </p:txBody>
      </p:sp>
      <p:sp>
        <p:nvSpPr>
          <p:cNvPr id="107" name="Rectangle 106"/>
          <p:cNvSpPr/>
          <p:nvPr/>
        </p:nvSpPr>
        <p:spPr>
          <a:xfrm>
            <a:off x="777240" y="4432554"/>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05256" y="4432554"/>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Supplier QC checklist adoption</a:t>
            </a:r>
          </a:p>
        </p:txBody>
      </p:sp>
      <p:sp>
        <p:nvSpPr>
          <p:cNvPr id="109" name="Rectangle 108"/>
          <p:cNvSpPr/>
          <p:nvPr/>
        </p:nvSpPr>
        <p:spPr>
          <a:xfrm>
            <a:off x="3542202" y="4432554"/>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670218" y="4432554"/>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0</a:t>
            </a:r>
          </a:p>
        </p:txBody>
      </p:sp>
      <p:sp>
        <p:nvSpPr>
          <p:cNvPr id="111" name="Rectangle 110"/>
          <p:cNvSpPr/>
          <p:nvPr/>
        </p:nvSpPr>
        <p:spPr>
          <a:xfrm>
            <a:off x="5509579" y="4432554"/>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637595" y="4432554"/>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12 of 12</a:t>
            </a:r>
          </a:p>
        </p:txBody>
      </p:sp>
      <p:sp>
        <p:nvSpPr>
          <p:cNvPr id="113" name="Rectangle 112"/>
          <p:cNvSpPr/>
          <p:nvPr/>
        </p:nvSpPr>
        <p:spPr>
          <a:xfrm>
            <a:off x="7476956" y="4432554"/>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604972" y="4432554"/>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4 of 12</a:t>
            </a:r>
          </a:p>
        </p:txBody>
      </p:sp>
      <p:sp>
        <p:nvSpPr>
          <p:cNvPr id="115" name="Rectangle 114"/>
          <p:cNvSpPr/>
          <p:nvPr/>
        </p:nvSpPr>
        <p:spPr>
          <a:xfrm>
            <a:off x="9444333" y="4432554"/>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572349" y="4432554"/>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Behind</a:t>
            </a:r>
          </a:p>
        </p:txBody>
      </p:sp>
      <p:sp>
        <p:nvSpPr>
          <p:cNvPr id="117" name="Rectangle 116"/>
          <p:cNvSpPr/>
          <p:nvPr/>
        </p:nvSpPr>
        <p:spPr>
          <a:xfrm>
            <a:off x="777240" y="4674108"/>
            <a:ext cx="2764962"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05256" y="4674108"/>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Cart recovery emails sent</a:t>
            </a:r>
          </a:p>
        </p:txBody>
      </p:sp>
      <p:sp>
        <p:nvSpPr>
          <p:cNvPr id="119" name="Rectangle 118"/>
          <p:cNvSpPr/>
          <p:nvPr/>
        </p:nvSpPr>
        <p:spPr>
          <a:xfrm>
            <a:off x="3542202" y="4674108"/>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3670218" y="467410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121" name="Rectangle 120"/>
          <p:cNvSpPr/>
          <p:nvPr/>
        </p:nvSpPr>
        <p:spPr>
          <a:xfrm>
            <a:off x="5509579" y="4674108"/>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637595" y="467410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123" name="Rectangle 122"/>
          <p:cNvSpPr/>
          <p:nvPr/>
        </p:nvSpPr>
        <p:spPr>
          <a:xfrm>
            <a:off x="7476956" y="4674108"/>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604972" y="467410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18,400</a:t>
            </a:r>
          </a:p>
        </p:txBody>
      </p:sp>
      <p:sp>
        <p:nvSpPr>
          <p:cNvPr id="125" name="Rectangle 124"/>
          <p:cNvSpPr/>
          <p:nvPr/>
        </p:nvSpPr>
        <p:spPr>
          <a:xfrm>
            <a:off x="9444333" y="4674108"/>
            <a:ext cx="1967377" cy="24155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572349" y="4674108"/>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Live</a:t>
            </a:r>
          </a:p>
        </p:txBody>
      </p:sp>
      <p:sp>
        <p:nvSpPr>
          <p:cNvPr id="127" name="Rectangle 126"/>
          <p:cNvSpPr/>
          <p:nvPr/>
        </p:nvSpPr>
        <p:spPr>
          <a:xfrm>
            <a:off x="777240" y="4915662"/>
            <a:ext cx="2764962"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905256" y="4915662"/>
            <a:ext cx="2508930" cy="241554"/>
          </a:xfrm>
          <a:prstGeom prst="rect">
            <a:avLst/>
          </a:prstGeom>
          <a:noFill/>
        </p:spPr>
        <p:txBody>
          <a:bodyPr wrap="square" anchor="ctr">
            <a:spAutoFit/>
          </a:bodyPr>
          <a:lstStyle/>
          <a:p>
            <a:pPr algn="l">
              <a:spcAft>
                <a:spcPts val="400"/>
              </a:spcAft>
            </a:pPr>
            <a:r>
              <a:rPr sz="1150" b="1">
                <a:solidFill>
                  <a:srgbClr val="161B26"/>
                </a:solidFill>
                <a:latin typeface="Arial"/>
              </a:rPr>
              <a:t>Cart recovery conversion</a:t>
            </a:r>
          </a:p>
        </p:txBody>
      </p:sp>
      <p:sp>
        <p:nvSpPr>
          <p:cNvPr id="129" name="Rectangle 128"/>
          <p:cNvSpPr/>
          <p:nvPr/>
        </p:nvSpPr>
        <p:spPr>
          <a:xfrm>
            <a:off x="3542202" y="4915662"/>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670218" y="491566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131" name="Rectangle 130"/>
          <p:cNvSpPr/>
          <p:nvPr/>
        </p:nvSpPr>
        <p:spPr>
          <a:xfrm>
            <a:off x="5509579" y="4915662"/>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637595" y="491566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8%</a:t>
            </a:r>
          </a:p>
        </p:txBody>
      </p:sp>
      <p:sp>
        <p:nvSpPr>
          <p:cNvPr id="133" name="Rectangle 132"/>
          <p:cNvSpPr/>
          <p:nvPr/>
        </p:nvSpPr>
        <p:spPr>
          <a:xfrm>
            <a:off x="7476956" y="4915662"/>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604972" y="491566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3.1%</a:t>
            </a:r>
          </a:p>
        </p:txBody>
      </p:sp>
      <p:sp>
        <p:nvSpPr>
          <p:cNvPr id="135" name="Rectangle 134"/>
          <p:cNvSpPr/>
          <p:nvPr/>
        </p:nvSpPr>
        <p:spPr>
          <a:xfrm>
            <a:off x="9444333" y="4915662"/>
            <a:ext cx="1967377" cy="24155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9572349" y="4915662"/>
            <a:ext cx="1711345" cy="241554"/>
          </a:xfrm>
          <a:prstGeom prst="rect">
            <a:avLst/>
          </a:prstGeom>
          <a:noFill/>
        </p:spPr>
        <p:txBody>
          <a:bodyPr wrap="square" anchor="ctr">
            <a:spAutoFit/>
          </a:bodyPr>
          <a:lstStyle/>
          <a:p>
            <a:pPr algn="l">
              <a:spcAft>
                <a:spcPts val="400"/>
              </a:spcAft>
            </a:pPr>
            <a:r>
              <a:rPr sz="1150" b="0">
                <a:solidFill>
                  <a:srgbClr val="5B6372"/>
                </a:solidFill>
                <a:latin typeface="Arial"/>
              </a:rPr>
              <a:t>Underperforming</a:t>
            </a:r>
          </a:p>
        </p:txBody>
      </p:sp>
      <p:sp>
        <p:nvSpPr>
          <p:cNvPr id="137" name="Rectangle 136"/>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ShopFront SG — 90-day results against baseline</a:t>
            </a:r>
          </a:p>
        </p:txBody>
      </p:sp>
      <p:sp>
        <p:nvSpPr>
          <p:cNvPr id="140" name="TextBox 1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141" name="TextBox 1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2" name="TextBox 1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med"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10  ·  BREAKOUT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10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F6FEB"/>
                </a:solidFill>
                <a:latin typeface="Arial"/>
              </a:rPr>
              <a:t>DISCUSSION QUESTIONS</a:t>
            </a:r>
          </a:p>
        </p:txBody>
      </p:sp>
      <p:sp>
        <p:nvSpPr>
          <p:cNvPr id="10" name="Rectangle 9"/>
          <p:cNvSpPr/>
          <p:nvPr/>
        </p:nvSpPr>
        <p:spPr>
          <a:xfrm>
            <a:off x="777240" y="2231136"/>
            <a:ext cx="10634472" cy="5715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5715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230657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06574"/>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Q1</a:t>
            </a:r>
          </a:p>
        </p:txBody>
      </p:sp>
      <p:sp>
        <p:nvSpPr>
          <p:cNvPr id="14" name="TextBox 13"/>
          <p:cNvSpPr txBox="1"/>
          <p:nvPr/>
        </p:nvSpPr>
        <p:spPr>
          <a:xfrm>
            <a:off x="1609344" y="2231136"/>
            <a:ext cx="9601200" cy="571500"/>
          </a:xfrm>
          <a:prstGeom prst="rect">
            <a:avLst/>
          </a:prstGeom>
          <a:noFill/>
        </p:spPr>
        <p:txBody>
          <a:bodyPr wrap="square" anchor="ctr">
            <a:spAutoFit/>
          </a:bodyPr>
          <a:lstStyle/>
          <a:p>
            <a:pPr algn="l">
              <a:spcAft>
                <a:spcPts val="400"/>
              </a:spcAft>
            </a:pPr>
            <a:r>
              <a:rPr sz="1050" b="0">
                <a:solidFill>
                  <a:srgbClr val="161B26"/>
                </a:solidFill>
                <a:latin typeface="Arial"/>
              </a:rPr>
              <a:t>Give a verdict on each metric. Overall — did this programme succeed? Defend a single-sentence answer to the COO.</a:t>
            </a:r>
          </a:p>
        </p:txBody>
      </p:sp>
      <p:sp>
        <p:nvSpPr>
          <p:cNvPr id="15" name="Rectangle 14"/>
          <p:cNvSpPr/>
          <p:nvPr/>
        </p:nvSpPr>
        <p:spPr>
          <a:xfrm>
            <a:off x="777240" y="2921508"/>
            <a:ext cx="10634472" cy="5715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21508"/>
            <a:ext cx="82296" cy="5715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299694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2996946"/>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Q2</a:t>
            </a:r>
          </a:p>
        </p:txBody>
      </p:sp>
      <p:sp>
        <p:nvSpPr>
          <p:cNvPr id="19" name="TextBox 18"/>
          <p:cNvSpPr txBox="1"/>
          <p:nvPr/>
        </p:nvSpPr>
        <p:spPr>
          <a:xfrm>
            <a:off x="1609344" y="2921508"/>
            <a:ext cx="9601200" cy="571500"/>
          </a:xfrm>
          <a:prstGeom prst="rect">
            <a:avLst/>
          </a:prstGeom>
          <a:noFill/>
        </p:spPr>
        <p:txBody>
          <a:bodyPr wrap="square" anchor="ctr">
            <a:spAutoFit/>
          </a:bodyPr>
          <a:lstStyle/>
          <a:p>
            <a:pPr algn="l">
              <a:spcAft>
                <a:spcPts val="400"/>
              </a:spcAft>
            </a:pPr>
            <a:r>
              <a:rPr sz="1050" b="0">
                <a:solidFill>
                  <a:srgbClr val="161B26"/>
                </a:solidFill>
                <a:latin typeface="Arial"/>
              </a:rPr>
              <a:t>The product return rate got WORSE (12% to 13%) despite the QC initiative. Give the most likely explanation, and say what evidence would confirm or refute it.</a:t>
            </a:r>
          </a:p>
        </p:txBody>
      </p:sp>
      <p:sp>
        <p:nvSpPr>
          <p:cNvPr id="20" name="Rectangle 19"/>
          <p:cNvSpPr/>
          <p:nvPr/>
        </p:nvSpPr>
        <p:spPr>
          <a:xfrm>
            <a:off x="777240" y="3611880"/>
            <a:ext cx="10634472" cy="5715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11880"/>
            <a:ext cx="82296" cy="5715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 y="3687318"/>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3687318"/>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Q3</a:t>
            </a:r>
          </a:p>
        </p:txBody>
      </p:sp>
      <p:sp>
        <p:nvSpPr>
          <p:cNvPr id="24" name="TextBox 23"/>
          <p:cNvSpPr txBox="1"/>
          <p:nvPr/>
        </p:nvSpPr>
        <p:spPr>
          <a:xfrm>
            <a:off x="1609344" y="3611880"/>
            <a:ext cx="9601200" cy="571500"/>
          </a:xfrm>
          <a:prstGeom prst="rect">
            <a:avLst/>
          </a:prstGeom>
          <a:noFill/>
        </p:spPr>
        <p:txBody>
          <a:bodyPr wrap="square" anchor="ctr">
            <a:spAutoFit/>
          </a:bodyPr>
          <a:lstStyle/>
          <a:p>
            <a:pPr algn="l">
              <a:spcAft>
                <a:spcPts val="400"/>
              </a:spcAft>
            </a:pPr>
            <a:r>
              <a:rPr sz="1050" b="0">
                <a:solidFill>
                  <a:srgbClr val="161B26"/>
                </a:solidFill>
                <a:latin typeface="Arial"/>
              </a:rPr>
              <a:t>App load smashed its target but CSAT barely moved. Explain this using leading versus lagging indicators. How long would you expect CSAT to lag?</a:t>
            </a:r>
          </a:p>
        </p:txBody>
      </p:sp>
      <p:sp>
        <p:nvSpPr>
          <p:cNvPr id="25" name="Rectangle 24"/>
          <p:cNvSpPr/>
          <p:nvPr/>
        </p:nvSpPr>
        <p:spPr>
          <a:xfrm>
            <a:off x="777240" y="4302252"/>
            <a:ext cx="10634472" cy="5715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302252"/>
            <a:ext cx="82296" cy="5715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37769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377690"/>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Q4</a:t>
            </a:r>
          </a:p>
        </p:txBody>
      </p:sp>
      <p:sp>
        <p:nvSpPr>
          <p:cNvPr id="29" name="TextBox 28"/>
          <p:cNvSpPr txBox="1"/>
          <p:nvPr/>
        </p:nvSpPr>
        <p:spPr>
          <a:xfrm>
            <a:off x="1609344" y="4302252"/>
            <a:ext cx="9601200" cy="571500"/>
          </a:xfrm>
          <a:prstGeom prst="rect">
            <a:avLst/>
          </a:prstGeom>
          <a:noFill/>
        </p:spPr>
        <p:txBody>
          <a:bodyPr wrap="square" anchor="ctr">
            <a:spAutoFit/>
          </a:bodyPr>
          <a:lstStyle/>
          <a:p>
            <a:pPr algn="l">
              <a:spcAft>
                <a:spcPts val="400"/>
              </a:spcAft>
            </a:pPr>
            <a:r>
              <a:rPr sz="1050" b="0">
                <a:solidFill>
                  <a:srgbClr val="161B26"/>
                </a:solidFill>
                <a:latin typeface="Arial"/>
              </a:rPr>
              <a:t>The Great Singapore Sale sits inside the measurement window. How would you isolate the programme effect from the seasonal effect? What would you have done differently at day 0 to make this answerable?</a:t>
            </a:r>
          </a:p>
        </p:txBody>
      </p:sp>
      <p:sp>
        <p:nvSpPr>
          <p:cNvPr id="30" name="Rectangle 29"/>
          <p:cNvSpPr/>
          <p:nvPr/>
        </p:nvSpPr>
        <p:spPr>
          <a:xfrm>
            <a:off x="777240" y="4992624"/>
            <a:ext cx="10634472" cy="5715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992624"/>
            <a:ext cx="82296" cy="5715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5840" y="506806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068062"/>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Q5</a:t>
            </a:r>
          </a:p>
        </p:txBody>
      </p:sp>
      <p:sp>
        <p:nvSpPr>
          <p:cNvPr id="34" name="TextBox 33"/>
          <p:cNvSpPr txBox="1"/>
          <p:nvPr/>
        </p:nvSpPr>
        <p:spPr>
          <a:xfrm>
            <a:off x="1609344" y="4992624"/>
            <a:ext cx="9601200" cy="571500"/>
          </a:xfrm>
          <a:prstGeom prst="rect">
            <a:avLst/>
          </a:prstGeom>
          <a:noFill/>
        </p:spPr>
        <p:txBody>
          <a:bodyPr wrap="square" anchor="ctr">
            <a:spAutoFit/>
          </a:bodyPr>
          <a:lstStyle/>
          <a:p>
            <a:pPr algn="l">
              <a:spcAft>
                <a:spcPts val="400"/>
              </a:spcAft>
            </a:pPr>
            <a:r>
              <a:rPr sz="1050" b="0">
                <a:solidFill>
                  <a:srgbClr val="161B26"/>
                </a:solidFill>
                <a:latin typeface="Arial"/>
              </a:rPr>
              <a:t>Cart recovery converts at 3.1% against an 8% target. Is the solution wrong, or the implementation, or the target? How would you tell the difference — and what does each answer imply?</a:t>
            </a:r>
          </a:p>
        </p:txBody>
      </p:sp>
      <p:sp>
        <p:nvSpPr>
          <p:cNvPr id="35" name="Rectangle 34"/>
          <p:cNvSpPr/>
          <p:nvPr/>
        </p:nvSpPr>
        <p:spPr>
          <a:xfrm>
            <a:off x="777240" y="5682996"/>
            <a:ext cx="10634472" cy="5715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682996"/>
            <a:ext cx="82296" cy="5715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75843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58434"/>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Q6</a:t>
            </a:r>
          </a:p>
        </p:txBody>
      </p:sp>
      <p:sp>
        <p:nvSpPr>
          <p:cNvPr id="39" name="TextBox 38"/>
          <p:cNvSpPr txBox="1"/>
          <p:nvPr/>
        </p:nvSpPr>
        <p:spPr>
          <a:xfrm>
            <a:off x="1609344" y="5682996"/>
            <a:ext cx="9601200" cy="571500"/>
          </a:xfrm>
          <a:prstGeom prst="rect">
            <a:avLst/>
          </a:prstGeom>
          <a:noFill/>
        </p:spPr>
        <p:txBody>
          <a:bodyPr wrap="square" anchor="ctr">
            <a:spAutoFit/>
          </a:bodyPr>
          <a:lstStyle/>
          <a:p>
            <a:pPr algn="l">
              <a:spcAft>
                <a:spcPts val="400"/>
              </a:spcAft>
            </a:pPr>
            <a:r>
              <a:rPr sz="1050" b="0">
                <a:solidFill>
                  <a:srgbClr val="161B26"/>
                </a:solidFill>
                <a:latin typeface="Arial"/>
              </a:rPr>
              <a:t>Make the call to the CFO: release the next S$200,000, adjust, or stop. Justify it with the evidence, and name what would change your mind.</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med"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WHAT WE LEARNED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10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0634472" cy="365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82296"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719072"/>
            <a:ext cx="10241280" cy="365760"/>
          </a:xfrm>
          <a:prstGeom prst="rect">
            <a:avLst/>
          </a:prstGeom>
          <a:noFill/>
        </p:spPr>
        <p:txBody>
          <a:bodyPr wrap="square" anchor="ctr">
            <a:spAutoFit/>
          </a:bodyPr>
          <a:lstStyle/>
          <a:p>
            <a:pPr algn="l">
              <a:spcAft>
                <a:spcPts val="400"/>
              </a:spcAft>
            </a:pPr>
            <a:r>
              <a:rPr sz="1100" b="1">
                <a:solidFill>
                  <a:srgbClr val="10B981"/>
                </a:solidFill>
                <a:latin typeface="Arial"/>
              </a:rPr>
              <a:t>TRAINER DEBRIEF</a:t>
            </a:r>
          </a:p>
        </p:txBody>
      </p:sp>
      <p:sp>
        <p:nvSpPr>
          <p:cNvPr id="10" name="Rectangle 9"/>
          <p:cNvSpPr/>
          <p:nvPr/>
        </p:nvSpPr>
        <p:spPr>
          <a:xfrm>
            <a:off x="777240" y="2231136"/>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31136"/>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31720"/>
            <a:ext cx="10058400" cy="292608"/>
          </a:xfrm>
          <a:prstGeom prst="rect">
            <a:avLst/>
          </a:prstGeom>
          <a:noFill/>
        </p:spPr>
        <p:txBody>
          <a:bodyPr wrap="square" anchor="t">
            <a:spAutoFit/>
          </a:bodyPr>
          <a:lstStyle/>
          <a:p>
            <a:pPr algn="l">
              <a:spcAft>
                <a:spcPts val="400"/>
              </a:spcAft>
            </a:pPr>
            <a:r>
              <a:rPr sz="1050" b="1">
                <a:solidFill>
                  <a:srgbClr val="1F6FEB"/>
                </a:solidFill>
                <a:latin typeface="Arial"/>
              </a:rPr>
              <a:t>ATTRIBUTION IS THE SKILL</a:t>
            </a:r>
          </a:p>
        </p:txBody>
      </p:sp>
      <p:sp>
        <p:nvSpPr>
          <p:cNvPr id="13" name="TextBox 12"/>
          <p:cNvSpPr txBox="1"/>
          <p:nvPr/>
        </p:nvSpPr>
        <p:spPr>
          <a:xfrm>
            <a:off x="1097280" y="2642616"/>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App load is cleanly attributable. Online sales are confounded by the GSS and cannot be claimed either way. Say so — that honesty is what makes the rest credible.</a:t>
            </a:r>
          </a:p>
        </p:txBody>
      </p:sp>
      <p:sp>
        <p:nvSpPr>
          <p:cNvPr id="14" name="Rectangle 13"/>
          <p:cNvSpPr/>
          <p:nvPr/>
        </p:nvSpPr>
        <p:spPr>
          <a:xfrm>
            <a:off x="777240" y="3268980"/>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8980"/>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369564"/>
            <a:ext cx="10058400" cy="292608"/>
          </a:xfrm>
          <a:prstGeom prst="rect">
            <a:avLst/>
          </a:prstGeom>
          <a:noFill/>
        </p:spPr>
        <p:txBody>
          <a:bodyPr wrap="square" anchor="t">
            <a:spAutoFit/>
          </a:bodyPr>
          <a:lstStyle/>
          <a:p>
            <a:pPr algn="l">
              <a:spcAft>
                <a:spcPts val="400"/>
              </a:spcAft>
            </a:pPr>
            <a:r>
              <a:rPr sz="1050" b="1">
                <a:solidFill>
                  <a:srgbClr val="10B981"/>
                </a:solidFill>
                <a:latin typeface="Arial"/>
              </a:rPr>
              <a:t>THE RETURNS PUZZLE</a:t>
            </a:r>
          </a:p>
        </p:txBody>
      </p:sp>
      <p:sp>
        <p:nvSpPr>
          <p:cNvPr id="17" name="TextBox 16"/>
          <p:cNvSpPr txBox="1"/>
          <p:nvPr/>
        </p:nvSpPr>
        <p:spPr>
          <a:xfrm>
            <a:off x="1097280" y="3680460"/>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Mix shift, not quality collapse. Segment by supplier and by customer type to confirm before concluding anything.</a:t>
            </a:r>
          </a:p>
        </p:txBody>
      </p:sp>
      <p:sp>
        <p:nvSpPr>
          <p:cNvPr id="18" name="Rectangle 17"/>
          <p:cNvSpPr/>
          <p:nvPr/>
        </p:nvSpPr>
        <p:spPr>
          <a:xfrm>
            <a:off x="777240" y="4306824"/>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06824"/>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10058400" cy="292608"/>
          </a:xfrm>
          <a:prstGeom prst="rect">
            <a:avLst/>
          </a:prstGeom>
          <a:noFill/>
        </p:spPr>
        <p:txBody>
          <a:bodyPr wrap="square" anchor="t">
            <a:spAutoFit/>
          </a:bodyPr>
          <a:lstStyle/>
          <a:p>
            <a:pPr algn="l">
              <a:spcAft>
                <a:spcPts val="400"/>
              </a:spcAft>
            </a:pPr>
            <a:r>
              <a:rPr sz="1050" b="1">
                <a:solidFill>
                  <a:srgbClr val="7C3AED"/>
                </a:solidFill>
                <a:latin typeface="Arial"/>
              </a:rPr>
              <a:t>THE CONNECTION THAT MATTERS</a:t>
            </a:r>
          </a:p>
        </p:txBody>
      </p:sp>
      <p:sp>
        <p:nvSpPr>
          <p:cNvPr id="21" name="TextBox 20"/>
          <p:cNvSpPr txBox="1"/>
          <p:nvPr/>
        </p:nvSpPr>
        <p:spPr>
          <a:xfrm>
            <a:off x="1097280" y="4718304"/>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Supplier QC missed because suppliers resisted — exactly as predicted in Activity 9. Your stakeholder analysis foretold your missed metric.</a:t>
            </a:r>
          </a:p>
        </p:txBody>
      </p:sp>
      <p:sp>
        <p:nvSpPr>
          <p:cNvPr id="22" name="Rectangle 21"/>
          <p:cNvSpPr/>
          <p:nvPr/>
        </p:nvSpPr>
        <p:spPr>
          <a:xfrm>
            <a:off x="777240" y="5344668"/>
            <a:ext cx="10634472"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44668"/>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445252"/>
            <a:ext cx="10058400" cy="292608"/>
          </a:xfrm>
          <a:prstGeom prst="rect">
            <a:avLst/>
          </a:prstGeom>
          <a:noFill/>
        </p:spPr>
        <p:txBody>
          <a:bodyPr wrap="square" anchor="t">
            <a:spAutoFit/>
          </a:bodyPr>
          <a:lstStyle/>
          <a:p>
            <a:pPr algn="l">
              <a:spcAft>
                <a:spcPts val="400"/>
              </a:spcAft>
            </a:pPr>
            <a:r>
              <a:rPr sz="1050" b="1">
                <a:solidFill>
                  <a:srgbClr val="F59E0B"/>
                </a:solidFill>
                <a:latin typeface="Arial"/>
              </a:rPr>
              <a:t>THE VERDICT</a:t>
            </a:r>
          </a:p>
        </p:txBody>
      </p:sp>
      <p:sp>
        <p:nvSpPr>
          <p:cNvPr id="25" name="TextBox 24"/>
          <p:cNvSpPr txBox="1"/>
          <p:nvPr/>
        </p:nvSpPr>
        <p:spPr>
          <a:xfrm>
            <a:off x="1097280" y="5756148"/>
            <a:ext cx="10058400" cy="397764"/>
          </a:xfrm>
          <a:prstGeom prst="rect">
            <a:avLst/>
          </a:prstGeom>
          <a:noFill/>
        </p:spPr>
        <p:txBody>
          <a:bodyPr wrap="square" anchor="t">
            <a:spAutoFit/>
          </a:bodyPr>
          <a:lstStyle/>
          <a:p>
            <a:pPr algn="l">
              <a:spcAft>
                <a:spcPts val="400"/>
              </a:spcAft>
            </a:pPr>
            <a:r>
              <a:rPr sz="1200" b="0">
                <a:solidFill>
                  <a:srgbClr val="161B26"/>
                </a:solidFill>
                <a:latin typeface="Arial"/>
              </a:rPr>
              <a:t>Continue with adjustment: rebase the cart-recovery target, fix supplier adoption as a change-management problem, and give CSAT a longer horizon.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K7  ·  MAKING IT STICK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Sustaining the Gain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PDCA / DMAIC-Control</a:t>
            </a:r>
          </a:p>
          <a:p>
            <a:pPr algn="l">
              <a:spcAft>
                <a:spcPts val="300"/>
              </a:spcAft>
            </a:pPr>
            <a:r>
              <a:rPr sz="1100" b="0">
                <a:solidFill>
                  <a:srgbClr val="5B6372"/>
                </a:solidFill>
                <a:latin typeface="Arial"/>
              </a:rPr>
              <a:t>Plan-Do-Check-Act. Without a control phase, improvements decay back.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Standardise</a:t>
            </a:r>
          </a:p>
          <a:p>
            <a:pPr algn="l">
              <a:spcAft>
                <a:spcPts val="300"/>
              </a:spcAft>
            </a:pPr>
            <a:r>
              <a:rPr sz="1100" b="0">
                <a:solidFill>
                  <a:srgbClr val="5B6372"/>
                </a:solidFill>
                <a:latin typeface="Arial"/>
              </a:rPr>
              <a:t>Write the new way into the SOP, the induction and the checklist.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Monitor</a:t>
            </a:r>
          </a:p>
          <a:p>
            <a:pPr algn="l">
              <a:spcAft>
                <a:spcPts val="300"/>
              </a:spcAft>
            </a:pPr>
            <a:r>
              <a:rPr sz="1100" b="0">
                <a:solidFill>
                  <a:srgbClr val="5B6372"/>
                </a:solidFill>
                <a:latin typeface="Arial"/>
              </a:rPr>
              <a:t>Keep the leading indicator on a dashboard someone actually looks at.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Assign ownership</a:t>
            </a:r>
          </a:p>
          <a:p>
            <a:pPr algn="l">
              <a:spcAft>
                <a:spcPts val="300"/>
              </a:spcAft>
            </a:pPr>
            <a:r>
              <a:rPr sz="1100" b="0">
                <a:solidFill>
                  <a:srgbClr val="5B6372"/>
                </a:solidFill>
                <a:latin typeface="Arial"/>
              </a:rPr>
              <a:t>A named role owns the sustained metric after the project team disbands.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Review cadence</a:t>
            </a:r>
          </a:p>
          <a:p>
            <a:pPr algn="l">
              <a:spcAft>
                <a:spcPts val="300"/>
              </a:spcAft>
            </a:pPr>
            <a:r>
              <a:rPr sz="1100" b="0">
                <a:solidFill>
                  <a:srgbClr val="5B6372"/>
                </a:solidFill>
                <a:latin typeface="Arial"/>
              </a:rPr>
              <a:t>A standing checkpoint with a decision, not a status update.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Capture the lesson</a:t>
            </a:r>
          </a:p>
          <a:p>
            <a:pPr algn="l">
              <a:spcAft>
                <a:spcPts val="300"/>
              </a:spcAft>
            </a:pPr>
            <a:r>
              <a:rPr sz="1100" b="0">
                <a:solidFill>
                  <a:srgbClr val="5B6372"/>
                </a:solidFill>
                <a:latin typeface="Arial"/>
              </a:rPr>
              <a:t>'Look back and learn' — the L in IDEAL, and the step most often skipped.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med"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 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Summary, Q&amp;A and Assessment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DAYS IN ONE DIAGRAM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Complete Method You Now Have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Frame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Six-element statement</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Diagnose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5 Whys · Fishbone ·…</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Generate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Diverge widely, SCAMPER</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Decide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Impact-Ease then weighted…</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Deliver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CAP · stakeholders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ONE THING TO 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GenAI expands what you consider and accelerates how you get there. The evidence, the judgement and the accountability remain yours.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med"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KEEP USING THESE AT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Problem-Solving Toolkit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https://alfredang.github.io/5whys/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Fishbone</a:t>
            </a:r>
          </a:p>
          <a:p>
            <a:pPr algn="l">
              <a:spcAft>
                <a:spcPts val="300"/>
              </a:spcAft>
            </a:pPr>
            <a:r>
              <a:rPr sz="1100" b="0">
                <a:solidFill>
                  <a:srgbClr val="5B6372"/>
                </a:solidFill>
                <a:latin typeface="Arial"/>
              </a:rPr>
              <a:t>https://alfredang.github.io/fishbone/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https://alfredang.github.io/paretochart/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System Loop</a:t>
            </a:r>
          </a:p>
          <a:p>
            <a:pPr algn="l">
              <a:spcAft>
                <a:spcPts val="300"/>
              </a:spcAft>
            </a:pPr>
            <a:r>
              <a:rPr sz="1100" b="0">
                <a:solidFill>
                  <a:srgbClr val="5B6372"/>
                </a:solidFill>
                <a:latin typeface="Arial"/>
              </a:rPr>
              <a:t>https://alfredang.github.io/systemloop/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CollabNote</a:t>
            </a:r>
          </a:p>
          <a:p>
            <a:pPr algn="l">
              <a:spcAft>
                <a:spcPts val="300"/>
              </a:spcAft>
            </a:pPr>
            <a:r>
              <a:rPr sz="1100" b="0">
                <a:solidFill>
                  <a:srgbClr val="5B6372"/>
                </a:solidFill>
                <a:latin typeface="Arial"/>
              </a:rPr>
              <a:t>https://alfredang.github.io/collabnote/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Pinboard</a:t>
            </a:r>
          </a:p>
          <a:p>
            <a:pPr algn="l">
              <a:spcAft>
                <a:spcPts val="300"/>
              </a:spcAft>
            </a:pPr>
            <a:r>
              <a:rPr sz="1100" b="0">
                <a:solidFill>
                  <a:srgbClr val="5B6372"/>
                </a:solidFill>
                <a:latin typeface="Arial"/>
              </a:rPr>
              <a:t>https://alfredang.github.io/pinboard/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med"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PROMPT LIBRARY IN YOUR LEARNER GUIDE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Ten Prompts You Can Reuse Tomorrow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1 · Problem statement</a:t>
            </a:r>
          </a:p>
          <a:p>
            <a:pPr algn="l">
              <a:spcAft>
                <a:spcPts val="300"/>
              </a:spcAft>
            </a:pPr>
            <a:r>
              <a:rPr sz="1000" b="0">
                <a:solidFill>
                  <a:srgbClr val="5B6372"/>
                </a:solidFill>
                <a:latin typeface="Arial"/>
              </a:rPr>
              <a:t>Refine a vague complaint into six labelled elements.</a:t>
            </a:r>
          </a:p>
        </p:txBody>
      </p:sp>
      <p:sp>
        <p:nvSpPr>
          <p:cNvPr id="12" name="Rectangle 11"/>
          <p:cNvSpPr/>
          <p:nvPr/>
        </p:nvSpPr>
        <p:spPr>
          <a:xfrm>
            <a:off x="6231636"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85074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2 · 5 Whys facilitator</a:t>
            </a:r>
          </a:p>
          <a:p>
            <a:pPr algn="l">
              <a:spcAft>
                <a:spcPts val="300"/>
              </a:spcAft>
            </a:pPr>
            <a:r>
              <a:rPr sz="1000" b="0">
                <a:solidFill>
                  <a:srgbClr val="5B6372"/>
                </a:solidFill>
                <a:latin typeface="Arial"/>
              </a:rPr>
              <a:t>One why at a time, demanding evidence at each level.</a:t>
            </a:r>
          </a:p>
        </p:txBody>
      </p:sp>
      <p:sp>
        <p:nvSpPr>
          <p:cNvPr id="17" name="Rectangle 16"/>
          <p:cNvSpPr/>
          <p:nvPr/>
        </p:nvSpPr>
        <p:spPr>
          <a:xfrm>
            <a:off x="777240"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0479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77246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3 · Fishbone populator</a:t>
            </a:r>
          </a:p>
          <a:p>
            <a:pPr algn="l">
              <a:spcAft>
                <a:spcPts val="300"/>
              </a:spcAft>
            </a:pPr>
            <a:r>
              <a:rPr sz="1000" b="0">
                <a:solidFill>
                  <a:srgbClr val="5B6372"/>
                </a:solidFill>
                <a:latin typeface="Arial"/>
              </a:rPr>
              <a:t>Six bones, each cause marked [EVIDENCED] or [HYPOTHESIS].</a:t>
            </a:r>
          </a:p>
        </p:txBody>
      </p:sp>
      <p:sp>
        <p:nvSpPr>
          <p:cNvPr id="22" name="Rectangle 21"/>
          <p:cNvSpPr/>
          <p:nvPr/>
        </p:nvSpPr>
        <p:spPr>
          <a:xfrm>
            <a:off x="6231636"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0479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77246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4 · Pareto analyst</a:t>
            </a:r>
          </a:p>
          <a:p>
            <a:pPr algn="l">
              <a:spcAft>
                <a:spcPts val="300"/>
              </a:spcAft>
            </a:pPr>
            <a:r>
              <a:rPr sz="1000" b="0">
                <a:solidFill>
                  <a:srgbClr val="5B6372"/>
                </a:solidFill>
                <a:latin typeface="Arial"/>
              </a:rPr>
              <a:t>Cumulative percentages and the vital-few cut-off.</a:t>
            </a:r>
          </a:p>
        </p:txBody>
      </p:sp>
      <p:sp>
        <p:nvSpPr>
          <p:cNvPr id="27" name="Rectangle 26"/>
          <p:cNvSpPr/>
          <p:nvPr/>
        </p:nvSpPr>
        <p:spPr>
          <a:xfrm>
            <a:off x="777240"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2651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9417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5 · Systems mapper</a:t>
            </a:r>
          </a:p>
          <a:p>
            <a:pPr algn="l">
              <a:spcAft>
                <a:spcPts val="300"/>
              </a:spcAft>
            </a:pPr>
            <a:r>
              <a:rPr sz="1000" b="0">
                <a:solidFill>
                  <a:srgbClr val="5B6372"/>
                </a:solidFill>
                <a:latin typeface="Arial"/>
              </a:rPr>
              <a:t>R and B loops, the delay, and the leverage points.</a:t>
            </a:r>
          </a:p>
        </p:txBody>
      </p:sp>
      <p:sp>
        <p:nvSpPr>
          <p:cNvPr id="32" name="Rectangle 31"/>
          <p:cNvSpPr/>
          <p:nvPr/>
        </p:nvSpPr>
        <p:spPr>
          <a:xfrm>
            <a:off x="6231636"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2651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69417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6 · Divergent ideation</a:t>
            </a:r>
          </a:p>
          <a:p>
            <a:pPr algn="l">
              <a:spcAft>
                <a:spcPts val="300"/>
              </a:spcAft>
            </a:pPr>
            <a:r>
              <a:rPr sz="1000" b="0">
                <a:solidFill>
                  <a:srgbClr val="5B6372"/>
                </a:solidFill>
                <a:latin typeface="Arial"/>
              </a:rPr>
              <a:t>20 ideas plus SCAMPER on a fixed assumption.</a:t>
            </a:r>
          </a:p>
        </p:txBody>
      </p:sp>
      <p:sp>
        <p:nvSpPr>
          <p:cNvPr id="37" name="Rectangle 36"/>
          <p:cNvSpPr/>
          <p:nvPr/>
        </p:nvSpPr>
        <p:spPr>
          <a:xfrm>
            <a:off x="777240"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4822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61589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7 · Decision analyst</a:t>
            </a:r>
          </a:p>
          <a:p>
            <a:pPr algn="l">
              <a:spcAft>
                <a:spcPts val="300"/>
              </a:spcAft>
            </a:pPr>
            <a:r>
              <a:rPr sz="1000" b="0">
                <a:solidFill>
                  <a:srgbClr val="5B6372"/>
                </a:solidFill>
                <a:latin typeface="Arial"/>
              </a:rPr>
              <a:t>Impact-Ease screen then a weighted matrix.</a:t>
            </a:r>
          </a:p>
        </p:txBody>
      </p:sp>
      <p:sp>
        <p:nvSpPr>
          <p:cNvPr id="42" name="Rectangle 41"/>
          <p:cNvSpPr/>
          <p:nvPr/>
        </p:nvSpPr>
        <p:spPr>
          <a:xfrm>
            <a:off x="6231636"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8 · CAP builder</a:t>
            </a:r>
          </a:p>
          <a:p>
            <a:pPr algn="l">
              <a:spcAft>
                <a:spcPts val="300"/>
              </a:spcAft>
            </a:pPr>
            <a:r>
              <a:rPr sz="1000" b="0">
                <a:solidFill>
                  <a:srgbClr val="5B6372"/>
                </a:solidFill>
                <a:latin typeface="Arial"/>
              </a:rPr>
              <a:t>Eight components, with dependency and overload flags.</a:t>
            </a:r>
          </a:p>
        </p:txBody>
      </p:sp>
      <p:sp>
        <p:nvSpPr>
          <p:cNvPr id="47" name="Rectangle 46"/>
          <p:cNvSpPr/>
          <p:nvPr/>
        </p:nvSpPr>
        <p:spPr>
          <a:xfrm>
            <a:off x="777240"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559795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9 · Change advisor</a:t>
            </a:r>
          </a:p>
          <a:p>
            <a:pPr algn="l">
              <a:spcAft>
                <a:spcPts val="300"/>
              </a:spcAft>
            </a:pPr>
            <a:r>
              <a:rPr sz="1000" b="0">
                <a:solidFill>
                  <a:srgbClr val="5B6372"/>
                </a:solidFill>
                <a:latin typeface="Arial"/>
              </a:rPr>
              <a:t>Objections in their words, plus the right messenger.</a:t>
            </a:r>
          </a:p>
        </p:txBody>
      </p:sp>
      <p:sp>
        <p:nvSpPr>
          <p:cNvPr id="52" name="Rectangle 51"/>
          <p:cNvSpPr/>
          <p:nvPr/>
        </p:nvSpPr>
        <p:spPr>
          <a:xfrm>
            <a:off x="6231636"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31636" y="546994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487668" y="553760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87668"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56" name="TextBox 55"/>
          <p:cNvSpPr txBox="1"/>
          <p:nvPr/>
        </p:nvSpPr>
        <p:spPr>
          <a:xfrm>
            <a:off x="7219188" y="559795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10 · Evaluator</a:t>
            </a:r>
          </a:p>
          <a:p>
            <a:pPr algn="l">
              <a:spcAft>
                <a:spcPts val="300"/>
              </a:spcAft>
            </a:pPr>
            <a:r>
              <a:rPr sz="1000" b="0">
                <a:solidFill>
                  <a:srgbClr val="5B6372"/>
                </a:solidFill>
                <a:latin typeface="Arial"/>
              </a:rPr>
              <a:t>Verdicts, attribution, and what cannot be determined.</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med"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BEFORE WE ASSESS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Summary &amp; Q&amp;A</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What is the one problem you will go back and re-frame on Monday?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med"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YOU LEAVE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Certificate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Complete the survey</a:t>
            </a:r>
          </a:p>
          <a:p>
            <a:pPr algn="l">
              <a:spcAft>
                <a:spcPts val="300"/>
              </a:spcAft>
            </a:pPr>
            <a:r>
              <a:rPr sz="1300" b="0">
                <a:solidFill>
                  <a:srgbClr val="5B6372"/>
                </a:solidFill>
                <a:latin typeface="Arial"/>
              </a:rPr>
              <a:t>The TRAQOM course quality survey is mandatory for WSQ-funded courses.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Where</a:t>
            </a:r>
          </a:p>
          <a:p>
            <a:pPr algn="l">
              <a:spcAft>
                <a:spcPts val="300"/>
              </a:spcAft>
            </a:pPr>
            <a:r>
              <a:rPr sz="1300" b="0">
                <a:solidFill>
                  <a:srgbClr val="5B6372"/>
                </a:solidFill>
                <a:latin typeface="Arial"/>
              </a:rPr>
              <a:t>https://lms-tms.tertiaryinfotech.com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Certificate</a:t>
            </a:r>
          </a:p>
          <a:p>
            <a:pPr algn="l">
              <a:spcAft>
                <a:spcPts val="300"/>
              </a:spcAft>
            </a:pPr>
            <a:r>
              <a:rPr sz="1300" b="0">
                <a:solidFill>
                  <a:srgbClr val="5B6372"/>
                </a:solidFill>
                <a:latin typeface="Arial"/>
              </a:rPr>
              <a:t>Your Certificate of Achievement is released after the survey and a Competent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SSG record</a:t>
            </a:r>
          </a:p>
          <a:p>
            <a:pPr algn="l">
              <a:spcAft>
                <a:spcPts val="300"/>
              </a:spcAft>
            </a:pPr>
            <a:r>
              <a:rPr sz="1300" b="0">
                <a:solidFill>
                  <a:srgbClr val="5B6372"/>
                </a:solidFill>
                <a:latin typeface="Arial"/>
              </a:rPr>
              <a:t>Your Statement of Achievement appears in your SkillsFuture / MySkillsFuture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med"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READ BEFORE THE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Clear your table</a:t>
            </a:r>
          </a:p>
          <a:p>
            <a:pPr algn="l">
              <a:spcAft>
                <a:spcPts val="300"/>
              </a:spcAft>
            </a:pPr>
            <a:r>
              <a:rPr sz="1300" b="0">
                <a:solidFill>
                  <a:srgbClr val="5B6372"/>
                </a:solidFill>
                <a:latin typeface="Arial"/>
              </a:rPr>
              <a:t>Phones and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 photos or recording</a:t>
            </a:r>
          </a:p>
          <a:p>
            <a:pPr algn="l">
              <a:spcAft>
                <a:spcPts val="300"/>
              </a:spcAft>
            </a:pPr>
            <a:r>
              <a:rPr sz="1300" b="0">
                <a:solidFill>
                  <a:srgbClr val="5B6372"/>
                </a:solidFill>
                <a:latin typeface="Arial"/>
              </a:rPr>
              <a:t>Assessment scripts must not be photographed or copied.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 discussion</a:t>
            </a:r>
          </a:p>
          <a:p>
            <a:pPr algn="l">
              <a:spcAft>
                <a:spcPts val="300"/>
              </a:spcAft>
            </a:pPr>
            <a:r>
              <a:rPr sz="1300" b="0">
                <a:solidFill>
                  <a:srgbClr val="5B6372"/>
                </a:solidFill>
                <a:latin typeface="Arial"/>
              </a:rPr>
              <a:t>Individual work only once the paper is handed out.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Black or blue pen</a:t>
            </a:r>
          </a:p>
          <a:p>
            <a:pPr algn="l">
              <a:spcAft>
                <a:spcPts val="300"/>
              </a:spcAft>
            </a:pPr>
            <a:r>
              <a:rPr sz="1300" b="0">
                <a:solidFill>
                  <a:srgbClr val="5B6372"/>
                </a:solidFill>
                <a:latin typeface="Arial"/>
              </a:rPr>
              <a:t>No liquid paper or correction tape on hard-copy scripts.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Time is called</a:t>
            </a:r>
          </a:p>
          <a:p>
            <a:pPr algn="l">
              <a:spcAft>
                <a:spcPts val="300"/>
              </a:spcAft>
            </a:pPr>
            <a:r>
              <a:rPr sz="1300" b="0">
                <a:solidFill>
                  <a:srgbClr val="5B6372"/>
                </a:solidFill>
                <a:latin typeface="Arial"/>
              </a:rPr>
              <a:t>Scripts are collected when time is up.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Open book means</a:t>
            </a:r>
          </a:p>
          <a:p>
            <a:pPr algn="l">
              <a:spcAft>
                <a:spcPts val="300"/>
              </a:spcAft>
            </a:pPr>
            <a:r>
              <a:rPr sz="1300" b="0">
                <a:solidFill>
                  <a:srgbClr val="5B6372"/>
                </a:solidFill>
                <a:latin typeface="Arial"/>
              </a:rPr>
              <a:t>Slides, Learner Guide and approved materials — no internet, no AI tools.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med"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(WA)</a:t>
            </a:r>
          </a:p>
          <a:p>
            <a:pPr algn="l">
              <a:spcAft>
                <a:spcPts val="300"/>
              </a:spcAft>
            </a:pPr>
            <a:r>
              <a:rPr sz="1300" b="0">
                <a:solidFill>
                  <a:srgbClr val="5B6372"/>
                </a:solidFill>
                <a:latin typeface="Arial"/>
              </a:rPr>
              <a:t>Short-answer questions covering problem identification, root cause analysis, solution selection and evaluation.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Case Study (CS)</a:t>
            </a:r>
          </a:p>
          <a:p>
            <a:pPr algn="l">
              <a:spcAft>
                <a:spcPts val="300"/>
              </a:spcAft>
            </a:pPr>
            <a:r>
              <a:rPr sz="1300" b="0">
                <a:solidFill>
                  <a:srgbClr val="5B6372"/>
                </a:solidFill>
                <a:latin typeface="Arial"/>
              </a:rPr>
              <a:t>An integrated workplace scenario — you diagnose, decide and justify, exactly as in the activities.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Slides, Learner Guide and approved materials only. No internet search, no AI tools during assessment.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Competent / Not Yet Competent</a:t>
            </a:r>
          </a:p>
          <a:p>
            <a:pPr algn="l">
              <a:spcAft>
                <a:spcPts val="300"/>
              </a:spcAft>
            </a:pPr>
            <a:r>
              <a:rPr sz="1300" b="0">
                <a:solidFill>
                  <a:srgbClr val="5B6372"/>
                </a:solidFill>
                <a:latin typeface="Arial"/>
              </a:rPr>
              <a:t>Both instruments must be assessed Competent. A re-assessment path is available.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med"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hevron 6"/>
          <p:cNvSpPr/>
          <p:nvPr/>
        </p:nvSpPr>
        <p:spPr>
          <a:xfrm>
            <a:off x="777240" y="2377440"/>
            <a:ext cx="1650492" cy="1737360"/>
          </a:xfrm>
          <a:prstGeom prst="chevron">
            <a:avLst>
              <a:gd name="adj" fmla="val 2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TRAQOM Survey</a:t>
            </a:r>
          </a:p>
        </p:txBody>
      </p:sp>
      <p:sp>
        <p:nvSpPr>
          <p:cNvPr id="9" name="TextBox 8"/>
          <p:cNvSpPr txBox="1"/>
          <p:nvPr/>
        </p:nvSpPr>
        <p:spPr>
          <a:xfrm>
            <a:off x="777240"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Complete on the LMS</a:t>
            </a:r>
          </a:p>
        </p:txBody>
      </p:sp>
      <p:sp>
        <p:nvSpPr>
          <p:cNvPr id="10" name="Chevron 9"/>
          <p:cNvSpPr/>
          <p:nvPr/>
        </p:nvSpPr>
        <p:spPr>
          <a:xfrm>
            <a:off x="2574036" y="2377440"/>
            <a:ext cx="1650492" cy="1737360"/>
          </a:xfrm>
          <a:prstGeom prst="chevron">
            <a:avLst>
              <a:gd name="adj" fmla="val 2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39796"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Digital Attendance</a:t>
            </a:r>
          </a:p>
        </p:txBody>
      </p:sp>
      <p:sp>
        <p:nvSpPr>
          <p:cNvPr id="12" name="TextBox 11"/>
          <p:cNvSpPr txBox="1"/>
          <p:nvPr/>
        </p:nvSpPr>
        <p:spPr>
          <a:xfrm>
            <a:off x="2574036"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Assessment QR scan</a:t>
            </a:r>
          </a:p>
        </p:txBody>
      </p:sp>
      <p:sp>
        <p:nvSpPr>
          <p:cNvPr id="13" name="Chevron 12"/>
          <p:cNvSpPr/>
          <p:nvPr/>
        </p:nvSpPr>
        <p:spPr>
          <a:xfrm>
            <a:off x="4370832" y="2377440"/>
            <a:ext cx="1650492" cy="1737360"/>
          </a:xfrm>
          <a:prstGeom prst="chevron">
            <a:avLst>
              <a:gd name="adj" fmla="val 2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36592"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Written Assessment</a:t>
            </a:r>
          </a:p>
        </p:txBody>
      </p:sp>
      <p:sp>
        <p:nvSpPr>
          <p:cNvPr id="15" name="TextBox 14"/>
          <p:cNvSpPr txBox="1"/>
          <p:nvPr/>
        </p:nvSpPr>
        <p:spPr>
          <a:xfrm>
            <a:off x="4370832"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SAQ · 1 hour</a:t>
            </a:r>
          </a:p>
        </p:txBody>
      </p:sp>
      <p:sp>
        <p:nvSpPr>
          <p:cNvPr id="16" name="Chevron 15"/>
          <p:cNvSpPr/>
          <p:nvPr/>
        </p:nvSpPr>
        <p:spPr>
          <a:xfrm>
            <a:off x="6167628" y="2377440"/>
            <a:ext cx="1650492" cy="1737360"/>
          </a:xfrm>
          <a:prstGeom prst="chevron">
            <a:avLst>
              <a:gd name="adj" fmla="val 2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3388"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Case Study</a:t>
            </a:r>
          </a:p>
        </p:txBody>
      </p:sp>
      <p:sp>
        <p:nvSpPr>
          <p:cNvPr id="18" name="TextBox 17"/>
          <p:cNvSpPr txBox="1"/>
          <p:nvPr/>
        </p:nvSpPr>
        <p:spPr>
          <a:xfrm>
            <a:off x="6167628"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Scenario · 1 hour</a:t>
            </a:r>
          </a:p>
        </p:txBody>
      </p:sp>
      <p:sp>
        <p:nvSpPr>
          <p:cNvPr id="19" name="Chevron 18"/>
          <p:cNvSpPr/>
          <p:nvPr/>
        </p:nvSpPr>
        <p:spPr>
          <a:xfrm>
            <a:off x="7964424" y="2377440"/>
            <a:ext cx="1650492" cy="1737360"/>
          </a:xfrm>
          <a:prstGeom prst="chevron">
            <a:avLst>
              <a:gd name="adj" fmla="val 28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0184"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Submit on LMS</a:t>
            </a:r>
          </a:p>
        </p:txBody>
      </p:sp>
      <p:sp>
        <p:nvSpPr>
          <p:cNvPr id="21" name="TextBox 20"/>
          <p:cNvSpPr txBox="1"/>
          <p:nvPr/>
        </p:nvSpPr>
        <p:spPr>
          <a:xfrm>
            <a:off x="7964424"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Upload your answers</a:t>
            </a:r>
          </a:p>
        </p:txBody>
      </p:sp>
      <p:sp>
        <p:nvSpPr>
          <p:cNvPr id="22" name="Chevron 21"/>
          <p:cNvSpPr/>
          <p:nvPr/>
        </p:nvSpPr>
        <p:spPr>
          <a:xfrm>
            <a:off x="9761220" y="2377440"/>
            <a:ext cx="1650492" cy="1737360"/>
          </a:xfrm>
          <a:prstGeom prst="chevron">
            <a:avLst>
              <a:gd name="adj" fmla="val 28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26980" y="2916936"/>
            <a:ext cx="1083564" cy="658368"/>
          </a:xfrm>
          <a:prstGeom prst="rect">
            <a:avLst/>
          </a:prstGeom>
          <a:noFill/>
        </p:spPr>
        <p:txBody>
          <a:bodyPr wrap="square" anchor="ctr">
            <a:spAutoFit/>
          </a:bodyPr>
          <a:lstStyle/>
          <a:p>
            <a:pPr algn="ctr">
              <a:spcAft>
                <a:spcPts val="400"/>
              </a:spcAft>
            </a:pPr>
            <a:r>
              <a:rPr sz="1000" b="1">
                <a:solidFill>
                  <a:srgbClr val="FFFFFF"/>
                </a:solidFill>
                <a:latin typeface="Arial"/>
              </a:rPr>
              <a:t>Summary Record</a:t>
            </a:r>
          </a:p>
        </p:txBody>
      </p:sp>
      <p:sp>
        <p:nvSpPr>
          <p:cNvPr id="24" name="TextBox 23"/>
          <p:cNvSpPr txBox="1"/>
          <p:nvPr/>
        </p:nvSpPr>
        <p:spPr>
          <a:xfrm>
            <a:off x="9761220" y="4279392"/>
            <a:ext cx="1650492" cy="457200"/>
          </a:xfrm>
          <a:prstGeom prst="rect">
            <a:avLst/>
          </a:prstGeom>
          <a:noFill/>
        </p:spPr>
        <p:txBody>
          <a:bodyPr wrap="square" anchor="t">
            <a:spAutoFit/>
          </a:bodyPr>
          <a:lstStyle/>
          <a:p>
            <a:pPr algn="ctr">
              <a:spcAft>
                <a:spcPts val="400"/>
              </a:spcAft>
            </a:pPr>
            <a:r>
              <a:rPr sz="1050" b="0">
                <a:solidFill>
                  <a:srgbClr val="5B6372"/>
                </a:solidFill>
                <a:latin typeface="Arial"/>
              </a:rPr>
              <a:t>Sign the ASR</a:t>
            </a:r>
          </a:p>
        </p:txBody>
      </p:sp>
      <p:sp>
        <p:nvSpPr>
          <p:cNvPr id="25" name="Rectangle 24"/>
          <p:cNvSpPr/>
          <p:nvPr/>
        </p:nvSpPr>
        <p:spPr>
          <a:xfrm>
            <a:off x="777240" y="4892040"/>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892040"/>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 y="5029200"/>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RE-ASSESSMENT</a:t>
            </a:r>
          </a:p>
        </p:txBody>
      </p:sp>
      <p:sp>
        <p:nvSpPr>
          <p:cNvPr id="28" name="TextBox 27"/>
          <p:cNvSpPr txBox="1"/>
          <p:nvPr/>
        </p:nvSpPr>
        <p:spPr>
          <a:xfrm>
            <a:off x="1051560" y="5340096"/>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A learner assessed Not Yet Competent is counselled on the gap and offered a re-assessment. An appeal may be lodged with the training administrator within 7 working days.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med"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MANDATORY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&amp; TRAQOM Survey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AM · PM · Assessment</a:t>
            </a:r>
          </a:p>
          <a:p>
            <a:pPr algn="l">
              <a:spcAft>
                <a:spcPts val="300"/>
              </a:spcAft>
            </a:pPr>
            <a:r>
              <a:rPr sz="1300" b="0">
                <a:solidFill>
                  <a:srgbClr val="5B6372"/>
                </a:solidFill>
                <a:latin typeface="Arial"/>
              </a:rPr>
              <a:t>Digital attendance is taken three times a day. It is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the SSG QR code</a:t>
            </a:r>
          </a:p>
          <a:p>
            <a:pPr algn="l">
              <a:spcAft>
                <a:spcPts val="300"/>
              </a:spcAft>
            </a:pPr>
            <a:r>
              <a:rPr sz="1300" b="0">
                <a:solidFill>
                  <a:srgbClr val="5B6372"/>
                </a:solidFill>
                <a:latin typeface="Arial"/>
              </a:rPr>
              <a:t>The trainer displays the QR code from the SSG portal. Scan it with your phone camera and submit.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 attendance</a:t>
            </a:r>
          </a:p>
          <a:p>
            <a:pPr algn="l">
              <a:spcAft>
                <a:spcPts val="300"/>
              </a:spcAft>
            </a:pPr>
            <a:r>
              <a:rPr sz="1300" b="0">
                <a:solidFill>
                  <a:srgbClr val="5B6372"/>
                </a:solidFill>
                <a:latin typeface="Arial"/>
              </a:rPr>
              <a:t>Below 75% you are not eligible for assessment or for course fee funding.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post-course survey and collect your certificate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med"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CONTINUE YOUR LEARNING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Next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Project Management with Generative AI (GenAI)</a:t>
            </a:r>
          </a:p>
          <a:p>
            <a:pPr algn="l">
              <a:spcAft>
                <a:spcPts val="300"/>
              </a:spcAft>
            </a:pPr>
            <a:r>
              <a:rPr sz="1100" b="0">
                <a:solidFill>
                  <a:srgbClr val="5B6372"/>
                </a:solidFill>
                <a:latin typeface="Arial"/>
              </a:rPr>
              <a:t>WSQ funded  ·  tertiarycourses.com.sg</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Design Thinking Course for Businesses</a:t>
            </a:r>
          </a:p>
          <a:p>
            <a:pPr algn="l">
              <a:spcAft>
                <a:spcPts val="300"/>
              </a:spcAft>
            </a:pPr>
            <a:r>
              <a:rPr sz="1100" b="0">
                <a:solidFill>
                  <a:srgbClr val="5B6372"/>
                </a:solidFill>
                <a:latin typeface="Arial"/>
              </a:rPr>
              <a:t>WSQ funded  ·  tertiarycourses.com.sg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Effective Project Management for Small Projects</a:t>
            </a:r>
          </a:p>
          <a:p>
            <a:pPr algn="l">
              <a:spcAft>
                <a:spcPts val="300"/>
              </a:spcAft>
            </a:pPr>
            <a:r>
              <a:rPr sz="1100" b="0">
                <a:solidFill>
                  <a:srgbClr val="5B6372"/>
                </a:solidFill>
                <a:latin typeface="Arial"/>
              </a:rPr>
              <a:t>WSQ funded  ·  tertiarycourses.com.sg</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Project Management Professional (PMP) 35 PDU Training</a:t>
            </a:r>
          </a:p>
          <a:p>
            <a:pPr algn="l">
              <a:spcAft>
                <a:spcPts val="300"/>
              </a:spcAft>
            </a:pPr>
            <a:r>
              <a:rPr sz="1100" b="0">
                <a:solidFill>
                  <a:srgbClr val="5B6372"/>
                </a:solidFill>
                <a:latin typeface="Arial"/>
              </a:rPr>
              <a:t>WSQ funded  ·  tertiarycourses.com.sg</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Mastering Notion for Content, Project, and Database Management</a:t>
            </a:r>
          </a:p>
          <a:p>
            <a:pPr algn="l">
              <a:spcAft>
                <a:spcPts val="300"/>
              </a:spcAft>
            </a:pPr>
            <a:r>
              <a:rPr sz="1100" b="0">
                <a:solidFill>
                  <a:srgbClr val="5B6372"/>
                </a:solidFill>
                <a:latin typeface="Arial"/>
              </a:rPr>
              <a:t>WSQ funded  ·  tertiarycourses.com.sg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med"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After the course</a:t>
            </a:r>
          </a:p>
          <a:p>
            <a:pPr algn="l">
              <a:spcAft>
                <a:spcPts val="300"/>
              </a:spcAft>
            </a:pPr>
            <a:r>
              <a:rPr sz="1300" b="0">
                <a:solidFill>
                  <a:srgbClr val="5B6372"/>
                </a:solidFill>
                <a:latin typeface="Arial"/>
              </a:rPr>
              <a:t>Free post-course consultation on subject-matter queries by email.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Problem Solving  ·  TGS-2023036653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med"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377440"/>
            <a:ext cx="12191695" cy="1188720"/>
          </a:xfrm>
          <a:prstGeom prst="rect">
            <a:avLst/>
          </a:prstGeom>
          <a:noFill/>
        </p:spPr>
        <p:txBody>
          <a:bodyPr wrap="square" anchor="t">
            <a:spAutoFit/>
          </a:bodyPr>
          <a:lstStyle/>
          <a:p>
            <a:pPr algn="ctr">
              <a:spcAft>
                <a:spcPts val="400"/>
              </a:spcAft>
            </a:pPr>
            <a:r>
              <a:rPr sz="5400" b="1">
                <a:solidFill>
                  <a:srgbClr val="161B26"/>
                </a:solidFill>
                <a:latin typeface="Arial"/>
              </a:rPr>
              <a:t>Thank You!</a:t>
            </a:r>
          </a:p>
        </p:txBody>
      </p:sp>
      <p:sp>
        <p:nvSpPr>
          <p:cNvPr id="6" name="Rectangle 5"/>
          <p:cNvSpPr/>
          <p:nvPr/>
        </p:nvSpPr>
        <p:spPr>
          <a:xfrm>
            <a:off x="4937760" y="370332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4023360"/>
            <a:ext cx="12191695" cy="548640"/>
          </a:xfrm>
          <a:prstGeom prst="rect">
            <a:avLst/>
          </a:prstGeom>
          <a:noFill/>
        </p:spPr>
        <p:txBody>
          <a:bodyPr wrap="square" anchor="t">
            <a:spAutoFit/>
          </a:bodyPr>
          <a:lstStyle/>
          <a:p>
            <a:pPr algn="ctr">
              <a:spcAft>
                <a:spcPts val="400"/>
              </a:spcAft>
            </a:pPr>
            <a:r>
              <a:rPr sz="1800" b="0">
                <a:solidFill>
                  <a:srgbClr val="5B6372"/>
                </a:solidFill>
                <a:latin typeface="Arial"/>
              </a:rPr>
              <a:t>WSQ - Generative AI for Problem Solving</a:t>
            </a:r>
          </a:p>
        </p:txBody>
      </p:sp>
      <p:sp>
        <p:nvSpPr>
          <p:cNvPr id="8" name="TextBox 7"/>
          <p:cNvSpPr txBox="1"/>
          <p:nvPr/>
        </p:nvSpPr>
        <p:spPr>
          <a:xfrm>
            <a:off x="0" y="4572000"/>
            <a:ext cx="12191695" cy="457200"/>
          </a:xfrm>
          <a:prstGeom prst="rect">
            <a:avLst/>
          </a:prstGeom>
          <a:noFill/>
        </p:spPr>
        <p:txBody>
          <a:bodyPr wrap="square" anchor="t">
            <a:spAutoFit/>
          </a:bodyPr>
          <a:lstStyle/>
          <a:p>
            <a:pPr algn="ctr">
              <a:spcAft>
                <a:spcPts val="400"/>
              </a:spcAft>
            </a:pPr>
            <a:r>
              <a:rPr sz="1400" b="1">
                <a:solidFill>
                  <a:srgbClr val="1F6FEB"/>
                </a:solidFill>
                <a:latin typeface="Arial"/>
              </a:rPr>
              <a:t>TGS-2023036653  ·  www.tertiarycourses.com.sg</a:t>
            </a:r>
          </a:p>
        </p:txBody>
      </p:sp>
      <p:sp>
        <p:nvSpPr>
          <p:cNvPr id="9" name="TextBox 8"/>
          <p:cNvSpPr txBox="1"/>
          <p:nvPr/>
        </p:nvSpPr>
        <p:spPr>
          <a:xfrm>
            <a:off x="0" y="5852160"/>
            <a:ext cx="12191695" cy="365760"/>
          </a:xfrm>
          <a:prstGeom prst="rect">
            <a:avLst/>
          </a:prstGeom>
          <a:noFill/>
        </p:spPr>
        <p:txBody>
          <a:bodyPr wrap="square" anchor="t">
            <a:spAutoFit/>
          </a:bodyPr>
          <a:lstStyle/>
          <a:p>
            <a:pPr algn="ctr">
              <a:spcAft>
                <a:spcPts val="400"/>
              </a:spcAft>
            </a:pPr>
            <a:r>
              <a:rPr sz="1000" b="0">
                <a:solidFill>
                  <a:srgbClr val="5B6372"/>
                </a:solidFill>
                <a:latin typeface="Arial"/>
              </a:rPr>
              <a:t>© 2026 Tertiary Infotech Academy Pte Ltd. All rights reserved.</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